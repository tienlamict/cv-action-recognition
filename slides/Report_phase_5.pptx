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9"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19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9115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Xin chào thầy cô và các bạn. Hôm nay tôi trình bày tiến độ đề tài nhận dạng cử chỉ bàn tay thời gian thực để điều khiển máy tính. Trọng tâm hôm nay không phải một con số độ chính xác cao. Tôi sẽ trình bày các giải pháp kỹ thuật đã xây dựng để có một hệ thống chạy được từ đầu đến cuối, và những vấn đề của dữ liệu thật mà tôi đã gặp, chẩn đoán và xử lý trên đường đi.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Bài toán là từ hình ảnh webcam, nhận ra bốn cử chỉ (vuốt trái, vuốt phải, zoom in, zoom out) để phát phím tắt, ví dụ chuyển slide hay phóng to. Có ba điểm làm bài toán khó hơn vẻ ngoài. Thứ nhất, phần lớn thời gian người dùng không làm cử chỉ nào: họ gõ phím, cầm chuột, khua tay khi nói. Vì vậy lớp "không cử chỉ" là lớp quan trọng nhất, và báo nhầm là lỗi nguy hiểm nhất. Một lần chuyển slide sai tệ hơn một lần bỏ sót. Thứ hai, hệ thống chạy thời gian thực. Tại mỗi thời điểm nó chỉ được nhìn vào quá khứ, không được "chờ xem" chuyện gì xảy ra tiếp theo. Thứ ba, hệ thống phải chạy trên máy tính thông thường, không có GPU.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Dữ liệu chính là IPN Hand: 200 video của 50 người, có sẵn cách chia train/test chính thức theo người. Bộ này có 14 lớp gốc. Tôi giữ bốn lớp trùng với bài toán, mười lớp còn lại quy hết về "không cử chỉ". Đây là lựa chọn có chủ đích. Các lớp như hất lên, hất xuống, xòe tay hai lần hay chỉ trỏ trông rất giống cử chỉ đích. Chúng là mẫu âm khó, đúng loại mà hệ thống phải học để không báo nhầm. Chiến lược là dùng IPN trước, chỉ tự quay dữ liệu khi có bằng chứng là cần. Biểu diễn bằng điểm mốc và phép chuẩn hoá đã loại phần lớn khác biệt hình ảnh giữa IPN và webcam, nên chỉ dùng IPN gần như không làm yếu mô hình. Đổi lại có hai điều kiện. Người dùng phải làm cử chỉ đúng kiểu người diễn IPN. Và quy ước trái–phải phải được đo trên chính IPN. Cái mất đi là khả năng đo hệ thống trong điều kiện thật; phần này sẽ được bù bằng phép đo trực tiếp trên webcam ở Phase 6 và Phase 10.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Ở khâu thu nhận, tôi dùng MediaPipe Hand Landmarker ở chế độ video, theo dõi một bàn tay và chỉ lấy toạ độ 2D. Độ sâu mà MediaPipe ước lượng từ một camera thường không đáng tin; đưa vào chỉ thêm nhiễu. Có hai quyết định nhỏ nhưng quan trọng. Một: frame không thấy tay vẫn được ghi lại với toạ độ rỗng, không bỏ đi. Nếu bỏ, trục thời gian bị đứt, và bước nội suy phía sau sẽ âm thầm nối qua khoảng mất tay như thể tay vẫn ở đó. Hai: ảnh đưa vào mô hình không bao giờ lật; chỉ hình hiển thị cho người xem được lật như gương. Nếu lật nhầm đầu vào, hệ thống sẽ chạy ngược chiều so với dữ liệu đã học. Sau đó dữ liệu đi qua pipeline bảy bước với thứ tự cố định. Đáng chú ý nhất là bước đưa về lưới 15 Hz. Webcam có FPS dao động, video IPN lại khoảng 30 FPS, nên tôi đưa mọi nguồn về cùng một lưới thời gian đều. Phép nội suy chỉ dùng hai frame cùng có tay. Lỗ hổng tối đa 3 bước, tức 0,2 giây, thì vá; lỗ dài hơn giữ nguyên, vì mất tay lâu là một tín hiệu thật. Cũng vì FPS khác nhau mà cửa sổ được tính bằng giây chứ không bằng số frame: 1,2 giây là 18 bước, trượt mỗi 0,2 giây.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Chuẩn hoá là chỗ dễ làm sai nhất. Cách thông thường là trừ vị trí cổ tay của từng frame. Nhưng như thế cổ tay luôn nằm ở gốc toạ độ, và cú vuốt, vốn là chuyển động của cổ tay, biến mất hoàn toàn. Cách của tôi: lấy cổ tay ở frame đầu cửa sổ làm gốc, lấy chiều dài lòng bàn tay ở frame đầu làm đơn vị, rồi dùng chung hai giá trị này cho cả cửa sổ. Kết quả không phụ thuộc tay nằm ở đâu trong khung hình hay tay to nhỏ ra sao, nhưng vẫn giữ quỹ đạo. Kiểm thử xác nhận điều này: dời tay 137 pixel hay phóng to 1,6 lần, biểu diễn sai khác dưới 10^-5; còn cú vuốt tổng hợp vẫn đi hơn hai lòng bàn tay. Trên dữ liệu thật tôi gặp thêm một vấn đề. Nếu ở frame đầu tay nghiêng cạnh hoặc điểm mốc sai, đơn vị đo rất nhỏ, và đặc trưng bị phóng lên tới 30 lòng bàn tay. Giải pháp là từ chối cửa sổ khi lòng bàn tay frame đầu ngắn hơn một nửa trung vị của chính cửa sổ đó. Phép so chỉ dùng dữ liệu bên trong cửa sổ, nên vẫn tôn trọng tính nhân quả. Ngưỡng 0,5 được chọn bằng đo: nó loại khoảng 2% cửa sổ và xoá các giá trị ngoại lai lớn.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Từ mỗi cửa sổ đã chuẩn hoá, tôi tính 15 đặc trưng, chia thành năm nhóm. "Đầu" và "cuối" là trung bình ba bước đầu và ba bước cuối, để bớt nhạy với nhiễu. Năm đặc trưng có dấu gánh phần lớn việc phân biệt hai cặp lớp: vuốt trái với vuốt phải, zoom in với zoom out. Đó là thay đổi độ xòe, xu hướng độ xòe, thay đổi độ mở cái–trỏ, dời ngang, và tốc độ ngang trung bình. Một quyết định thiết kế: phần đặc trưng không tự quyết đâu là trái, đâu là phải. Việc đó dành cho mô hình, thông qua một hằng số hướng đã đo trên dữ liệu. Nhóm độ mở cái–trỏ được thêm vào sau, khi xem dữ liệu thật. Ban đầu tôi đo zoom bằng độ xòe trung bình của năm ngón. Nhưng zoom của IPN là chụm và mở ba đầu ngón cái, trỏ, giữa, còn ngón nhẫn và ngón út gập suốt, nên độ xòe trung bình đổi rất ít. Khoảng cách từ đầu ngón cái tới đầu ngón trỏ tách hai lớp zoom tốt hơn hẳn. Slide về cổng kiểm tra sẽ cho thấy con số.</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Đây là vấn đề tốn công nhất, và cũng là ví dụ rõ nhất cho nguyên tắc "đo, không đoán". Ban đầu tôi thấy độ dài nhiều video không khớp với file nhãn. Nếu bỏ qua, nhãn sẽ trượt dần khỏi cử chỉ thật dọc theo video, và mô hình sẽ học nhãn sai mà không có thông báo lỗi nào. Tôi đếm số frame theo ba cách độc lập cho cả 200 video, và phát hiện một đẳng thức đúng ở mọi video: số frame giải mã được, cộng số chunk 6 byte, đúng bằng tổng số chunk. Chunk 6 byte là frame "not coded" của chuẩn XVID, nghĩa là "giữ nguyên ảnh trước", và bộ giải mã FFmpeg âm thầm bỏ chúng đi. 101 trên 200 video có hiện tượng này, tổng cộng 677 frame. Cách sửa: lấy mốc thời gian theo vị trí của frame trong file, thay vì đếm số lần đọc. Vấn đề thứ hai: chính file nhãn của IPN cũng không thống nhất. Có video đếm cả frame bị bỏ, có video không. Tôi phân nhóm các video bằng số đếm, nhưng không dừng ở số đếm mà kiểm cả vị trí. Cách kiểm như sau. Tay thường rời khung hình trong đoạn không cử chỉ, nên tín hiệu "có tay" đổi trạng thái gần ranh giới nhãn. Tôi dịch nhãn trong khoảng cộng trừ 70 frame và tìm độ dịch khớp nhất. Với cách đếm đúng, độ dịch nằm trong độ nhiễu của chính phép đo; với cách sai, nó trôi tới 40–60 frame. 11 video không khớp cách đếm nào bị loại hẳn. Tôi cũng đã thử và loại hai hướng khác: dùng tín hiệu tốc độ chuyển động, và bỏ các frame lặp. Cả hai đều sai ngay trên những video đã biết là khớp.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Sau khi sửa lệch frame, toàn bộ 200 video được trích thành điểm mốc, không lỗi, mất khoảng 2,3 giờ với bốn tiến trình song song. Quá trình trích được thiết kế để chạy qua đêm: video đã xong thì bỏ qua, video lỗi ghi ra danh sách riêng rồi chạy tiếp. Tôi lưu toạ độ thô, chưa chuẩn hoá. Chuẩn hoá là một quyết định thiết kế có thể còn đổi, còn điểm mốc thô thì không. Tôi cũng chạy trên chính máy sẽ chạy demo, không dùng Colab, để phiên bản MediaPipe, OpenCV và bộ giải mã trùng với hệ thống thật. Tiếp theo là quy ước hướng. "Hất trái" có thể hiểu là trái của người làm, hoặc trái của ảnh; thêm nữa, hình hiển thị thường được lật như gương. Thay vì đoán, tôi đo trên 189 đoạn. Trung vị dời ngang của hất trái là dương, của hất phải là âm, nên hằng số hướng bằng +1. Hằng số này chỉ được dùng ở đúng một nơi, nên không bao giờ bị lật hai lần. Một chi tiết nhỏ: những đoạn mất tay ở đầu hoặc cuối cho đặc trưng bằng 0, và các số 0 đó từng suýt làm sai trung vị. Vì vậy phải loại chúng ra trước khi đo. Thống kê bộ dữ liệu cho một phát hiện quan trọng. Mỗi cử chỉ kéo dài khoảng 2 giây, nhưng động tác chính chỉ khoảng 0,3 giây; phần còn lại là chuẩn bị và thu tay. Phát hiện này dẫn tới thay đổi lớn nhất của dự án, ở slide sau.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Mỗi cử chỉ dài khoảng hai giây, cửa sổ chỉ 1,2 giây, nên một cử chỉ trải qua nhiều cửa sổ. Câu hỏi là: cửa sổ nào nên mang nhãn cử chỉ? Luật ban đầu trong kế hoạch là "lớp đích chiếm ít nhất 60% số bước của cửa sổ". Khi đo, 49% cửa sổ dương theo luật này không chứa động tác chính; chúng chỉ chứa phần chuẩn bị hoặc phần thu tay. Nói cách khác, mô hình bị dạy rằng tay đang chuẩn bị cũng là vuốt. Giải pháp là neo nhãn vào khoảnh khắc chính. Với mỗi đoạn cử chỉ, tôi tìm bước mà tín hiệu thay đổi nhanh nhất: vị trí ngang của cổ tay với vuốt, độ mở cái–trỏ với zoom. Tôi chỉ xét độ lớn của thay đổi, không xét dấu, để không ngầm cài quy ước hướng vào nhãn. Cửa sổ là dương khi khoảnh khắc đó nằm cách hai mép ít nhất ba bước. Cửa sổ chạm vào cử chỉ mà không chứa khoảnh khắc chính thì bỏ hẳn, vì gán nó là "không cử chỉ" cũng sai. Có thể có câu hỏi: tìm khoảnh khắc chính dùng cả đoạn cử chỉ, tức là dùng tương lai, vậy có vi phạm tính nhân quả không? Câu trả lời là không. Đây là nhãn, tức chân lý ngoại tuyến, giống như chính file nhãn của IPN. Mô hình không bao giờ nhìn thấy nó. Luật này không chọn theo cảm tính. Tôi so ba luật bằng ba chỉ số đo trên train. Tôi tách cửa sổ dương thành hai nhóm, có và không chứa động tác, để biết lỗi nằm ở nhãn hay ở đặc trưng. Tôi cũng thử hai mức biên, và chỉ biên 3 bước qua được điều kiện về hướng. Cái giá là tập train nhỏ đi: từ khoảng 950 xuống khoảng 415 cửa sổ dương mỗi lớp.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Chia tập theo người là bắt buộc. Các cửa sổ liền nhau chỉ lệch 0,2 giây nên gần như giống hệt nhau. Nếu chia ngẫu nhiên, cùng một cử chỉ sẽ rơi vào cả train lẫn test, và độ chính xác 98–99% thu được sẽ hoàn toàn giả. Tôi giữ đúng tập test chính thức của IPN để so được với các công bố khác, và tách 20% số người của phần train làm tập val. Về mất cân bằng: lớp nền chiếm tới 97% dữ liệu tự nhiên. Ở train, tôi lấy mẫu con lớp nền xuống còn 50%, nhưng không lấy ngẫu nhiên. Ngân sách được chia đều cho mười nhãn gốc theo kiểu "rót nước": nhóm nào nhỏ hơn phần chia thì lấy hết, phần dư dồn cho các nhóm còn lại. Nhờ vậy các mẫu âm khó như hất lên, hất xuống hay chỉ trỏ đều có mặt, không bị nhóm đông nhất lấn át. Val và test giữ phân bố tự nhiên, để con số đánh giá phản ánh đúng thực tế. Với tăng cường, mỗi phép biến đổi phải trả lời câu hỏi: "có làm đổi lớp không?". Lật ngang đổi nhãn hai lớp vuốt cho nhau, nhưng giữ nhãn zoom. Một phát hiện thú vị: phép co giãn đều mà tôi định dùng bị bước chuẩn hoá triệt tiêu hoàn toàn, vì chuẩn hoá chia cho cỡ lòng bàn tay. Kiểm thử đã chứng minh điều này. Nên tôi thay bằng co giãn đổi dần dọc cửa sổ, mô phỏng tay tiến lại gần hoặc lùi xa camera. Mức nhiễu cũng được đo. Lần đo đầu cho 0,054. Nhưng khi kiểm tra, các cửa sổ "cổ tay đứng yên" phần lớn là bấm ngón và xòe tay, tức cử động có chủ ý chứ không phải độ rung. Giới hạn vào tay nghỉ cho 0,0159, khớp với một ước lượng độc lập bằng sai phân bậc hai là 0,0162.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Trước khi huấn luyện bất kỳ mô hình nào, có một cổng kiểm tra bắt buộc: nhìn boxplot các đặc trưng chính theo từng lớp trên tập train. Lý do đơn giản: nếu đặc trưng không tách được lớp thì không mô hình nào cứu được. Cổng ban đầu dựa trên độ xòe và độ thẳng của quỹ đạo, và nó không đạt. Tôi không nới điều kiện. Thay vào đó, tôi chẩn đoán xem nguyên nhân nằm ở nhãn hay ở đặc trưng, thử từng phương án trên train, và chỉ triển khai khi số đo cho thấy cổng đạt. Kết quả là luật nhãn mới và đặc trưng độ mở cái–trỏ. Điều kiện cổng mới được duyệt trước khi áp dụng, và điều kiện cũ vẫn được in ra để tham khảo. Hiện cả ba điều kiện đều đạt. Hai hộp zoom tách hẳn về hai phía. Hai hộp vuốt nằm ở hai phía của số 0, và điều kiện này không giả định trước lớp nào nằm bên dương. Riêng tốc độ ngang đỉnh qua cổng sát nút. Đây là điểm yếu nhất của bộ đặc trưng, và slide kết quả sẽ cho thấy hệ quả của nó.</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Mô hình đầu tiên là một bộ luật ngưỡng, dựng đúng trên ba đặc trưng của cổng kiểm tra. Ba ngưỡng được hiệu chuẩn tự động và chỉ trên train. Mỗi ngưỡng là trung điểm giữa phân vị 90 của nhóm phải nằm dưới và phân vị 10 của nhóm phải nằm trên. Có kiểm thử chứng minh rằng thêm dữ liệu val hay test cực đoan vào cũng không làm ngưỡng thay đổi. Hai trong ba ngưỡng có cảnh báo vì hai phân vị chồng lên nhau, tức là hai nhóm không tách sạch. Thứ tự luật có chủ đích. Vuốt được xét trước zoom, vì cú hất của IPN mở bàn tay ra, làm khoảng cách cái–trỏ thay đổi theo; còn zoom thì gần như không dời cổ tay. Hướng vuốt lấy theo dấu của dời ngang so với hằng số đã đo, không viết cứng ở đâu. Độ tin cậy đi kèm chỉ là một heuristic, và tôi không gọi nó là xác suất.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Đây là kết quả trên tập val. Tôi dùng macro-F1 thay vì độ chính xác, vì val có 96,5% cửa sổ không cử chỉ. Một mô hình luôn đoán "không cử chỉ" đã đạt độ chính xác 96,5%, mà không nhận ra được cử chỉ nào. Mô hình luật đạt macro-F1 0,23, vượt cả hai đường cơ sở: luôn đoán "không cử chỉ" được 0,196, đoán ngẫu nhiên được 0,08. Như vậy nó đạt tiêu chí của Phase 5. Nhưng phải nói thẳng: đây là kết quả yếu. Đọc kỹ bảng thì thấy recall các lớp cử chỉ khoảng 44 đến 62%, tức luật bắt được khoảng một nửa số cử chỉ. Vấn đề nằm ở precision. 44% cửa sổ không cử chỉ bị báo thành cử chỉ, phần lớn thành vuốt. Lớp nền đông hơn mỗi lớp đích hơn trăm lần, nên chừng ấy báo nhầm đủ để dìm precision xuống vài phần trăm. Nghi phạm chính là động tác chỉ trỏ trong IPN, vốn di chuyển nhanh ngang cú hất; điều này khớp với việc tốc độ ngang đỉnh chỉ qua cổng sát nút. Tin tốt là nhầm hướng vuốt rất hiếm, và hai lớp zoom cũng ít khi nhầm lẫn nhau. Tức là quy ước hướng và các đặc trưng có dấu hoạt động đúng. Thứ còn thiếu là khả năng tách cử chỉ khỏi chuyển động nền, và đó chính là việc của rừng ngẫu nhiên ở Phase 6 và máy trạng thái ở Phase 9.</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Hệ thống đã chạy được đầu-cuối. Khi chạy thật, mỗi frame webcam đi qua MediaPipe rồi vào một bộ đệm giữ 1,7 giây gần nhất. Bộ đệm tính theo thời gian chứ không theo số frame, vì FPS webcam dao động. Cứ 0,2 giây, 18 bước cuối được đưa qua đúng pipeline đã dùng cho IPN: cùng hàm nội suy, cùng chuẩn hoá, cùng đặc trưng. Chương trình demo không định nghĩa lại bất kỳ hàm xử lý nào. Đó là cách tôi bảo đảm nguyên tắc "một pipeline". Có một chế độ tôi thấy đặc biệt hữu ích: chế độ luyện tập. Mô hình học cử chỉ theo cách của người diễn IPN, nên người dùng cần biết mình làm có giống không. Màn hình hiện ba đặc trưng của cửa sổ vừa làm, tô xanh nếu nằm trong khoảng 25–75% của lớp đó trên IPN, tô đỏ nếu lệch. Đây là cách kiểm tra việc "làm cử chỉ theo IPN" bằng số, chứ không bằng cảm giác. Demo đã được kiểm tra mà không cần webcam, bằng cách chạy trên video IPN của tập val: đúng nhịp 0,2 giây, log ghi đủ cột. Phần thử trực tiếp trên webcam là bước tiếp theo; tôi sẽ nói ở slide sau. (Nếu có video demo, chiếu 30–60 giây tại đây.) Khi xem, xin lưu ý: nhãn nhấp nháy liên tục hơn một giây mỗi khi làm cử chỉ là hành vi đúng ở mốc này, vì cứ 0,2 giây lại có một cửa sổ mới. Dẹp hiện tượng này là việc của máy trạng thái.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Tôi muốn nêu rõ các hạn chế. Lớn nhất là báo nhầm. Thứ hai, tập train khá nhỏ sau khi đổi luật nhãn và loại 11 video. Tăng cường tạo mới ở mỗi epoch trong Phase 6 và 7 sẽ là cách bù chính. Thứ ba, nhãn dương phụ thuộc độ lớn chuyển động; điều này sẽ được nêu rõ trong báo cáo. Và quan trọng: phần thử trực tiếp trên webcam của Phase 5 chưa làm. Phần này gồm kiểm tra vuốt sang trái của tôi có ra vuốt trái không, mỗi cử chỉ đúng ít nhất 7 trên 10 lần, vẫy tay không bị nhận thành vuốt, và đếm số lần báo nhầm khi gõ phím, dùng chuột. Nếu hướng bị ngược, cách sửa đã được thiết kế sẵn: đổi một hằng số và chạy lại các phép đo, không sửa code. Kế hoạch tiếp theo bắt đầu với rừng ngẫu nhiên trên 15 đặc trưng. Tôi kỳ vọng nó tách nền tốt hơn hẳn, vì nó kết hợp được nhiều đặc trưng cùng lúc. Nếu nó không cao hơn hẳn mô hình luật, đó là dấu hiệu lỗi nằm trong pipeline chứ không phải ở mô hình. Sau đó là LSTM một chiều, đánh giá hai mức, máy trạng thái để mỗi cử chỉ phát đúng một lệnh, và cuối cùng là demo điều khiển thật, kèm các phép đo FPS, độ trễ và tỉ lệ báo nhầm mỗi phút.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Tóm lại, đến thời điểm này tôi đã có ba thứ: một pipeline xử lý duy nhất, tôn trọng tính nhân quả và có kiểm thử; một bộ dữ liệu IPN đã được chẩn đoán, sửa lỗi và chia đúng chuẩn; một mô hình đường cơ sở cùng demo chạy được, với điểm yếu đã được đo và định vị rõ ràng. Các phase tiếp theo sẽ tập trung đúng vào điểm yếu đó. Cảm ơn thầy cô và các bạn đã lắng nghe. Tôi sẵn sàng nhận câu hỏi.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5" y="987927"/>
            <a:ext cx="10566357" cy="419071"/>
          </a:xfrm>
          <a:prstGeom prst="rect">
            <a:avLst/>
          </a:prstGeom>
          <a:noFill/>
          <a:ln/>
        </p:spPr>
        <p:txBody>
          <a:bodyPr wrap="square" lIns="0" tIns="0" rIns="0" bIns="0" rtlCol="0" anchor="t"/>
          <a:lstStyle>
            <a:lvl1pPr marL="0" indent="0" algn="l">
              <a:lnSpc>
                <a:spcPct val="115000"/>
              </a:lnSpc>
              <a:buNone/>
              <a:defRPr lang="en-US" sz="3000" dirty="0">
                <a:solidFill>
                  <a:srgbClr val="15233F"/>
                </a:solidFill>
                <a:latin typeface="Times New Roman" pitchFamily="34" charset="0"/>
                <a:ea typeface="Times New Roman" pitchFamily="34" charset="-122"/>
                <a:cs typeface="Times New Roman"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85" y="1711798"/>
            <a:ext cx="10566415" cy="4333402"/>
          </a:xfrm>
          <a:prstGeom prst="rect">
            <a:avLst/>
          </a:prstGeom>
          <a:noFill/>
          <a:ln/>
        </p:spPr>
        <p:txBody>
          <a:bodyPr wrap="square" lIns="0" tIns="0" rIns="0" bIns="0" rtlCol="0" anchor="t"/>
          <a:lstStyle>
            <a:lvl1pPr marL="0" indent="0" algn="l">
              <a:lnSpc>
                <a:spcPct val="140000"/>
              </a:lnSpc>
              <a:buNone/>
              <a:defRPr lang="en-US" sz="1600" dirty="0">
                <a:solidFill>
                  <a:srgbClr val="15233F"/>
                </a:solidFill>
                <a:latin typeface="Times New Roman" pitchFamily="34" charset="0"/>
                <a:ea typeface="Times New Roman" pitchFamily="34" charset="-122"/>
                <a:cs typeface="Times New Roman"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5" y="987927"/>
            <a:ext cx="10566357" cy="419071"/>
          </a:xfrm>
          <a:prstGeom prst="rect">
            <a:avLst/>
          </a:prstGeom>
          <a:noFill/>
          <a:ln/>
        </p:spPr>
        <p:txBody>
          <a:bodyPr wrap="square" lIns="0" tIns="0" rIns="0" bIns="0" rtlCol="0" anchor="t"/>
          <a:lstStyle>
            <a:lvl1pPr marL="0" indent="0" algn="l">
              <a:lnSpc>
                <a:spcPct val="115000"/>
              </a:lnSpc>
              <a:buNone/>
              <a:defRPr lang="en-US" sz="3000" dirty="0">
                <a:solidFill>
                  <a:srgbClr val="15233F"/>
                </a:solidFill>
                <a:latin typeface="Times New Roman" pitchFamily="34" charset="0"/>
                <a:ea typeface="Times New Roman" pitchFamily="34" charset="-122"/>
                <a:cs typeface="Times New Roman"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85" y="1711798"/>
            <a:ext cx="10566415" cy="4333402"/>
          </a:xfrm>
          <a:prstGeom prst="rect">
            <a:avLst/>
          </a:prstGeom>
          <a:noFill/>
          <a:ln/>
        </p:spPr>
        <p:txBody>
          <a:bodyPr wrap="square" lIns="0" tIns="0" rIns="0" bIns="0" rtlCol="0" anchor="t"/>
          <a:lstStyle>
            <a:lvl1pPr marL="0" indent="0" algn="l">
              <a:lnSpc>
                <a:spcPct val="140000"/>
              </a:lnSpc>
              <a:buNone/>
              <a:defRPr lang="en-US" sz="1600" dirty="0">
                <a:solidFill>
                  <a:srgbClr val="15233F"/>
                </a:solidFill>
                <a:latin typeface="Times New Roman" pitchFamily="34" charset="0"/>
                <a:ea typeface="Times New Roman" pitchFamily="34" charset="-122"/>
                <a:cs typeface="Times New Roman"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3F"/>
        </a:solidFill>
        <a:effectLst/>
      </p:bgPr>
    </p:bg>
    <p:spTree>
      <p:nvGrpSpPr>
        <p:cNvPr id="1" name=""/>
        <p:cNvGrpSpPr/>
        <p:nvPr/>
      </p:nvGrpSpPr>
      <p:grpSpPr>
        <a:xfrm>
          <a:off x="0" y="0"/>
          <a:ext cx="0" cy="0"/>
          <a:chOff x="0" y="0"/>
          <a:chExt cx="0" cy="0"/>
        </a:xfrm>
      </p:grpSpPr>
      <p:sp>
        <p:nvSpPr>
          <p:cNvPr id="2" name="Text 0"/>
          <p:cNvSpPr/>
          <p:nvPr/>
        </p:nvSpPr>
        <p:spPr>
          <a:xfrm>
            <a:off x="812785" y="1646002"/>
            <a:ext cx="7063665"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5C"/>
                </a:solidFill>
                <a:latin typeface="Times New Roman" pitchFamily="18" charset="0"/>
                <a:ea typeface="Times New Roman" pitchFamily="18" charset="-122"/>
                <a:cs typeface="Times New Roman" pitchFamily="18" charset="-120"/>
              </a:rPr>
              <a:t>BÁO CÁO TIẾN </a:t>
            </a:r>
            <a:r>
              <a:rPr lang="en-US" sz="1200" b="1" kern="0" spc="150" dirty="0" smtClean="0">
                <a:solidFill>
                  <a:srgbClr val="F0A05C"/>
                </a:solidFill>
                <a:latin typeface="Times New Roman" pitchFamily="18" charset="0"/>
                <a:ea typeface="Times New Roman" pitchFamily="18" charset="-122"/>
                <a:cs typeface="Times New Roman" pitchFamily="18" charset="-120"/>
              </a:rPr>
              <a:t>ĐỘ</a:t>
            </a:r>
            <a:endParaRPr lang="en-US" sz="1200" dirty="0"/>
          </a:p>
        </p:txBody>
      </p:sp>
      <p:sp>
        <p:nvSpPr>
          <p:cNvPr id="3" name="Text 1"/>
          <p:cNvSpPr>
            <a:spLocks noGrp="1"/>
          </p:cNvSpPr>
          <p:nvPr>
            <p:ph type="title"/>
          </p:nvPr>
        </p:nvSpPr>
        <p:spPr>
          <a:xfrm>
            <a:off x="812785" y="2062501"/>
            <a:ext cx="7063665" cy="2000294"/>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2EFE8"/>
                </a:solidFill>
                <a:latin typeface="Times New Roman" pitchFamily="18" charset="0"/>
                <a:ea typeface="Times New Roman" pitchFamily="18" charset="-122"/>
                <a:cs typeface="Times New Roman" pitchFamily="18" charset="-120"/>
              </a:rPr>
              <a:t>Nhận dạng cử chỉ bàn tay thời gian thực để điều khiển máy tính</a:t>
            </a:r>
            <a:endParaRPr lang="en-US" sz="4800" dirty="0"/>
          </a:p>
        </p:txBody>
      </p:sp>
      <p:sp>
        <p:nvSpPr>
          <p:cNvPr id="4" name="Text 2"/>
          <p:cNvSpPr/>
          <p:nvPr/>
        </p:nvSpPr>
        <p:spPr>
          <a:xfrm>
            <a:off x="812785" y="4240537"/>
            <a:ext cx="7063665" cy="322542"/>
          </a:xfrm>
          <a:prstGeom prst="rect">
            <a:avLst/>
          </a:prstGeom>
          <a:noFill/>
          <a:ln/>
        </p:spPr>
        <p:txBody>
          <a:bodyPr wrap="square" lIns="0" tIns="0" rIns="0" bIns="0" rtlCol="0" anchor="t">
            <a:normAutofit/>
          </a:bodyPr>
          <a:lstStyle/>
          <a:p>
            <a:pPr marL="0" indent="0" algn="l">
              <a:lnSpc>
                <a:spcPts val="2340"/>
              </a:lnSpc>
              <a:buNone/>
            </a:pPr>
            <a:r>
              <a:rPr lang="en-US" sz="1800" i="1" dirty="0">
                <a:solidFill>
                  <a:srgbClr val="C3CCDB"/>
                </a:solidFill>
                <a:latin typeface="Times New Roman" pitchFamily="18" charset="0"/>
                <a:ea typeface="Times New Roman" pitchFamily="18" charset="-122"/>
                <a:cs typeface="Times New Roman" pitchFamily="18" charset="-120"/>
              </a:rPr>
              <a:t>Các giải pháp và kỹ thuật đã thực hiện</a:t>
            </a:r>
            <a:endParaRPr lang="en-US" sz="1800" dirty="0"/>
          </a:p>
        </p:txBody>
      </p:sp>
      <p:pic>
        <p:nvPicPr>
          <p:cNvPr id="5" name="Image 0" descr="line"/>
          <p:cNvPicPr>
            <a:picLocks noChangeAspect="1"/>
          </p:cNvPicPr>
          <p:nvPr/>
        </p:nvPicPr>
        <p:blipFill>
          <a:blip r:embed="rId3"/>
          <a:srcRect l="-37" r="-37"/>
          <a:stretch/>
        </p:blipFill>
        <p:spPr>
          <a:xfrm>
            <a:off x="812785" y="4740820"/>
            <a:ext cx="1015927" cy="19035"/>
          </a:xfrm>
          <a:prstGeom prst="rect">
            <a:avLst/>
          </a:prstGeom>
        </p:spPr>
      </p:pic>
      <p:sp>
        <p:nvSpPr>
          <p:cNvPr id="6" name="Text 3"/>
          <p:cNvSpPr/>
          <p:nvPr/>
        </p:nvSpPr>
        <p:spPr>
          <a:xfrm>
            <a:off x="812785" y="4962996"/>
            <a:ext cx="7063665" cy="274255"/>
          </a:xfrm>
          <a:prstGeom prst="rect">
            <a:avLst/>
          </a:prstGeom>
          <a:noFill/>
          <a:ln/>
        </p:spPr>
        <p:txBody>
          <a:bodyPr wrap="square" lIns="0" tIns="0" rIns="0" bIns="0" rtlCol="0" anchor="t">
            <a:normAutofit/>
          </a:bodyPr>
          <a:lstStyle/>
          <a:p>
            <a:pPr marL="0" indent="0" algn="l">
              <a:lnSpc>
                <a:spcPts val="1960"/>
              </a:lnSpc>
              <a:buNone/>
            </a:pPr>
            <a:r>
              <a:rPr lang="en-US" sz="1400" dirty="0" smtClean="0">
                <a:solidFill>
                  <a:srgbClr val="C3CCDB"/>
                </a:solidFill>
                <a:latin typeface="Times New Roman" pitchFamily="18" charset="0"/>
                <a:ea typeface="Times New Roman" pitchFamily="18" charset="-122"/>
                <a:cs typeface="Times New Roman" pitchFamily="18" charset="-120"/>
              </a:rPr>
              <a:t>[</a:t>
            </a:r>
            <a:r>
              <a:rPr lang="en-US" sz="1400" dirty="0" smtClean="0">
                <a:solidFill>
                  <a:srgbClr val="C3CCDB"/>
                </a:solidFill>
                <a:latin typeface="Times New Roman" pitchFamily="18" charset="0"/>
                <a:ea typeface="Times New Roman" pitchFamily="18" charset="-122"/>
                <a:cs typeface="Times New Roman" pitchFamily="18" charset="-120"/>
              </a:rPr>
              <a:t>Nguyễn Tiến Lâm</a:t>
            </a:r>
            <a:r>
              <a:rPr lang="en-US" sz="1400" dirty="0" smtClean="0">
                <a:solidFill>
                  <a:srgbClr val="C3CCDB"/>
                </a:solidFill>
                <a:latin typeface="Times New Roman" pitchFamily="18" charset="0"/>
                <a:ea typeface="Times New Roman" pitchFamily="18" charset="-122"/>
                <a:cs typeface="Times New Roman" pitchFamily="18" charset="-120"/>
              </a:rPr>
              <a:t>] </a:t>
            </a:r>
            <a:r>
              <a:rPr lang="en-US" sz="1400" dirty="0">
                <a:solidFill>
                  <a:srgbClr val="C3CCDB"/>
                </a:solidFill>
                <a:latin typeface="Times New Roman" pitchFamily="18" charset="0"/>
                <a:ea typeface="Times New Roman" pitchFamily="18" charset="-122"/>
                <a:cs typeface="Times New Roman" pitchFamily="18" charset="-120"/>
              </a:rPr>
              <a:t>· </a:t>
            </a:r>
            <a:r>
              <a:rPr lang="en-US" sz="1400" dirty="0" smtClean="0">
                <a:solidFill>
                  <a:srgbClr val="C3CCDB"/>
                </a:solidFill>
                <a:latin typeface="Times New Roman" pitchFamily="18" charset="0"/>
                <a:ea typeface="Times New Roman" pitchFamily="18" charset="-122"/>
                <a:cs typeface="Times New Roman" pitchFamily="18" charset="-120"/>
              </a:rPr>
              <a:t>[</a:t>
            </a:r>
            <a:r>
              <a:rPr lang="en-US" sz="1400" dirty="0" err="1" smtClean="0">
                <a:solidFill>
                  <a:srgbClr val="C3CCDB"/>
                </a:solidFill>
                <a:latin typeface="Times New Roman" pitchFamily="18" charset="0"/>
                <a:ea typeface="Times New Roman" pitchFamily="18" charset="-122"/>
                <a:cs typeface="Times New Roman" pitchFamily="18" charset="-120"/>
              </a:rPr>
              <a:t>Thị</a:t>
            </a:r>
            <a:r>
              <a:rPr lang="en-US" sz="1400" dirty="0" smtClean="0">
                <a:solidFill>
                  <a:srgbClr val="C3CCDB"/>
                </a:solidFill>
                <a:latin typeface="Times New Roman" pitchFamily="18" charset="0"/>
                <a:ea typeface="Times New Roman" pitchFamily="18" charset="-122"/>
                <a:cs typeface="Times New Roman" pitchFamily="18" charset="-120"/>
              </a:rPr>
              <a:t> </a:t>
            </a:r>
            <a:r>
              <a:rPr lang="en-US" sz="1400" dirty="0" err="1" smtClean="0">
                <a:solidFill>
                  <a:srgbClr val="C3CCDB"/>
                </a:solidFill>
                <a:latin typeface="Times New Roman" pitchFamily="18" charset="0"/>
                <a:ea typeface="Times New Roman" pitchFamily="18" charset="-122"/>
                <a:cs typeface="Times New Roman" pitchFamily="18" charset="-120"/>
              </a:rPr>
              <a:t>giác</a:t>
            </a:r>
            <a:r>
              <a:rPr lang="en-US" sz="1400" dirty="0" smtClean="0">
                <a:solidFill>
                  <a:srgbClr val="C3CCDB"/>
                </a:solidFill>
                <a:latin typeface="Times New Roman" pitchFamily="18" charset="0"/>
                <a:ea typeface="Times New Roman" pitchFamily="18" charset="-122"/>
                <a:cs typeface="Times New Roman" pitchFamily="18" charset="-120"/>
              </a:rPr>
              <a:t> </a:t>
            </a:r>
            <a:r>
              <a:rPr lang="en-US" sz="1400" dirty="0" err="1" smtClean="0">
                <a:solidFill>
                  <a:srgbClr val="C3CCDB"/>
                </a:solidFill>
                <a:latin typeface="Times New Roman" pitchFamily="18" charset="0"/>
                <a:ea typeface="Times New Roman" pitchFamily="18" charset="-122"/>
                <a:cs typeface="Times New Roman" pitchFamily="18" charset="-120"/>
              </a:rPr>
              <a:t>máy</a:t>
            </a:r>
            <a:r>
              <a:rPr lang="en-US" sz="1400" dirty="0" smtClean="0">
                <a:solidFill>
                  <a:srgbClr val="C3CCDB"/>
                </a:solidFill>
                <a:latin typeface="Times New Roman" pitchFamily="18" charset="0"/>
                <a:ea typeface="Times New Roman" pitchFamily="18" charset="-122"/>
                <a:cs typeface="Times New Roman" pitchFamily="18" charset="-120"/>
              </a:rPr>
              <a:t> </a:t>
            </a:r>
            <a:r>
              <a:rPr lang="en-US" sz="1400" dirty="0" err="1" smtClean="0">
                <a:solidFill>
                  <a:srgbClr val="C3CCDB"/>
                </a:solidFill>
                <a:latin typeface="Times New Roman" pitchFamily="18" charset="0"/>
                <a:ea typeface="Times New Roman" pitchFamily="18" charset="-122"/>
                <a:cs typeface="Times New Roman" pitchFamily="18" charset="-120"/>
              </a:rPr>
              <a:t>tính</a:t>
            </a:r>
            <a:r>
              <a:rPr lang="en-US" sz="1400" dirty="0" smtClean="0">
                <a:solidFill>
                  <a:srgbClr val="C3CCDB"/>
                </a:solidFill>
                <a:latin typeface="Times New Roman" pitchFamily="18" charset="0"/>
                <a:ea typeface="Times New Roman" pitchFamily="18" charset="-122"/>
                <a:cs typeface="Times New Roman" pitchFamily="18" charset="-120"/>
              </a:rPr>
              <a:t>]</a:t>
            </a:r>
            <a:endParaRPr lang="en-US" sz="1400" dirty="0"/>
          </a:p>
        </p:txBody>
      </p:sp>
      <p:pic>
        <p:nvPicPr>
          <p:cNvPr id="7" name="Image 1" descr="Khung xương bàn tay gồm 21 điểm mốc, đầu ngón cái và đầu ngón trỏ được tô nổi"/>
          <p:cNvPicPr>
            <a:picLocks noChangeAspect="1"/>
          </p:cNvPicPr>
          <p:nvPr/>
        </p:nvPicPr>
        <p:blipFill>
          <a:blip r:embed="rId4"/>
          <a:srcRect/>
          <a:stretch/>
        </p:blipFill>
        <p:spPr>
          <a:xfrm>
            <a:off x="8299393" y="1604625"/>
            <a:ext cx="2857427" cy="3333677"/>
          </a:xfrm>
          <a:prstGeom prst="rect">
            <a:avLst/>
          </a:prstGeom>
        </p:spPr>
      </p:pic>
      <p:sp>
        <p:nvSpPr>
          <p:cNvPr id="8" name="Text 4"/>
          <p:cNvSpPr/>
          <p:nvPr/>
        </p:nvSpPr>
        <p:spPr>
          <a:xfrm>
            <a:off x="8423225" y="5039872"/>
            <a:ext cx="2609762" cy="23875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3CCDB"/>
                </a:solidFill>
                <a:latin typeface="Times New Roman" pitchFamily="18" charset="0"/>
                <a:ea typeface="Times New Roman" pitchFamily="18" charset="-122"/>
                <a:cs typeface="Times New Roman" pitchFamily="18" charset="-120"/>
              </a:rPr>
              <a:t>21 điểm mốc · 42 con số mỗi frame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5" y="711142"/>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6"/>
                </a:solidFill>
                <a:latin typeface="Times New Roman" pitchFamily="18" charset="0"/>
                <a:ea typeface="Times New Roman" pitchFamily="18" charset="-122"/>
                <a:cs typeface="Times New Roman" pitchFamily="18" charset="-120"/>
              </a:rPr>
              <a:t>MỞ ĐẦU</a:t>
            </a:r>
            <a:endParaRPr lang="en-US" sz="1200" dirty="0"/>
          </a:p>
        </p:txBody>
      </p:sp>
      <p:sp>
        <p:nvSpPr>
          <p:cNvPr id="3" name="Text 1"/>
          <p:cNvSpPr>
            <a:spLocks noGrp="1"/>
          </p:cNvSpPr>
          <p:nvPr>
            <p:ph type="title"/>
          </p:nvPr>
        </p:nvSpPr>
        <p:spPr>
          <a:xfrm>
            <a:off x="812785" y="987925"/>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5233F"/>
                </a:solidFill>
                <a:latin typeface="Times New Roman" pitchFamily="18" charset="0"/>
                <a:ea typeface="Times New Roman" pitchFamily="18" charset="-122"/>
                <a:cs typeface="Times New Roman" pitchFamily="18" charset="-120"/>
              </a:rPr>
              <a:t>Bài toán</a:t>
            </a:r>
            <a:endParaRPr lang="en-US" sz="3000" dirty="0"/>
          </a:p>
        </p:txBody>
      </p:sp>
      <p:sp>
        <p:nvSpPr>
          <p:cNvPr id="4" name="Shape 2"/>
          <p:cNvSpPr/>
          <p:nvPr/>
        </p:nvSpPr>
        <p:spPr>
          <a:xfrm>
            <a:off x="812785" y="1610137"/>
            <a:ext cx="5460927" cy="745170"/>
          </a:xfrm>
          <a:prstGeom prst="rect">
            <a:avLst/>
          </a:prstGeom>
          <a:solidFill>
            <a:srgbClr val="FDFCF9"/>
          </a:solidFill>
          <a:ln/>
        </p:spPr>
      </p:sp>
      <p:sp>
        <p:nvSpPr>
          <p:cNvPr id="5" name="Shape 3"/>
          <p:cNvSpPr/>
          <p:nvPr/>
        </p:nvSpPr>
        <p:spPr>
          <a:xfrm>
            <a:off x="831835" y="1610137"/>
            <a:ext cx="0" cy="745170"/>
          </a:xfrm>
          <a:prstGeom prst="line">
            <a:avLst/>
          </a:prstGeom>
          <a:noFill/>
          <a:ln w="38100">
            <a:solidFill>
              <a:srgbClr val="2A5A9B"/>
            </a:solidFill>
            <a:prstDash val="solid"/>
          </a:ln>
        </p:spPr>
      </p:sp>
      <p:sp>
        <p:nvSpPr>
          <p:cNvPr id="6" name="Text 4"/>
          <p:cNvSpPr/>
          <p:nvPr/>
        </p:nvSpPr>
        <p:spPr>
          <a:xfrm>
            <a:off x="1028200" y="1737064"/>
            <a:ext cx="5219759"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Đầu vào</a:t>
            </a:r>
            <a:endParaRPr lang="en-US" sz="1400" dirty="0"/>
          </a:p>
        </p:txBody>
      </p:sp>
      <p:sp>
        <p:nvSpPr>
          <p:cNvPr id="7" name="Text 5"/>
          <p:cNvSpPr/>
          <p:nvPr/>
        </p:nvSpPr>
        <p:spPr>
          <a:xfrm>
            <a:off x="1028200" y="1988417"/>
            <a:ext cx="5219759" cy="26536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B4558"/>
                </a:solidFill>
                <a:latin typeface="Times New Roman" pitchFamily="18" charset="0"/>
                <a:ea typeface="Times New Roman" pitchFamily="18" charset="-122"/>
                <a:cs typeface="Times New Roman" pitchFamily="18" charset="-120"/>
              </a:rPr>
              <a:t>Webcam laptop </a:t>
            </a:r>
            <a:r>
              <a:rPr lang="en-US" sz="1400" dirty="0" err="1">
                <a:solidFill>
                  <a:srgbClr val="3B4558"/>
                </a:solidFill>
                <a:latin typeface="Times New Roman" pitchFamily="18" charset="0"/>
                <a:ea typeface="Times New Roman" pitchFamily="18" charset="-122"/>
                <a:cs typeface="Times New Roman" pitchFamily="18" charset="-120"/>
              </a:rPr>
              <a:t>thông</a:t>
            </a:r>
            <a:r>
              <a:rPr lang="en-US" sz="1400" dirty="0">
                <a:solidFill>
                  <a:srgbClr val="3B4558"/>
                </a:solidFill>
                <a:latin typeface="Times New Roman" pitchFamily="18" charset="0"/>
                <a:ea typeface="Times New Roman" pitchFamily="18" charset="-122"/>
                <a:cs typeface="Times New Roman" pitchFamily="18" charset="-120"/>
              </a:rPr>
              <a:t> </a:t>
            </a:r>
            <a:r>
              <a:rPr lang="en-US" sz="1400" dirty="0" err="1" smtClean="0">
                <a:solidFill>
                  <a:srgbClr val="3B4558"/>
                </a:solidFill>
                <a:latin typeface="Times New Roman" pitchFamily="18" charset="0"/>
                <a:ea typeface="Times New Roman" pitchFamily="18" charset="-122"/>
                <a:cs typeface="Times New Roman" pitchFamily="18" charset="-120"/>
              </a:rPr>
              <a:t>thường</a:t>
            </a:r>
            <a:endParaRPr lang="en-US" sz="1400" dirty="0"/>
          </a:p>
        </p:txBody>
      </p:sp>
      <p:sp>
        <p:nvSpPr>
          <p:cNvPr id="8" name="Text 6"/>
          <p:cNvSpPr/>
          <p:nvPr/>
        </p:nvSpPr>
        <p:spPr>
          <a:xfrm>
            <a:off x="812785" y="2482233"/>
            <a:ext cx="5624755"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Đầu ra: bốn cử chỉ thành bốn lệnh</a:t>
            </a:r>
            <a:endParaRPr lang="en-US" sz="1400" dirty="0"/>
          </a:p>
        </p:txBody>
      </p:sp>
      <p:sp>
        <p:nvSpPr>
          <p:cNvPr id="9" name="Shape 7"/>
          <p:cNvSpPr/>
          <p:nvPr/>
        </p:nvSpPr>
        <p:spPr>
          <a:xfrm>
            <a:off x="812785" y="2822443"/>
            <a:ext cx="5460927" cy="2309813"/>
          </a:xfrm>
          <a:prstGeom prst="rect">
            <a:avLst/>
          </a:prstGeom>
          <a:solidFill>
            <a:srgbClr val="FDFCF9"/>
          </a:solidFill>
          <a:ln/>
        </p:spPr>
      </p:sp>
      <p:sp>
        <p:nvSpPr>
          <p:cNvPr id="10" name="Shape 8"/>
          <p:cNvSpPr/>
          <p:nvPr/>
        </p:nvSpPr>
        <p:spPr>
          <a:xfrm>
            <a:off x="6270538" y="2822443"/>
            <a:ext cx="0" cy="2309813"/>
          </a:xfrm>
          <a:prstGeom prst="line">
            <a:avLst/>
          </a:prstGeom>
          <a:noFill/>
          <a:ln w="6350">
            <a:solidFill>
              <a:srgbClr val="DCD8CE"/>
            </a:solidFill>
            <a:prstDash val="solid"/>
          </a:ln>
        </p:spPr>
      </p:sp>
      <p:sp>
        <p:nvSpPr>
          <p:cNvPr id="11" name="Shape 9"/>
          <p:cNvSpPr/>
          <p:nvPr/>
        </p:nvSpPr>
        <p:spPr>
          <a:xfrm>
            <a:off x="812785" y="5129081"/>
            <a:ext cx="5460927" cy="0"/>
          </a:xfrm>
          <a:prstGeom prst="line">
            <a:avLst/>
          </a:prstGeom>
          <a:noFill/>
          <a:ln w="6350">
            <a:solidFill>
              <a:srgbClr val="DCD8CE"/>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193" y="2831851"/>
          <a:ext cx="5446816" cy="2295702"/>
        </p:xfrm>
        <a:graphic>
          <a:graphicData uri="http://schemas.openxmlformats.org/drawingml/2006/table">
            <a:tbl>
              <a:tblPr/>
              <a:tblGrid>
                <a:gridCol w="2723408">
                  <a:extLst>
                    <a:ext uri="{9D8B030D-6E8A-4147-A177-3AD203B41FA5}">
                      <a16:colId xmlns:a16="http://schemas.microsoft.com/office/drawing/2014/main" val="20000"/>
                    </a:ext>
                  </a:extLst>
                </a:gridCol>
                <a:gridCol w="2723408">
                  <a:extLst>
                    <a:ext uri="{9D8B030D-6E8A-4147-A177-3AD203B41FA5}">
                      <a16:colId xmlns:a16="http://schemas.microsoft.com/office/drawing/2014/main" val="20001"/>
                    </a:ext>
                  </a:extLst>
                </a:gridCol>
              </a:tblGrid>
              <a:tr h="382617">
                <a:tc>
                  <a:txBody>
                    <a:bodyPr/>
                    <a:lstStyle/>
                    <a:p>
                      <a:pPr marL="0" indent="0">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Cử chỉ</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Lệnh dự kiến</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extLst>
                  <a:ext uri="{0D108BD9-81ED-4DB2-BD59-A6C34878D82A}">
                    <a16:rowId xmlns:a16="http://schemas.microsoft.com/office/drawing/2014/main" val="10000"/>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Vuốt trái</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Slide trước</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1"/>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Vuốt phải</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Slide sau</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2"/>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Zoom in</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Phóng to</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3"/>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Zoom out</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Thu nhỏ</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4"/>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Không cử chỉ (lớp nền)</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0B5A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5AB"/>
                      </a:solidFill>
                      <a:prstDash val="solid"/>
                      <a:round/>
                      <a:headEnd type="none" w="med" len="med"/>
                      <a:tailEnd type="none" w="med" len="med"/>
                    </a:lnB>
                    <a:solidFill>
                      <a:srgbClr val="F1E3D6"/>
                    </a:solidFill>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Không phát lệnh</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0B5AB"/>
                      </a:solidFill>
                      <a:prstDash val="solid"/>
                      <a:round/>
                      <a:headEnd type="none" w="med" len="med"/>
                      <a:tailEnd type="none" w="med" len="med"/>
                    </a:lnL>
                    <a:lnR w="12700" cap="flat" cmpd="sng" algn="ctr">
                      <a:solidFill>
                        <a:srgbClr val="C0B5A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5AB"/>
                      </a:solidFill>
                      <a:prstDash val="solid"/>
                      <a:round/>
                      <a:headEnd type="none" w="med" len="med"/>
                      <a:tailEnd type="none" w="med" len="med"/>
                    </a:lnB>
                    <a:solidFill>
                      <a:srgbClr val="F1E3D6"/>
                    </a:solidFill>
                  </a:tcPr>
                </a:tc>
                <a:extLst>
                  <a:ext uri="{0D108BD9-81ED-4DB2-BD59-A6C34878D82A}">
                    <a16:rowId xmlns:a16="http://schemas.microsoft.com/office/drawing/2014/main" val="10005"/>
                  </a:ext>
                </a:extLst>
              </a:tr>
            </a:tbl>
          </a:graphicData>
        </a:graphic>
      </p:graphicFrame>
      <p:sp>
        <p:nvSpPr>
          <p:cNvPr id="13" name="Text 10"/>
          <p:cNvSpPr/>
          <p:nvPr/>
        </p:nvSpPr>
        <p:spPr>
          <a:xfrm>
            <a:off x="6680068" y="1610137"/>
            <a:ext cx="4840046"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Ba điểm làm bài toán khó hơn vẻ ngoài</a:t>
            </a:r>
            <a:endParaRPr lang="en-US" sz="1400" dirty="0"/>
          </a:p>
        </p:txBody>
      </p:sp>
      <p:sp>
        <p:nvSpPr>
          <p:cNvPr id="14" name="Shape 11"/>
          <p:cNvSpPr/>
          <p:nvPr/>
        </p:nvSpPr>
        <p:spPr>
          <a:xfrm>
            <a:off x="6680068" y="1924991"/>
            <a:ext cx="4699074" cy="1010561"/>
          </a:xfrm>
          <a:prstGeom prst="rect">
            <a:avLst/>
          </a:prstGeom>
          <a:solidFill>
            <a:srgbClr val="FDFCF9"/>
          </a:solidFill>
          <a:ln/>
        </p:spPr>
      </p:sp>
      <p:sp>
        <p:nvSpPr>
          <p:cNvPr id="15" name="Text 12"/>
          <p:cNvSpPr/>
          <p:nvPr/>
        </p:nvSpPr>
        <p:spPr>
          <a:xfrm>
            <a:off x="6857854" y="2064632"/>
            <a:ext cx="279371" cy="756679"/>
          </a:xfrm>
          <a:prstGeom prst="rect">
            <a:avLst/>
          </a:prstGeom>
          <a:noFill/>
          <a:ln/>
        </p:spPr>
        <p:txBody>
          <a:bodyPr wrap="square" lIns="0" tIns="0" rIns="0" bIns="0" rtlCol="0" anchor="t">
            <a:normAutofit/>
          </a:bodyPr>
          <a:lstStyle/>
          <a:p>
            <a:pPr marL="0" indent="0" algn="l">
              <a:lnSpc>
                <a:spcPts val="1800"/>
              </a:lnSpc>
              <a:buNone/>
            </a:pPr>
            <a:r>
              <a:rPr lang="en-US" sz="1800" b="1" dirty="0">
                <a:solidFill>
                  <a:srgbClr val="A84E16"/>
                </a:solidFill>
                <a:latin typeface="Times New Roman" pitchFamily="18" charset="0"/>
                <a:ea typeface="Times New Roman" pitchFamily="18" charset="-122"/>
                <a:cs typeface="Times New Roman" pitchFamily="18" charset="-120"/>
              </a:rPr>
              <a:t>1</a:t>
            </a:r>
            <a:endParaRPr lang="en-US" sz="1800" dirty="0"/>
          </a:p>
        </p:txBody>
      </p:sp>
      <p:sp>
        <p:nvSpPr>
          <p:cNvPr id="16" name="Text 13"/>
          <p:cNvSpPr/>
          <p:nvPr/>
        </p:nvSpPr>
        <p:spPr>
          <a:xfrm>
            <a:off x="7213351" y="2064632"/>
            <a:ext cx="4107646"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Lớp nền là lớp quan trọng nhất</a:t>
            </a:r>
            <a:endParaRPr lang="en-US" sz="1400" dirty="0"/>
          </a:p>
        </p:txBody>
      </p:sp>
      <p:sp>
        <p:nvSpPr>
          <p:cNvPr id="17" name="Text 14"/>
          <p:cNvSpPr/>
          <p:nvPr/>
        </p:nvSpPr>
        <p:spPr>
          <a:xfrm>
            <a:off x="7213351" y="2315987"/>
            <a:ext cx="4107646" cy="505325"/>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B4558"/>
                </a:solidFill>
                <a:latin typeface="Times New Roman" pitchFamily="18" charset="0"/>
                <a:ea typeface="Times New Roman" pitchFamily="18" charset="-122"/>
                <a:cs typeface="Times New Roman" pitchFamily="18" charset="-120"/>
              </a:rPr>
              <a:t>Phần lớn thời gian khi dùng thật là “không cử chỉ”. Báo nhầm nguy hiểm hơn bỏ sót.</a:t>
            </a:r>
            <a:endParaRPr lang="en-US" sz="1400" dirty="0"/>
          </a:p>
        </p:txBody>
      </p:sp>
      <p:sp>
        <p:nvSpPr>
          <p:cNvPr id="18" name="Shape 15"/>
          <p:cNvSpPr/>
          <p:nvPr/>
        </p:nvSpPr>
        <p:spPr>
          <a:xfrm>
            <a:off x="6680068" y="3037123"/>
            <a:ext cx="4699074" cy="1010561"/>
          </a:xfrm>
          <a:prstGeom prst="rect">
            <a:avLst/>
          </a:prstGeom>
          <a:solidFill>
            <a:srgbClr val="FDFCF9"/>
          </a:solidFill>
          <a:ln/>
        </p:spPr>
      </p:sp>
      <p:sp>
        <p:nvSpPr>
          <p:cNvPr id="19" name="Text 16"/>
          <p:cNvSpPr/>
          <p:nvPr/>
        </p:nvSpPr>
        <p:spPr>
          <a:xfrm>
            <a:off x="6857854" y="3176764"/>
            <a:ext cx="279371" cy="756679"/>
          </a:xfrm>
          <a:prstGeom prst="rect">
            <a:avLst/>
          </a:prstGeom>
          <a:noFill/>
          <a:ln/>
        </p:spPr>
        <p:txBody>
          <a:bodyPr wrap="square" lIns="0" tIns="0" rIns="0" bIns="0" rtlCol="0" anchor="t">
            <a:normAutofit/>
          </a:bodyPr>
          <a:lstStyle/>
          <a:p>
            <a:pPr marL="0" indent="0" algn="l">
              <a:lnSpc>
                <a:spcPts val="1800"/>
              </a:lnSpc>
              <a:buNone/>
            </a:pPr>
            <a:r>
              <a:rPr lang="en-US" sz="1800" b="1" dirty="0">
                <a:solidFill>
                  <a:srgbClr val="A84E16"/>
                </a:solidFill>
                <a:latin typeface="Times New Roman" pitchFamily="18" charset="0"/>
                <a:ea typeface="Times New Roman" pitchFamily="18" charset="-122"/>
                <a:cs typeface="Times New Roman" pitchFamily="18" charset="-120"/>
              </a:rPr>
              <a:t>2</a:t>
            </a:r>
            <a:endParaRPr lang="en-US" sz="1800" dirty="0"/>
          </a:p>
        </p:txBody>
      </p:sp>
      <p:sp>
        <p:nvSpPr>
          <p:cNvPr id="20" name="Text 17"/>
          <p:cNvSpPr/>
          <p:nvPr/>
        </p:nvSpPr>
        <p:spPr>
          <a:xfrm>
            <a:off x="7213351" y="3176764"/>
            <a:ext cx="4107646"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Ràng buộc thời gian thực</a:t>
            </a:r>
            <a:endParaRPr lang="en-US" sz="1400" dirty="0"/>
          </a:p>
        </p:txBody>
      </p:sp>
      <p:sp>
        <p:nvSpPr>
          <p:cNvPr id="21" name="Text 18"/>
          <p:cNvSpPr/>
          <p:nvPr/>
        </p:nvSpPr>
        <p:spPr>
          <a:xfrm>
            <a:off x="7213351" y="3428119"/>
            <a:ext cx="4107646" cy="505325"/>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B4558"/>
                </a:solidFill>
                <a:latin typeface="Times New Roman" pitchFamily="18" charset="0"/>
                <a:ea typeface="Times New Roman" pitchFamily="18" charset="-122"/>
                <a:cs typeface="Times New Roman" pitchFamily="18" charset="-120"/>
              </a:rPr>
              <a:t>Tại mỗi thời điểm chỉ được dùng quá khứ, không “chờ xem” điều gì xảy ra tiếp.</a:t>
            </a:r>
            <a:endParaRPr lang="en-US" sz="1400" dirty="0"/>
          </a:p>
        </p:txBody>
      </p:sp>
      <p:sp>
        <p:nvSpPr>
          <p:cNvPr id="22" name="Shape 19"/>
          <p:cNvSpPr/>
          <p:nvPr/>
        </p:nvSpPr>
        <p:spPr>
          <a:xfrm>
            <a:off x="6680068" y="4149255"/>
            <a:ext cx="4699074" cy="770599"/>
          </a:xfrm>
          <a:prstGeom prst="rect">
            <a:avLst/>
          </a:prstGeom>
          <a:solidFill>
            <a:srgbClr val="FDFCF9"/>
          </a:solidFill>
          <a:ln/>
        </p:spPr>
      </p:sp>
      <p:sp>
        <p:nvSpPr>
          <p:cNvPr id="23" name="Text 20"/>
          <p:cNvSpPr/>
          <p:nvPr/>
        </p:nvSpPr>
        <p:spPr>
          <a:xfrm>
            <a:off x="6857854" y="4288896"/>
            <a:ext cx="279371" cy="516717"/>
          </a:xfrm>
          <a:prstGeom prst="rect">
            <a:avLst/>
          </a:prstGeom>
          <a:noFill/>
          <a:ln/>
        </p:spPr>
        <p:txBody>
          <a:bodyPr wrap="square" lIns="0" tIns="0" rIns="0" bIns="0" rtlCol="0" anchor="t">
            <a:normAutofit/>
          </a:bodyPr>
          <a:lstStyle/>
          <a:p>
            <a:pPr marL="0" indent="0" algn="l">
              <a:lnSpc>
                <a:spcPts val="1800"/>
              </a:lnSpc>
              <a:buNone/>
            </a:pPr>
            <a:r>
              <a:rPr lang="en-US" sz="1800" b="1" dirty="0">
                <a:solidFill>
                  <a:srgbClr val="A84E16"/>
                </a:solidFill>
                <a:latin typeface="Times New Roman" pitchFamily="18" charset="0"/>
                <a:ea typeface="Times New Roman" pitchFamily="18" charset="-122"/>
                <a:cs typeface="Times New Roman" pitchFamily="18" charset="-120"/>
              </a:rPr>
              <a:t>3</a:t>
            </a:r>
            <a:endParaRPr lang="en-US" sz="1800" dirty="0"/>
          </a:p>
        </p:txBody>
      </p:sp>
      <p:sp>
        <p:nvSpPr>
          <p:cNvPr id="24" name="Text 21"/>
          <p:cNvSpPr/>
          <p:nvPr/>
        </p:nvSpPr>
        <p:spPr>
          <a:xfrm>
            <a:off x="7213351" y="4288896"/>
            <a:ext cx="4107646"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Máy tính thông thường</a:t>
            </a:r>
            <a:endParaRPr lang="en-US" sz="1400" dirty="0"/>
          </a:p>
        </p:txBody>
      </p:sp>
      <p:sp>
        <p:nvSpPr>
          <p:cNvPr id="25" name="Text 22"/>
          <p:cNvSpPr/>
          <p:nvPr/>
        </p:nvSpPr>
        <p:spPr>
          <a:xfrm>
            <a:off x="7213351" y="4540251"/>
            <a:ext cx="4107646" cy="26536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B4558"/>
                </a:solidFill>
                <a:latin typeface="Times New Roman" pitchFamily="18" charset="0"/>
                <a:ea typeface="Times New Roman" pitchFamily="18" charset="-122"/>
                <a:cs typeface="Times New Roman" pitchFamily="18" charset="-120"/>
              </a:rPr>
              <a:t>Chạy trên CPU, không có GPU.</a:t>
            </a:r>
            <a:endParaRPr lang="en-US" sz="1400" dirty="0"/>
          </a:p>
        </p:txBody>
      </p:sp>
      <p:sp>
        <p:nvSpPr>
          <p:cNvPr id="26" name="Text 23"/>
          <p:cNvSpPr/>
          <p:nvPr/>
        </p:nvSpPr>
        <p:spPr>
          <a:xfrm>
            <a:off x="812785" y="6238215"/>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5F6878"/>
                </a:solidFill>
                <a:latin typeface="Times New Roman" pitchFamily="18" charset="0"/>
                <a:ea typeface="Times New Roman" pitchFamily="18" charset="-122"/>
                <a:cs typeface="Times New Roman" pitchFamily="18" charset="-120"/>
              </a:rPr>
              <a:t>tiến</a:t>
            </a:r>
            <a:r>
              <a:rPr lang="en-US" sz="1200" dirty="0">
                <a:solidFill>
                  <a:srgbClr val="5F6878"/>
                </a:solidFill>
                <a:latin typeface="Times New Roman" pitchFamily="18" charset="0"/>
                <a:ea typeface="Times New Roman" pitchFamily="18" charset="-122"/>
                <a:cs typeface="Times New Roman" pitchFamily="18" charset="-120"/>
              </a:rPr>
              <a:t> </a:t>
            </a:r>
            <a:r>
              <a:rPr lang="en-US" sz="1200" dirty="0" err="1" smtClean="0">
                <a:solidFill>
                  <a:srgbClr val="5F6878"/>
                </a:solidFill>
                <a:latin typeface="Times New Roman" pitchFamily="18" charset="0"/>
                <a:ea typeface="Times New Roman" pitchFamily="18" charset="-122"/>
                <a:cs typeface="Times New Roman" pitchFamily="18" charset="-120"/>
              </a:rPr>
              <a:t>độ</a:t>
            </a:r>
            <a:endParaRPr lang="en-US" sz="1200" dirty="0"/>
          </a:p>
        </p:txBody>
      </p:sp>
      <p:sp>
        <p:nvSpPr>
          <p:cNvPr id="27" name="Text 24"/>
          <p:cNvSpPr/>
          <p:nvPr/>
        </p:nvSpPr>
        <p:spPr>
          <a:xfrm>
            <a:off x="10871230" y="6238215"/>
            <a:ext cx="507912"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02 / 16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5" y="711143"/>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6"/>
                </a:solidFill>
                <a:latin typeface="Times New Roman" pitchFamily="18" charset="0"/>
                <a:ea typeface="Times New Roman" pitchFamily="18" charset="-122"/>
                <a:cs typeface="Times New Roman" pitchFamily="18" charset="-120"/>
              </a:rPr>
              <a:t>MỞ ĐẦU</a:t>
            </a:r>
            <a:endParaRPr lang="en-US" sz="1200" dirty="0"/>
          </a:p>
        </p:txBody>
      </p:sp>
      <p:sp>
        <p:nvSpPr>
          <p:cNvPr id="3" name="Text 1"/>
          <p:cNvSpPr>
            <a:spLocks noGrp="1"/>
          </p:cNvSpPr>
          <p:nvPr>
            <p:ph type="title"/>
          </p:nvPr>
        </p:nvSpPr>
        <p:spPr>
          <a:xfrm>
            <a:off x="812785" y="987926"/>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5233F"/>
                </a:solidFill>
                <a:latin typeface="Times New Roman" pitchFamily="18" charset="0"/>
                <a:ea typeface="Times New Roman" pitchFamily="18" charset="-122"/>
                <a:cs typeface="Times New Roman" pitchFamily="18" charset="-120"/>
              </a:rPr>
              <a:t>Dữ liệu IPN </a:t>
            </a:r>
            <a:r>
              <a:rPr lang="en-US" sz="3000" b="1" i="0" dirty="0" smtClean="0">
                <a:solidFill>
                  <a:srgbClr val="15233F"/>
                </a:solidFill>
                <a:latin typeface="Times New Roman" pitchFamily="18" charset="0"/>
                <a:ea typeface="Times New Roman" pitchFamily="18" charset="-122"/>
                <a:cs typeface="Times New Roman" pitchFamily="18" charset="-120"/>
              </a:rPr>
              <a:t>Hand</a:t>
            </a:r>
            <a:endParaRPr lang="en-US" sz="3000" dirty="0"/>
          </a:p>
        </p:txBody>
      </p:sp>
      <p:sp>
        <p:nvSpPr>
          <p:cNvPr id="4" name="Shape 2"/>
          <p:cNvSpPr/>
          <p:nvPr/>
        </p:nvSpPr>
        <p:spPr>
          <a:xfrm>
            <a:off x="812785" y="1610137"/>
            <a:ext cx="2527286" cy="820943"/>
          </a:xfrm>
          <a:prstGeom prst="rect">
            <a:avLst/>
          </a:prstGeom>
          <a:solidFill>
            <a:srgbClr val="FDFCF9"/>
          </a:solidFill>
          <a:ln/>
        </p:spPr>
      </p:sp>
      <p:sp>
        <p:nvSpPr>
          <p:cNvPr id="5" name="Shape 3"/>
          <p:cNvSpPr/>
          <p:nvPr/>
        </p:nvSpPr>
        <p:spPr>
          <a:xfrm>
            <a:off x="812785" y="1622837"/>
            <a:ext cx="2527286" cy="0"/>
          </a:xfrm>
          <a:prstGeom prst="line">
            <a:avLst/>
          </a:prstGeom>
          <a:noFill/>
          <a:ln w="25400">
            <a:solidFill>
              <a:srgbClr val="15233F"/>
            </a:solidFill>
            <a:prstDash val="solid"/>
          </a:ln>
        </p:spPr>
      </p:sp>
      <p:sp>
        <p:nvSpPr>
          <p:cNvPr id="6" name="Text 4"/>
          <p:cNvSpPr/>
          <p:nvPr/>
        </p:nvSpPr>
        <p:spPr>
          <a:xfrm>
            <a:off x="965141" y="1722512"/>
            <a:ext cx="2289251"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15233F"/>
                </a:solidFill>
                <a:latin typeface="Times New Roman" pitchFamily="18" charset="0"/>
                <a:ea typeface="Times New Roman" pitchFamily="18" charset="-122"/>
                <a:cs typeface="Times New Roman" pitchFamily="18" charset="-120"/>
              </a:rPr>
              <a:t>200</a:t>
            </a:r>
            <a:endParaRPr lang="en-US" sz="3000" dirty="0"/>
          </a:p>
        </p:txBody>
      </p:sp>
      <p:sp>
        <p:nvSpPr>
          <p:cNvPr id="7" name="Text 5"/>
          <p:cNvSpPr/>
          <p:nvPr/>
        </p:nvSpPr>
        <p:spPr>
          <a:xfrm>
            <a:off x="965141" y="2128869"/>
            <a:ext cx="2289251"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video</a:t>
            </a:r>
            <a:endParaRPr lang="en-US" sz="1200" dirty="0"/>
          </a:p>
        </p:txBody>
      </p:sp>
      <p:sp>
        <p:nvSpPr>
          <p:cNvPr id="8" name="Shape 6"/>
          <p:cNvSpPr/>
          <p:nvPr/>
        </p:nvSpPr>
        <p:spPr>
          <a:xfrm>
            <a:off x="3492427" y="1610137"/>
            <a:ext cx="2527359" cy="820943"/>
          </a:xfrm>
          <a:prstGeom prst="rect">
            <a:avLst/>
          </a:prstGeom>
          <a:solidFill>
            <a:srgbClr val="FDFCF9"/>
          </a:solidFill>
          <a:ln/>
        </p:spPr>
      </p:sp>
      <p:sp>
        <p:nvSpPr>
          <p:cNvPr id="9" name="Shape 7"/>
          <p:cNvSpPr/>
          <p:nvPr/>
        </p:nvSpPr>
        <p:spPr>
          <a:xfrm>
            <a:off x="3492427" y="1622837"/>
            <a:ext cx="2527359" cy="0"/>
          </a:xfrm>
          <a:prstGeom prst="line">
            <a:avLst/>
          </a:prstGeom>
          <a:noFill/>
          <a:ln w="25400">
            <a:solidFill>
              <a:srgbClr val="15233F"/>
            </a:solidFill>
            <a:prstDash val="solid"/>
          </a:ln>
        </p:spPr>
      </p:sp>
      <p:sp>
        <p:nvSpPr>
          <p:cNvPr id="10" name="Text 8"/>
          <p:cNvSpPr/>
          <p:nvPr/>
        </p:nvSpPr>
        <p:spPr>
          <a:xfrm>
            <a:off x="3644783" y="1722512"/>
            <a:ext cx="2289327"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15233F"/>
                </a:solidFill>
                <a:latin typeface="Times New Roman" pitchFamily="18" charset="0"/>
                <a:ea typeface="Times New Roman" pitchFamily="18" charset="-122"/>
                <a:cs typeface="Times New Roman" pitchFamily="18" charset="-120"/>
              </a:rPr>
              <a:t>50</a:t>
            </a:r>
            <a:endParaRPr lang="en-US" sz="3000" dirty="0"/>
          </a:p>
        </p:txBody>
      </p:sp>
      <p:sp>
        <p:nvSpPr>
          <p:cNvPr id="11" name="Text 9"/>
          <p:cNvSpPr/>
          <p:nvPr/>
        </p:nvSpPr>
        <p:spPr>
          <a:xfrm>
            <a:off x="3644783" y="2128869"/>
            <a:ext cx="2289327"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người diễn</a:t>
            </a:r>
            <a:endParaRPr lang="en-US" sz="1200" dirty="0"/>
          </a:p>
        </p:txBody>
      </p:sp>
      <p:sp>
        <p:nvSpPr>
          <p:cNvPr id="12" name="Shape 10"/>
          <p:cNvSpPr/>
          <p:nvPr/>
        </p:nvSpPr>
        <p:spPr>
          <a:xfrm>
            <a:off x="6172142" y="1610137"/>
            <a:ext cx="2527286" cy="820943"/>
          </a:xfrm>
          <a:prstGeom prst="rect">
            <a:avLst/>
          </a:prstGeom>
          <a:solidFill>
            <a:srgbClr val="FDFCF9"/>
          </a:solidFill>
          <a:ln/>
        </p:spPr>
      </p:sp>
      <p:sp>
        <p:nvSpPr>
          <p:cNvPr id="13" name="Shape 11"/>
          <p:cNvSpPr/>
          <p:nvPr/>
        </p:nvSpPr>
        <p:spPr>
          <a:xfrm>
            <a:off x="6172142" y="1622837"/>
            <a:ext cx="2527286" cy="0"/>
          </a:xfrm>
          <a:prstGeom prst="line">
            <a:avLst/>
          </a:prstGeom>
          <a:noFill/>
          <a:ln w="25400">
            <a:solidFill>
              <a:srgbClr val="15233F"/>
            </a:solidFill>
            <a:prstDash val="solid"/>
          </a:ln>
        </p:spPr>
      </p:sp>
      <p:sp>
        <p:nvSpPr>
          <p:cNvPr id="14" name="Text 12"/>
          <p:cNvSpPr/>
          <p:nvPr/>
        </p:nvSpPr>
        <p:spPr>
          <a:xfrm>
            <a:off x="6324498" y="1722512"/>
            <a:ext cx="2289251"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15233F"/>
                </a:solidFill>
                <a:latin typeface="Times New Roman" pitchFamily="18" charset="0"/>
                <a:ea typeface="Times New Roman" pitchFamily="18" charset="-122"/>
                <a:cs typeface="Times New Roman" pitchFamily="18" charset="-120"/>
              </a:rPr>
              <a:t>14</a:t>
            </a:r>
            <a:endParaRPr lang="en-US" sz="3000" dirty="0"/>
          </a:p>
        </p:txBody>
      </p:sp>
      <p:sp>
        <p:nvSpPr>
          <p:cNvPr id="15" name="Text 13"/>
          <p:cNvSpPr/>
          <p:nvPr/>
        </p:nvSpPr>
        <p:spPr>
          <a:xfrm>
            <a:off x="6324498" y="2128869"/>
            <a:ext cx="2289251"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lớp gốc</a:t>
            </a:r>
            <a:endParaRPr lang="en-US" sz="1200" dirty="0"/>
          </a:p>
        </p:txBody>
      </p:sp>
      <p:sp>
        <p:nvSpPr>
          <p:cNvPr id="16" name="Shape 14"/>
          <p:cNvSpPr/>
          <p:nvPr/>
        </p:nvSpPr>
        <p:spPr>
          <a:xfrm>
            <a:off x="8851784" y="1610137"/>
            <a:ext cx="2527359" cy="820943"/>
          </a:xfrm>
          <a:prstGeom prst="rect">
            <a:avLst/>
          </a:prstGeom>
          <a:solidFill>
            <a:srgbClr val="FDFCF9"/>
          </a:solidFill>
          <a:ln/>
        </p:spPr>
      </p:sp>
      <p:sp>
        <p:nvSpPr>
          <p:cNvPr id="17" name="Shape 15"/>
          <p:cNvSpPr/>
          <p:nvPr/>
        </p:nvSpPr>
        <p:spPr>
          <a:xfrm>
            <a:off x="8851784" y="1622837"/>
            <a:ext cx="2527359" cy="0"/>
          </a:xfrm>
          <a:prstGeom prst="line">
            <a:avLst/>
          </a:prstGeom>
          <a:noFill/>
          <a:ln w="25400">
            <a:solidFill>
              <a:srgbClr val="15233F"/>
            </a:solidFill>
            <a:prstDash val="solid"/>
          </a:ln>
        </p:spPr>
      </p:sp>
      <p:sp>
        <p:nvSpPr>
          <p:cNvPr id="18" name="Text 16"/>
          <p:cNvSpPr/>
          <p:nvPr/>
        </p:nvSpPr>
        <p:spPr>
          <a:xfrm>
            <a:off x="9004140" y="1722512"/>
            <a:ext cx="2289327"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15233F"/>
                </a:solidFill>
                <a:latin typeface="Times New Roman" pitchFamily="18" charset="0"/>
                <a:ea typeface="Times New Roman" pitchFamily="18" charset="-122"/>
                <a:cs typeface="Times New Roman" pitchFamily="18" charset="-120"/>
              </a:rPr>
              <a:t>640×480</a:t>
            </a:r>
            <a:endParaRPr lang="en-US" sz="3000" dirty="0"/>
          </a:p>
        </p:txBody>
      </p:sp>
      <p:sp>
        <p:nvSpPr>
          <p:cNvPr id="19" name="Text 17"/>
          <p:cNvSpPr/>
          <p:nvPr/>
        </p:nvSpPr>
        <p:spPr>
          <a:xfrm>
            <a:off x="9004140" y="2128869"/>
            <a:ext cx="2289327"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khoảng 30 FPS</a:t>
            </a:r>
            <a:endParaRPr lang="en-US" sz="1200" dirty="0"/>
          </a:p>
        </p:txBody>
      </p:sp>
      <p:sp>
        <p:nvSpPr>
          <p:cNvPr id="20" name="Text 18"/>
          <p:cNvSpPr/>
          <p:nvPr/>
        </p:nvSpPr>
        <p:spPr>
          <a:xfrm>
            <a:off x="812785" y="2634222"/>
            <a:ext cx="6147995"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Ánh xạ 14 lớp gốc về 5 lớp</a:t>
            </a:r>
            <a:endParaRPr lang="en-US" sz="1400" dirty="0"/>
          </a:p>
        </p:txBody>
      </p:sp>
      <p:sp>
        <p:nvSpPr>
          <p:cNvPr id="21" name="Shape 19"/>
          <p:cNvSpPr/>
          <p:nvPr/>
        </p:nvSpPr>
        <p:spPr>
          <a:xfrm>
            <a:off x="812785" y="2923646"/>
            <a:ext cx="5968927" cy="2558668"/>
          </a:xfrm>
          <a:prstGeom prst="rect">
            <a:avLst/>
          </a:prstGeom>
          <a:solidFill>
            <a:srgbClr val="FDFCF9"/>
          </a:solidFill>
          <a:ln/>
        </p:spPr>
      </p:sp>
      <p:sp>
        <p:nvSpPr>
          <p:cNvPr id="22" name="Shape 20"/>
          <p:cNvSpPr/>
          <p:nvPr/>
        </p:nvSpPr>
        <p:spPr>
          <a:xfrm>
            <a:off x="6778538" y="2923646"/>
            <a:ext cx="0" cy="2558668"/>
          </a:xfrm>
          <a:prstGeom prst="line">
            <a:avLst/>
          </a:prstGeom>
          <a:noFill/>
          <a:ln w="6350">
            <a:solidFill>
              <a:srgbClr val="DCD8CE"/>
            </a:solidFill>
            <a:prstDash val="solid"/>
          </a:ln>
        </p:spPr>
      </p:sp>
      <p:sp>
        <p:nvSpPr>
          <p:cNvPr id="23" name="Shape 21"/>
          <p:cNvSpPr/>
          <p:nvPr/>
        </p:nvSpPr>
        <p:spPr>
          <a:xfrm>
            <a:off x="812785" y="5479140"/>
            <a:ext cx="5968927" cy="0"/>
          </a:xfrm>
          <a:prstGeom prst="line">
            <a:avLst/>
          </a:prstGeom>
          <a:noFill/>
          <a:ln w="6350">
            <a:solidFill>
              <a:srgbClr val="DCD8CE"/>
            </a:solidFill>
            <a:prstDash val="solid"/>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22193" y="2933054"/>
          <a:ext cx="5954816" cy="2545545"/>
        </p:xfrm>
        <a:graphic>
          <a:graphicData uri="http://schemas.openxmlformats.org/drawingml/2006/table">
            <a:tbl>
              <a:tblPr/>
              <a:tblGrid>
                <a:gridCol w="3691986">
                  <a:extLst>
                    <a:ext uri="{9D8B030D-6E8A-4147-A177-3AD203B41FA5}">
                      <a16:colId xmlns:a16="http://schemas.microsoft.com/office/drawing/2014/main" val="20000"/>
                    </a:ext>
                  </a:extLst>
                </a:gridCol>
                <a:gridCol w="2262830">
                  <a:extLst>
                    <a:ext uri="{9D8B030D-6E8A-4147-A177-3AD203B41FA5}">
                      <a16:colId xmlns:a16="http://schemas.microsoft.com/office/drawing/2014/main" val="20001"/>
                    </a:ext>
                  </a:extLst>
                </a:gridCol>
              </a:tblGrid>
              <a:tr h="382617">
                <a:tc>
                  <a:txBody>
                    <a:bodyPr/>
                    <a:lstStyle/>
                    <a:p>
                      <a:pPr marL="0" indent="0">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Lớp gốc IPN</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Lớp của hệ thống</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extLst>
                  <a:ext uri="{0D108BD9-81ED-4DB2-BD59-A6C34878D82A}">
                    <a16:rowId xmlns:a16="http://schemas.microsoft.com/office/drawing/2014/main" val="10000"/>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Hất trái</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Vuốt trái</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1"/>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Hất phải</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Vuốt phải</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2"/>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Zoom in</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Zoom in</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3"/>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Zoom out</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Zoom out</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4"/>
                  </a:ext>
                </a:extLst>
              </a:tr>
              <a:tr h="631472">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10 lớp còn lại; trong đó hất lên, hất xuống, xòe tay hai lần, chỉ trỏ là mẫu âm khó</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0B5A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5AB"/>
                      </a:solidFill>
                      <a:prstDash val="solid"/>
                      <a:round/>
                      <a:headEnd type="none" w="med" len="med"/>
                      <a:tailEnd type="none" w="med" len="med"/>
                    </a:lnB>
                    <a:solidFill>
                      <a:srgbClr val="F1E3D6"/>
                    </a:solidFill>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Không cử chỉ</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0B5AB"/>
                      </a:solidFill>
                      <a:prstDash val="solid"/>
                      <a:round/>
                      <a:headEnd type="none" w="med" len="med"/>
                      <a:tailEnd type="none" w="med" len="med"/>
                    </a:lnL>
                    <a:lnR w="12700" cap="flat" cmpd="sng" algn="ctr">
                      <a:solidFill>
                        <a:srgbClr val="C0B5A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5AB"/>
                      </a:solidFill>
                      <a:prstDash val="solid"/>
                      <a:round/>
                      <a:headEnd type="none" w="med" len="med"/>
                      <a:tailEnd type="none" w="med" len="med"/>
                    </a:lnB>
                    <a:solidFill>
                      <a:srgbClr val="F1E3D6"/>
                    </a:solidFill>
                  </a:tcPr>
                </a:tc>
                <a:extLst>
                  <a:ext uri="{0D108BD9-81ED-4DB2-BD59-A6C34878D82A}">
                    <a16:rowId xmlns:a16="http://schemas.microsoft.com/office/drawing/2014/main" val="10005"/>
                  </a:ext>
                </a:extLst>
              </a:tr>
            </a:tbl>
          </a:graphicData>
        </a:graphic>
      </p:graphicFrame>
      <p:sp>
        <p:nvSpPr>
          <p:cNvPr id="25" name="Text 22"/>
          <p:cNvSpPr/>
          <p:nvPr/>
        </p:nvSpPr>
        <p:spPr>
          <a:xfrm>
            <a:off x="7137283" y="2634222"/>
            <a:ext cx="4369115"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Có sẵn cách chia train/test chính thức theo người. Chỉ tự quay dữ liệu khi có bằng chứng là cần.</a:t>
            </a:r>
            <a:endParaRPr lang="en-US" sz="1200" dirty="0"/>
          </a:p>
        </p:txBody>
      </p:sp>
      <p:sp>
        <p:nvSpPr>
          <p:cNvPr id="26" name="Shape 23"/>
          <p:cNvSpPr/>
          <p:nvPr/>
        </p:nvSpPr>
        <p:spPr>
          <a:xfrm>
            <a:off x="7137283" y="3147220"/>
            <a:ext cx="4241859" cy="919354"/>
          </a:xfrm>
          <a:prstGeom prst="rect">
            <a:avLst/>
          </a:prstGeom>
          <a:solidFill>
            <a:srgbClr val="FDFCF9"/>
          </a:solidFill>
          <a:ln/>
        </p:spPr>
      </p:sp>
      <p:sp>
        <p:nvSpPr>
          <p:cNvPr id="27" name="Shape 24"/>
          <p:cNvSpPr/>
          <p:nvPr/>
        </p:nvSpPr>
        <p:spPr>
          <a:xfrm>
            <a:off x="7156333" y="3147220"/>
            <a:ext cx="0" cy="919354"/>
          </a:xfrm>
          <a:prstGeom prst="line">
            <a:avLst/>
          </a:prstGeom>
          <a:noFill/>
          <a:ln w="38100">
            <a:solidFill>
              <a:srgbClr val="2A5A9B"/>
            </a:solidFill>
            <a:prstDash val="solid"/>
          </a:ln>
        </p:spPr>
      </p:sp>
      <p:sp>
        <p:nvSpPr>
          <p:cNvPr id="28" name="Text 25"/>
          <p:cNvSpPr/>
          <p:nvPr/>
        </p:nvSpPr>
        <p:spPr>
          <a:xfrm>
            <a:off x="7327269" y="3261505"/>
            <a:ext cx="4016503"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Hai điều kiện đi kèm</a:t>
            </a:r>
            <a:endParaRPr lang="en-US" sz="1400" dirty="0"/>
          </a:p>
        </p:txBody>
      </p:sp>
      <p:sp>
        <p:nvSpPr>
          <p:cNvPr id="29" name="Text 26"/>
          <p:cNvSpPr/>
          <p:nvPr/>
        </p:nvSpPr>
        <p:spPr>
          <a:xfrm>
            <a:off x="7428840" y="3525574"/>
            <a:ext cx="3907313" cy="452114"/>
          </a:xfrm>
          <a:prstGeom prst="rect">
            <a:avLst/>
          </a:prstGeom>
          <a:noFill/>
          <a:ln/>
        </p:spPr>
        <p:txBody>
          <a:bodyPr wrap="square" lIns="0" tIns="0" rIns="0" bIns="0" rtlCol="0" anchor="t">
            <a:normAutofit/>
          </a:bodyPr>
          <a:lstStyle/>
          <a:p>
            <a:pPr marL="152429" indent="-152429" algn="l">
              <a:lnSpc>
                <a:spcPts val="1680"/>
              </a:lnSpc>
              <a:buSzPct val="100000"/>
              <a:buFontTx/>
              <a:buAutoNum type="arabicPeriod"/>
            </a:pPr>
            <a:r>
              <a:rPr lang="en-US" sz="1200" dirty="0">
                <a:solidFill>
                  <a:srgbClr val="3B4558"/>
                </a:solidFill>
                <a:latin typeface="Times New Roman" pitchFamily="18" charset="0"/>
                <a:ea typeface="Times New Roman" pitchFamily="18" charset="-122"/>
                <a:cs typeface="Times New Roman" pitchFamily="18" charset="-120"/>
              </a:rPr>
              <a:t>Người dùng làm cử chỉ theo cách của IPN</a:t>
            </a:r>
            <a:endParaRPr lang="en-US" sz="1200" dirty="0"/>
          </a:p>
          <a:p>
            <a:pPr marL="152429" indent="-152429" algn="l">
              <a:lnSpc>
                <a:spcPts val="1680"/>
              </a:lnSpc>
              <a:buSzPct val="100000"/>
              <a:buFontTx/>
              <a:buAutoNum type="arabicPeriod"/>
            </a:pPr>
            <a:r>
              <a:rPr lang="en-US" sz="1200" dirty="0">
                <a:solidFill>
                  <a:srgbClr val="3B4558"/>
                </a:solidFill>
                <a:latin typeface="Times New Roman" pitchFamily="18" charset="0"/>
                <a:ea typeface="Times New Roman" pitchFamily="18" charset="-122"/>
                <a:cs typeface="Times New Roman" pitchFamily="18" charset="-120"/>
              </a:rPr>
              <a:t>Quy ước hướng lấy theo IPN: phải đo, không đoán</a:t>
            </a:r>
            <a:endParaRPr lang="en-US" sz="1200" dirty="0"/>
          </a:p>
        </p:txBody>
      </p:sp>
      <p:sp>
        <p:nvSpPr>
          <p:cNvPr id="30" name="Shape 27"/>
          <p:cNvSpPr/>
          <p:nvPr/>
        </p:nvSpPr>
        <p:spPr>
          <a:xfrm>
            <a:off x="7137283" y="4168144"/>
            <a:ext cx="4241859" cy="919354"/>
          </a:xfrm>
          <a:prstGeom prst="rect">
            <a:avLst/>
          </a:prstGeom>
          <a:solidFill>
            <a:srgbClr val="FDFCF9"/>
          </a:solidFill>
          <a:ln/>
        </p:spPr>
      </p:sp>
      <p:sp>
        <p:nvSpPr>
          <p:cNvPr id="31" name="Shape 28"/>
          <p:cNvSpPr/>
          <p:nvPr/>
        </p:nvSpPr>
        <p:spPr>
          <a:xfrm>
            <a:off x="7156333" y="4168144"/>
            <a:ext cx="0" cy="919354"/>
          </a:xfrm>
          <a:prstGeom prst="line">
            <a:avLst/>
          </a:prstGeom>
          <a:noFill/>
          <a:ln w="38100">
            <a:solidFill>
              <a:srgbClr val="A84E16"/>
            </a:solidFill>
            <a:prstDash val="solid"/>
          </a:ln>
        </p:spPr>
      </p:sp>
      <p:sp>
        <p:nvSpPr>
          <p:cNvPr id="32" name="Text 29"/>
          <p:cNvSpPr/>
          <p:nvPr/>
        </p:nvSpPr>
        <p:spPr>
          <a:xfrm>
            <a:off x="7327269" y="4282430"/>
            <a:ext cx="4016503"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Cái chấp nhận mất</a:t>
            </a:r>
            <a:endParaRPr lang="en-US" sz="1400" dirty="0"/>
          </a:p>
        </p:txBody>
      </p:sp>
      <p:sp>
        <p:nvSpPr>
          <p:cNvPr id="33" name="Text 30"/>
          <p:cNvSpPr/>
          <p:nvPr/>
        </p:nvSpPr>
        <p:spPr>
          <a:xfrm>
            <a:off x="7327269" y="4546498"/>
            <a:ext cx="4016503"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Chưa có dữ liệu điều kiện thật. Bù bằng các phép đo trực tiếp trên webcam ở các phase sau.</a:t>
            </a:r>
            <a:endParaRPr lang="en-US" sz="1200" dirty="0"/>
          </a:p>
        </p:txBody>
      </p:sp>
      <p:sp>
        <p:nvSpPr>
          <p:cNvPr id="34" name="Text 31"/>
          <p:cNvSpPr/>
          <p:nvPr/>
        </p:nvSpPr>
        <p:spPr>
          <a:xfrm>
            <a:off x="812785" y="6238216"/>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5F6878"/>
                </a:solidFill>
                <a:latin typeface="Times New Roman" pitchFamily="18" charset="0"/>
                <a:ea typeface="Times New Roman" pitchFamily="18" charset="-122"/>
                <a:cs typeface="Times New Roman" pitchFamily="18" charset="-120"/>
              </a:rPr>
              <a:t>tiến</a:t>
            </a:r>
            <a:r>
              <a:rPr lang="en-US" sz="1200" dirty="0">
                <a:solidFill>
                  <a:srgbClr val="5F6878"/>
                </a:solidFill>
                <a:latin typeface="Times New Roman" pitchFamily="18" charset="0"/>
                <a:ea typeface="Times New Roman" pitchFamily="18" charset="-122"/>
                <a:cs typeface="Times New Roman" pitchFamily="18" charset="-120"/>
              </a:rPr>
              <a:t> </a:t>
            </a:r>
            <a:r>
              <a:rPr lang="en-US" sz="1200" dirty="0" err="1" smtClean="0">
                <a:solidFill>
                  <a:srgbClr val="5F6878"/>
                </a:solidFill>
                <a:latin typeface="Times New Roman" pitchFamily="18" charset="0"/>
                <a:ea typeface="Times New Roman" pitchFamily="18" charset="-122"/>
                <a:cs typeface="Times New Roman" pitchFamily="18" charset="-120"/>
              </a:rPr>
              <a:t>độ</a:t>
            </a:r>
            <a:endParaRPr lang="en-US" sz="1200" dirty="0"/>
          </a:p>
        </p:txBody>
      </p:sp>
      <p:sp>
        <p:nvSpPr>
          <p:cNvPr id="35" name="Text 32"/>
          <p:cNvSpPr/>
          <p:nvPr/>
        </p:nvSpPr>
        <p:spPr>
          <a:xfrm>
            <a:off x="10871230" y="6238216"/>
            <a:ext cx="507912"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03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5" y="71114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6"/>
                </a:solidFill>
                <a:latin typeface="Times New Roman" pitchFamily="18" charset="0"/>
                <a:ea typeface="Times New Roman" pitchFamily="18" charset="-122"/>
                <a:cs typeface="Times New Roman" pitchFamily="18" charset="-120"/>
              </a:rPr>
              <a:t>NGUYÊN TẮC VÀ </a:t>
            </a:r>
            <a:r>
              <a:rPr lang="en-US" sz="1200" b="1" kern="0" spc="150" dirty="0" smtClean="0">
                <a:solidFill>
                  <a:srgbClr val="A84E16"/>
                </a:solidFill>
                <a:latin typeface="Times New Roman" pitchFamily="18" charset="0"/>
                <a:ea typeface="Times New Roman" pitchFamily="18" charset="-122"/>
                <a:cs typeface="Times New Roman" pitchFamily="18" charset="-120"/>
              </a:rPr>
              <a:t>PIPELINE XỬ LÝ</a:t>
            </a:r>
            <a:endParaRPr lang="en-US" sz="1200" dirty="0"/>
          </a:p>
        </p:txBody>
      </p:sp>
      <p:sp>
        <p:nvSpPr>
          <p:cNvPr id="3" name="Text 1"/>
          <p:cNvSpPr>
            <a:spLocks noGrp="1"/>
          </p:cNvSpPr>
          <p:nvPr>
            <p:ph type="title"/>
          </p:nvPr>
        </p:nvSpPr>
        <p:spPr>
          <a:xfrm>
            <a:off x="812785" y="987924"/>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5233F"/>
                </a:solidFill>
                <a:latin typeface="Times New Roman" pitchFamily="18" charset="0"/>
                <a:ea typeface="Times New Roman" pitchFamily="18" charset="-122"/>
                <a:cs typeface="Times New Roman" pitchFamily="18" charset="-120"/>
              </a:rPr>
              <a:t>Thu nhận điểm mốc </a:t>
            </a:r>
            <a:r>
              <a:rPr lang="en-US" sz="3000" b="1" i="0" dirty="0" err="1">
                <a:solidFill>
                  <a:srgbClr val="15233F"/>
                </a:solidFill>
                <a:latin typeface="Times New Roman" pitchFamily="18" charset="0"/>
                <a:ea typeface="Times New Roman" pitchFamily="18" charset="-122"/>
                <a:cs typeface="Times New Roman" pitchFamily="18" charset="-120"/>
              </a:rPr>
              <a:t>và</a:t>
            </a:r>
            <a:r>
              <a:rPr lang="en-US" sz="3000" b="1" i="0" dirty="0">
                <a:solidFill>
                  <a:srgbClr val="15233F"/>
                </a:solidFill>
                <a:latin typeface="Times New Roman" pitchFamily="18" charset="0"/>
                <a:ea typeface="Times New Roman" pitchFamily="18" charset="-122"/>
                <a:cs typeface="Times New Roman" pitchFamily="18" charset="-120"/>
              </a:rPr>
              <a:t> </a:t>
            </a:r>
            <a:r>
              <a:rPr lang="en-US" b="1" dirty="0" smtClean="0">
                <a:latin typeface="Times New Roman" pitchFamily="18" charset="0"/>
                <a:ea typeface="Times New Roman" pitchFamily="18" charset="-122"/>
                <a:cs typeface="Times New Roman" pitchFamily="18" charset="-120"/>
              </a:rPr>
              <a:t>pipeline</a:t>
            </a:r>
            <a:r>
              <a:rPr lang="en-US" sz="3000" b="1" i="0" dirty="0" smtClean="0">
                <a:solidFill>
                  <a:srgbClr val="15233F"/>
                </a:solidFill>
                <a:latin typeface="Times New Roman" pitchFamily="18" charset="0"/>
                <a:ea typeface="Times New Roman" pitchFamily="18" charset="-122"/>
                <a:cs typeface="Times New Roman" pitchFamily="18" charset="-120"/>
              </a:rPr>
              <a:t> </a:t>
            </a:r>
            <a:r>
              <a:rPr lang="en-US" sz="3000" b="1" i="0" dirty="0">
                <a:solidFill>
                  <a:srgbClr val="15233F"/>
                </a:solidFill>
                <a:latin typeface="Times New Roman" pitchFamily="18" charset="0"/>
                <a:ea typeface="Times New Roman" pitchFamily="18" charset="-122"/>
                <a:cs typeface="Times New Roman" pitchFamily="18" charset="-120"/>
              </a:rPr>
              <a:t>tiền xử lý</a:t>
            </a:r>
            <a:endParaRPr lang="en-US" sz="3000" dirty="0"/>
          </a:p>
        </p:txBody>
      </p:sp>
      <p:sp>
        <p:nvSpPr>
          <p:cNvPr id="4" name="Text 2"/>
          <p:cNvSpPr/>
          <p:nvPr/>
        </p:nvSpPr>
        <p:spPr>
          <a:xfrm>
            <a:off x="812785" y="1610137"/>
            <a:ext cx="3924225"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Thu nhận</a:t>
            </a:r>
            <a:endParaRPr lang="en-US" sz="1400" dirty="0"/>
          </a:p>
        </p:txBody>
      </p:sp>
      <p:sp>
        <p:nvSpPr>
          <p:cNvPr id="5" name="Shape 3"/>
          <p:cNvSpPr/>
          <p:nvPr/>
        </p:nvSpPr>
        <p:spPr>
          <a:xfrm>
            <a:off x="812785" y="1912277"/>
            <a:ext cx="3809927" cy="614495"/>
          </a:xfrm>
          <a:prstGeom prst="rect">
            <a:avLst/>
          </a:prstGeom>
          <a:solidFill>
            <a:srgbClr val="FDFCF9"/>
          </a:solidFill>
          <a:ln/>
        </p:spPr>
      </p:sp>
      <p:sp>
        <p:nvSpPr>
          <p:cNvPr id="6" name="Shape 4"/>
          <p:cNvSpPr/>
          <p:nvPr/>
        </p:nvSpPr>
        <p:spPr>
          <a:xfrm>
            <a:off x="831835" y="1912277"/>
            <a:ext cx="0" cy="614495"/>
          </a:xfrm>
          <a:prstGeom prst="line">
            <a:avLst/>
          </a:prstGeom>
          <a:noFill/>
          <a:ln w="38100">
            <a:solidFill>
              <a:srgbClr val="2A5A9B"/>
            </a:solidFill>
            <a:prstDash val="solid"/>
          </a:ln>
        </p:spPr>
      </p:sp>
      <p:sp>
        <p:nvSpPr>
          <p:cNvPr id="7" name="Text 5"/>
          <p:cNvSpPr/>
          <p:nvPr/>
        </p:nvSpPr>
        <p:spPr>
          <a:xfrm>
            <a:off x="990056" y="2001131"/>
            <a:ext cx="3597806"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MediaPipe Hand Landmarker</a:t>
            </a:r>
            <a:endParaRPr lang="en-US" sz="1400" dirty="0"/>
          </a:p>
        </p:txBody>
      </p:sp>
      <p:sp>
        <p:nvSpPr>
          <p:cNvPr id="8" name="Text 6"/>
          <p:cNvSpPr/>
          <p:nvPr/>
        </p:nvSpPr>
        <p:spPr>
          <a:xfrm>
            <a:off x="990056" y="2239770"/>
            <a:ext cx="3597806" cy="22354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B4558"/>
                </a:solidFill>
                <a:latin typeface="Times New Roman" pitchFamily="18" charset="0"/>
                <a:ea typeface="Times New Roman" pitchFamily="18" charset="-122"/>
                <a:cs typeface="Times New Roman" pitchFamily="18" charset="-120"/>
              </a:rPr>
              <a:t>Chế độ video, theo dõi một bàn tay</a:t>
            </a:r>
            <a:endParaRPr lang="en-US" sz="1200" dirty="0"/>
          </a:p>
        </p:txBody>
      </p:sp>
      <p:sp>
        <p:nvSpPr>
          <p:cNvPr id="9" name="Shape 7"/>
          <p:cNvSpPr/>
          <p:nvPr/>
        </p:nvSpPr>
        <p:spPr>
          <a:xfrm>
            <a:off x="812785" y="2615626"/>
            <a:ext cx="3809927" cy="614495"/>
          </a:xfrm>
          <a:prstGeom prst="rect">
            <a:avLst/>
          </a:prstGeom>
          <a:solidFill>
            <a:srgbClr val="FDFCF9"/>
          </a:solidFill>
          <a:ln/>
        </p:spPr>
      </p:sp>
      <p:sp>
        <p:nvSpPr>
          <p:cNvPr id="10" name="Shape 8"/>
          <p:cNvSpPr/>
          <p:nvPr/>
        </p:nvSpPr>
        <p:spPr>
          <a:xfrm>
            <a:off x="831835" y="2615626"/>
            <a:ext cx="0" cy="614495"/>
          </a:xfrm>
          <a:prstGeom prst="line">
            <a:avLst/>
          </a:prstGeom>
          <a:noFill/>
          <a:ln w="38100">
            <a:solidFill>
              <a:srgbClr val="2A5A9B"/>
            </a:solidFill>
            <a:prstDash val="solid"/>
          </a:ln>
        </p:spPr>
      </p:sp>
      <p:sp>
        <p:nvSpPr>
          <p:cNvPr id="11" name="Text 9"/>
          <p:cNvSpPr/>
          <p:nvPr/>
        </p:nvSpPr>
        <p:spPr>
          <a:xfrm>
            <a:off x="990056" y="2704483"/>
            <a:ext cx="3597806"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Chỉ toạ độ 2D</a:t>
            </a:r>
            <a:endParaRPr lang="en-US" sz="1400" dirty="0"/>
          </a:p>
        </p:txBody>
      </p:sp>
      <p:sp>
        <p:nvSpPr>
          <p:cNvPr id="12" name="Text 10"/>
          <p:cNvSpPr/>
          <p:nvPr/>
        </p:nvSpPr>
        <p:spPr>
          <a:xfrm>
            <a:off x="990056" y="2943123"/>
            <a:ext cx="3597806" cy="22354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B4558"/>
                </a:solidFill>
                <a:latin typeface="Times New Roman" pitchFamily="18" charset="0"/>
                <a:ea typeface="Times New Roman" pitchFamily="18" charset="-122"/>
                <a:cs typeface="Times New Roman" pitchFamily="18" charset="-120"/>
              </a:rPr>
              <a:t>Bỏ độ sâu z vì ước lượng không tin cậy</a:t>
            </a:r>
            <a:endParaRPr lang="en-US" sz="1200" dirty="0"/>
          </a:p>
        </p:txBody>
      </p:sp>
      <p:sp>
        <p:nvSpPr>
          <p:cNvPr id="13" name="Shape 11"/>
          <p:cNvSpPr/>
          <p:nvPr/>
        </p:nvSpPr>
        <p:spPr>
          <a:xfrm>
            <a:off x="812785" y="3318979"/>
            <a:ext cx="3809927" cy="614495"/>
          </a:xfrm>
          <a:prstGeom prst="rect">
            <a:avLst/>
          </a:prstGeom>
          <a:solidFill>
            <a:srgbClr val="FDFCF9"/>
          </a:solidFill>
          <a:ln/>
        </p:spPr>
      </p:sp>
      <p:sp>
        <p:nvSpPr>
          <p:cNvPr id="14" name="Shape 12"/>
          <p:cNvSpPr/>
          <p:nvPr/>
        </p:nvSpPr>
        <p:spPr>
          <a:xfrm>
            <a:off x="831835" y="3318979"/>
            <a:ext cx="0" cy="614495"/>
          </a:xfrm>
          <a:prstGeom prst="line">
            <a:avLst/>
          </a:prstGeom>
          <a:noFill/>
          <a:ln w="38100">
            <a:solidFill>
              <a:srgbClr val="A84E16"/>
            </a:solidFill>
            <a:prstDash val="solid"/>
          </a:ln>
        </p:spPr>
      </p:sp>
      <p:sp>
        <p:nvSpPr>
          <p:cNvPr id="15" name="Text 13"/>
          <p:cNvSpPr/>
          <p:nvPr/>
        </p:nvSpPr>
        <p:spPr>
          <a:xfrm>
            <a:off x="990056" y="3407832"/>
            <a:ext cx="3597806"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Ảnh vào mô hình không lật</a:t>
            </a:r>
            <a:endParaRPr lang="en-US" sz="1400" dirty="0"/>
          </a:p>
        </p:txBody>
      </p:sp>
      <p:sp>
        <p:nvSpPr>
          <p:cNvPr id="16" name="Text 14"/>
          <p:cNvSpPr/>
          <p:nvPr/>
        </p:nvSpPr>
        <p:spPr>
          <a:xfrm>
            <a:off x="990056" y="3646472"/>
            <a:ext cx="3597806" cy="22354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B4558"/>
                </a:solidFill>
                <a:latin typeface="Times New Roman" pitchFamily="18" charset="0"/>
                <a:ea typeface="Times New Roman" pitchFamily="18" charset="-122"/>
                <a:cs typeface="Times New Roman" pitchFamily="18" charset="-120"/>
              </a:rPr>
              <a:t>Chỉ bản hiển thị được lật như gương</a:t>
            </a:r>
            <a:endParaRPr lang="en-US" sz="1200" dirty="0"/>
          </a:p>
        </p:txBody>
      </p:sp>
      <p:sp>
        <p:nvSpPr>
          <p:cNvPr id="17" name="Shape 15"/>
          <p:cNvSpPr/>
          <p:nvPr/>
        </p:nvSpPr>
        <p:spPr>
          <a:xfrm>
            <a:off x="812785" y="4022328"/>
            <a:ext cx="3809927" cy="614495"/>
          </a:xfrm>
          <a:prstGeom prst="rect">
            <a:avLst/>
          </a:prstGeom>
          <a:solidFill>
            <a:srgbClr val="FDFCF9"/>
          </a:solidFill>
          <a:ln/>
        </p:spPr>
      </p:sp>
      <p:sp>
        <p:nvSpPr>
          <p:cNvPr id="18" name="Shape 16"/>
          <p:cNvSpPr/>
          <p:nvPr/>
        </p:nvSpPr>
        <p:spPr>
          <a:xfrm>
            <a:off x="831835" y="4022328"/>
            <a:ext cx="0" cy="614495"/>
          </a:xfrm>
          <a:prstGeom prst="line">
            <a:avLst/>
          </a:prstGeom>
          <a:noFill/>
          <a:ln w="38100">
            <a:solidFill>
              <a:srgbClr val="A84E16"/>
            </a:solidFill>
            <a:prstDash val="solid"/>
          </a:ln>
        </p:spPr>
      </p:sp>
      <p:sp>
        <p:nvSpPr>
          <p:cNvPr id="19" name="Text 17"/>
          <p:cNvSpPr/>
          <p:nvPr/>
        </p:nvSpPr>
        <p:spPr>
          <a:xfrm>
            <a:off x="990056" y="4111185"/>
            <a:ext cx="3597806"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Giữ frame mất tay</a:t>
            </a:r>
            <a:endParaRPr lang="en-US" sz="1400" dirty="0"/>
          </a:p>
        </p:txBody>
      </p:sp>
      <p:sp>
        <p:nvSpPr>
          <p:cNvPr id="20" name="Text 18"/>
          <p:cNvSpPr/>
          <p:nvPr/>
        </p:nvSpPr>
        <p:spPr>
          <a:xfrm>
            <a:off x="990056" y="4349824"/>
            <a:ext cx="3597806" cy="22354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B4558"/>
                </a:solidFill>
                <a:latin typeface="Times New Roman" pitchFamily="18" charset="0"/>
                <a:ea typeface="Times New Roman" pitchFamily="18" charset="-122"/>
                <a:cs typeface="Times New Roman" pitchFamily="18" charset="-120"/>
              </a:rPr>
              <a:t>Ghi toạ độ rỗng để trục thời gian không bị đứt</a:t>
            </a:r>
            <a:endParaRPr lang="en-US" sz="1200" dirty="0"/>
          </a:p>
        </p:txBody>
      </p:sp>
      <p:sp>
        <p:nvSpPr>
          <p:cNvPr id="21" name="Text 19"/>
          <p:cNvSpPr/>
          <p:nvPr/>
        </p:nvSpPr>
        <p:spPr>
          <a:xfrm>
            <a:off x="5029068" y="1610137"/>
            <a:ext cx="6540577" cy="238684"/>
          </a:xfrm>
          <a:prstGeom prst="rect">
            <a:avLst/>
          </a:prstGeom>
          <a:noFill/>
          <a:ln/>
        </p:spPr>
        <p:txBody>
          <a:bodyPr wrap="square" lIns="0" tIns="0" rIns="0" bIns="0" rtlCol="0" anchor="t">
            <a:normAutofit/>
          </a:bodyPr>
          <a:lstStyle/>
          <a:p>
            <a:pPr marL="0" indent="0" algn="l">
              <a:lnSpc>
                <a:spcPts val="1680"/>
              </a:lnSpc>
              <a:buNone/>
            </a:pPr>
            <a:r>
              <a:rPr lang="en-US" sz="1400" b="1" smtClean="0">
                <a:solidFill>
                  <a:srgbClr val="15233F"/>
                </a:solidFill>
                <a:latin typeface="Times New Roman" pitchFamily="18" charset="0"/>
                <a:ea typeface="Times New Roman" pitchFamily="18" charset="-122"/>
                <a:cs typeface="Times New Roman" pitchFamily="18" charset="-120"/>
              </a:rPr>
              <a:t>Pipeline</a:t>
            </a:r>
            <a:r>
              <a:rPr lang="en-US" sz="1400" b="1" smtClean="0">
                <a:solidFill>
                  <a:srgbClr val="15233F"/>
                </a:solidFill>
                <a:latin typeface="Times New Roman" pitchFamily="18" charset="0"/>
                <a:ea typeface="Times New Roman" pitchFamily="18" charset="-122"/>
                <a:cs typeface="Times New Roman" pitchFamily="18" charset="-120"/>
              </a:rPr>
              <a:t> </a:t>
            </a:r>
            <a:r>
              <a:rPr lang="en-US" sz="1400" b="1" dirty="0">
                <a:solidFill>
                  <a:srgbClr val="15233F"/>
                </a:solidFill>
                <a:latin typeface="Times New Roman" pitchFamily="18" charset="0"/>
                <a:ea typeface="Times New Roman" pitchFamily="18" charset="-122"/>
                <a:cs typeface="Times New Roman" pitchFamily="18" charset="-120"/>
              </a:rPr>
              <a:t>7 bước, thứ tự cố định</a:t>
            </a:r>
            <a:endParaRPr lang="en-US" sz="1400" dirty="0"/>
          </a:p>
        </p:txBody>
      </p:sp>
      <p:sp>
        <p:nvSpPr>
          <p:cNvPr id="22" name="Text 20"/>
          <p:cNvSpPr/>
          <p:nvPr/>
        </p:nvSpPr>
        <p:spPr>
          <a:xfrm>
            <a:off x="5029068" y="1912277"/>
            <a:ext cx="253927" cy="264069"/>
          </a:xfrm>
          <a:custGeom>
            <a:avLst/>
            <a:gdLst/>
            <a:ahLst/>
            <a:cxnLst/>
            <a:rect l="l" t="t" r="r" b="b"/>
            <a:pathLst>
              <a:path w="253927" h="264069">
                <a:moveTo>
                  <a:pt x="126963" y="0"/>
                </a:moveTo>
                <a:lnTo>
                  <a:pt x="126963" y="0"/>
                </a:lnTo>
                <a:arcTo wR="126963" hR="126963" stAng="16200000" swAng="5400000"/>
                <a:lnTo>
                  <a:pt x="253927" y="137106"/>
                </a:lnTo>
                <a:arcTo wR="126963" hR="126963" stAng="0" swAng="5400000"/>
                <a:lnTo>
                  <a:pt x="126963" y="264069"/>
                </a:lnTo>
                <a:arcTo wR="126963" hR="126963" stAng="5400000" swAng="5400000"/>
                <a:lnTo>
                  <a:pt x="0" y="126963"/>
                </a:lnTo>
                <a:arcTo wR="126963" hR="126963" stAng="10800000" swAng="5400000"/>
                <a:close/>
              </a:path>
            </a:pathLst>
          </a:custGeom>
          <a:solidFill>
            <a:srgbClr val="15233F"/>
          </a:solidFill>
          <a:ln/>
        </p:spPr>
        <p:txBody>
          <a:bodyPr wrap="square" lIns="0" tIns="25400" rIns="0" bIns="0" rtlCol="0" anchor="t">
            <a:normAutofit/>
          </a:bodyPr>
          <a:lstStyle/>
          <a:p>
            <a:pPr marL="0" indent="0" algn="ctr">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1</a:t>
            </a:r>
            <a:endParaRPr lang="en-US" sz="1200" dirty="0"/>
          </a:p>
        </p:txBody>
      </p:sp>
      <p:sp>
        <p:nvSpPr>
          <p:cNvPr id="23" name="Text 21"/>
          <p:cNvSpPr/>
          <p:nvPr/>
        </p:nvSpPr>
        <p:spPr>
          <a:xfrm>
            <a:off x="5384566" y="1919846"/>
            <a:ext cx="6174414"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Đổi toạ độ sang pixel, hai trục dùng hai hệ số riêng</a:t>
            </a:r>
            <a:endParaRPr lang="en-US" sz="1400" dirty="0"/>
          </a:p>
        </p:txBody>
      </p:sp>
      <p:sp>
        <p:nvSpPr>
          <p:cNvPr id="24" name="Text 22"/>
          <p:cNvSpPr/>
          <p:nvPr/>
        </p:nvSpPr>
        <p:spPr>
          <a:xfrm>
            <a:off x="5029068" y="2227129"/>
            <a:ext cx="253927" cy="264069"/>
          </a:xfrm>
          <a:custGeom>
            <a:avLst/>
            <a:gdLst/>
            <a:ahLst/>
            <a:cxnLst/>
            <a:rect l="l" t="t" r="r" b="b"/>
            <a:pathLst>
              <a:path w="253927" h="264069">
                <a:moveTo>
                  <a:pt x="126963" y="0"/>
                </a:moveTo>
                <a:lnTo>
                  <a:pt x="126963" y="0"/>
                </a:lnTo>
                <a:arcTo wR="126963" hR="126963" stAng="16200000" swAng="5400000"/>
                <a:lnTo>
                  <a:pt x="253927" y="137106"/>
                </a:lnTo>
                <a:arcTo wR="126963" hR="126963" stAng="0" swAng="5400000"/>
                <a:lnTo>
                  <a:pt x="126963" y="264069"/>
                </a:lnTo>
                <a:arcTo wR="126963" hR="126963" stAng="5400000" swAng="5400000"/>
                <a:lnTo>
                  <a:pt x="0" y="126963"/>
                </a:lnTo>
                <a:arcTo wR="126963" hR="126963" stAng="10800000" swAng="5400000"/>
                <a:close/>
              </a:path>
            </a:pathLst>
          </a:custGeom>
          <a:solidFill>
            <a:srgbClr val="15233F"/>
          </a:solidFill>
          <a:ln/>
        </p:spPr>
        <p:txBody>
          <a:bodyPr wrap="square" lIns="0" tIns="25400" rIns="0" bIns="0" rtlCol="0" anchor="t">
            <a:normAutofit/>
          </a:bodyPr>
          <a:lstStyle/>
          <a:p>
            <a:pPr marL="0" indent="0" algn="ctr">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2</a:t>
            </a:r>
            <a:endParaRPr lang="en-US" sz="1200" dirty="0"/>
          </a:p>
        </p:txBody>
      </p:sp>
      <p:sp>
        <p:nvSpPr>
          <p:cNvPr id="25" name="Text 23"/>
          <p:cNvSpPr/>
          <p:nvPr/>
        </p:nvSpPr>
        <p:spPr>
          <a:xfrm>
            <a:off x="5384566" y="2234701"/>
            <a:ext cx="6174414"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Đưa về lưới thời gian đều 15 Hz</a:t>
            </a:r>
            <a:endParaRPr lang="en-US" sz="1400" dirty="0"/>
          </a:p>
        </p:txBody>
      </p:sp>
      <p:sp>
        <p:nvSpPr>
          <p:cNvPr id="26" name="Text 24"/>
          <p:cNvSpPr/>
          <p:nvPr/>
        </p:nvSpPr>
        <p:spPr>
          <a:xfrm>
            <a:off x="5029068" y="2541984"/>
            <a:ext cx="253927" cy="264069"/>
          </a:xfrm>
          <a:custGeom>
            <a:avLst/>
            <a:gdLst/>
            <a:ahLst/>
            <a:cxnLst/>
            <a:rect l="l" t="t" r="r" b="b"/>
            <a:pathLst>
              <a:path w="253927" h="264069">
                <a:moveTo>
                  <a:pt x="126963" y="0"/>
                </a:moveTo>
                <a:lnTo>
                  <a:pt x="126963" y="0"/>
                </a:lnTo>
                <a:arcTo wR="126963" hR="126963" stAng="16200000" swAng="5400000"/>
                <a:lnTo>
                  <a:pt x="253927" y="137106"/>
                </a:lnTo>
                <a:arcTo wR="126963" hR="126963" stAng="0" swAng="5400000"/>
                <a:lnTo>
                  <a:pt x="126963" y="264069"/>
                </a:lnTo>
                <a:arcTo wR="126963" hR="126963" stAng="5400000" swAng="5400000"/>
                <a:lnTo>
                  <a:pt x="0" y="126963"/>
                </a:lnTo>
                <a:arcTo wR="126963" hR="126963" stAng="10800000" swAng="5400000"/>
                <a:close/>
              </a:path>
            </a:pathLst>
          </a:custGeom>
          <a:solidFill>
            <a:srgbClr val="15233F"/>
          </a:solidFill>
          <a:ln/>
        </p:spPr>
        <p:txBody>
          <a:bodyPr wrap="square" lIns="0" tIns="25400" rIns="0" bIns="0" rtlCol="0" anchor="t">
            <a:normAutofit/>
          </a:bodyPr>
          <a:lstStyle/>
          <a:p>
            <a:pPr marL="0" indent="0" algn="ctr">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3</a:t>
            </a:r>
            <a:endParaRPr lang="en-US" sz="1200" dirty="0"/>
          </a:p>
        </p:txBody>
      </p:sp>
      <p:sp>
        <p:nvSpPr>
          <p:cNvPr id="27" name="Text 25"/>
          <p:cNvSpPr/>
          <p:nvPr/>
        </p:nvSpPr>
        <p:spPr>
          <a:xfrm>
            <a:off x="5384566" y="2549553"/>
            <a:ext cx="6174414"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Vá lỗ hổng ngắn: tối đa 3 bước, phải có đủ hai đầu</a:t>
            </a:r>
            <a:endParaRPr lang="en-US" sz="1400" dirty="0"/>
          </a:p>
        </p:txBody>
      </p:sp>
      <p:sp>
        <p:nvSpPr>
          <p:cNvPr id="28" name="Text 26"/>
          <p:cNvSpPr/>
          <p:nvPr/>
        </p:nvSpPr>
        <p:spPr>
          <a:xfrm>
            <a:off x="5029068" y="2856840"/>
            <a:ext cx="253927" cy="264069"/>
          </a:xfrm>
          <a:custGeom>
            <a:avLst/>
            <a:gdLst/>
            <a:ahLst/>
            <a:cxnLst/>
            <a:rect l="l" t="t" r="r" b="b"/>
            <a:pathLst>
              <a:path w="253927" h="264069">
                <a:moveTo>
                  <a:pt x="126963" y="0"/>
                </a:moveTo>
                <a:lnTo>
                  <a:pt x="126963" y="0"/>
                </a:lnTo>
                <a:arcTo wR="126963" hR="126963" stAng="16200000" swAng="5400000"/>
                <a:lnTo>
                  <a:pt x="253927" y="137106"/>
                </a:lnTo>
                <a:arcTo wR="126963" hR="126963" stAng="0" swAng="5400000"/>
                <a:lnTo>
                  <a:pt x="126963" y="264069"/>
                </a:lnTo>
                <a:arcTo wR="126963" hR="126963" stAng="5400000" swAng="5400000"/>
                <a:lnTo>
                  <a:pt x="0" y="126963"/>
                </a:lnTo>
                <a:arcTo wR="126963" hR="126963" stAng="10800000" swAng="5400000"/>
                <a:close/>
              </a:path>
            </a:pathLst>
          </a:custGeom>
          <a:solidFill>
            <a:srgbClr val="15233F"/>
          </a:solidFill>
          <a:ln/>
        </p:spPr>
        <p:txBody>
          <a:bodyPr wrap="square" lIns="0" tIns="25400" rIns="0" bIns="0" rtlCol="0" anchor="t">
            <a:normAutofit/>
          </a:bodyPr>
          <a:lstStyle/>
          <a:p>
            <a:pPr marL="0" indent="0" algn="ctr">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4</a:t>
            </a:r>
            <a:endParaRPr lang="en-US" sz="1200" dirty="0"/>
          </a:p>
        </p:txBody>
      </p:sp>
      <p:sp>
        <p:nvSpPr>
          <p:cNvPr id="29" name="Text 27"/>
          <p:cNvSpPr/>
          <p:nvPr/>
        </p:nvSpPr>
        <p:spPr>
          <a:xfrm>
            <a:off x="5384566" y="2864408"/>
            <a:ext cx="6174414"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Cắt cửa sổ 1,2 giây, trượt mỗi 0,2 giây</a:t>
            </a:r>
            <a:endParaRPr lang="en-US" sz="1400" dirty="0"/>
          </a:p>
        </p:txBody>
      </p:sp>
      <p:sp>
        <p:nvSpPr>
          <p:cNvPr id="30" name="Text 28"/>
          <p:cNvSpPr/>
          <p:nvPr/>
        </p:nvSpPr>
        <p:spPr>
          <a:xfrm>
            <a:off x="5029068" y="3171692"/>
            <a:ext cx="253927" cy="264069"/>
          </a:xfrm>
          <a:custGeom>
            <a:avLst/>
            <a:gdLst/>
            <a:ahLst/>
            <a:cxnLst/>
            <a:rect l="l" t="t" r="r" b="b"/>
            <a:pathLst>
              <a:path w="253927" h="264069">
                <a:moveTo>
                  <a:pt x="126963" y="0"/>
                </a:moveTo>
                <a:lnTo>
                  <a:pt x="126963" y="0"/>
                </a:lnTo>
                <a:arcTo wR="126963" hR="126963" stAng="16200000" swAng="5400000"/>
                <a:lnTo>
                  <a:pt x="253927" y="137106"/>
                </a:lnTo>
                <a:arcTo wR="126963" hR="126963" stAng="0" swAng="5400000"/>
                <a:lnTo>
                  <a:pt x="126963" y="264069"/>
                </a:lnTo>
                <a:arcTo wR="126963" hR="126963" stAng="5400000" swAng="5400000"/>
                <a:lnTo>
                  <a:pt x="0" y="126963"/>
                </a:lnTo>
                <a:arcTo wR="126963" hR="126963" stAng="10800000" swAng="5400000"/>
                <a:close/>
              </a:path>
            </a:pathLst>
          </a:custGeom>
          <a:solidFill>
            <a:srgbClr val="15233F"/>
          </a:solidFill>
          <a:ln/>
        </p:spPr>
        <p:txBody>
          <a:bodyPr wrap="square" lIns="0" tIns="25400" rIns="0" bIns="0" rtlCol="0" anchor="t">
            <a:normAutofit/>
          </a:bodyPr>
          <a:lstStyle/>
          <a:p>
            <a:pPr marL="0" indent="0" algn="ctr">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5</a:t>
            </a:r>
            <a:endParaRPr lang="en-US" sz="1200" dirty="0"/>
          </a:p>
        </p:txBody>
      </p:sp>
      <p:sp>
        <p:nvSpPr>
          <p:cNvPr id="31" name="Text 29"/>
          <p:cNvSpPr/>
          <p:nvPr/>
        </p:nvSpPr>
        <p:spPr>
          <a:xfrm>
            <a:off x="5384566" y="3179263"/>
            <a:ext cx="6174414"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Tăng cường (chỉ khi huấn luyện)</a:t>
            </a:r>
            <a:endParaRPr lang="en-US" sz="1400" dirty="0"/>
          </a:p>
        </p:txBody>
      </p:sp>
      <p:sp>
        <p:nvSpPr>
          <p:cNvPr id="32" name="Text 30"/>
          <p:cNvSpPr/>
          <p:nvPr/>
        </p:nvSpPr>
        <p:spPr>
          <a:xfrm>
            <a:off x="5029068" y="3486547"/>
            <a:ext cx="253927" cy="264069"/>
          </a:xfrm>
          <a:custGeom>
            <a:avLst/>
            <a:gdLst/>
            <a:ahLst/>
            <a:cxnLst/>
            <a:rect l="l" t="t" r="r" b="b"/>
            <a:pathLst>
              <a:path w="253927" h="264069">
                <a:moveTo>
                  <a:pt x="126963" y="0"/>
                </a:moveTo>
                <a:lnTo>
                  <a:pt x="126963" y="0"/>
                </a:lnTo>
                <a:arcTo wR="126963" hR="126963" stAng="16200000" swAng="5400000"/>
                <a:lnTo>
                  <a:pt x="253927" y="137106"/>
                </a:lnTo>
                <a:arcTo wR="126963" hR="126963" stAng="0" swAng="5400000"/>
                <a:lnTo>
                  <a:pt x="126963" y="264069"/>
                </a:lnTo>
                <a:arcTo wR="126963" hR="126963" stAng="5400000" swAng="5400000"/>
                <a:lnTo>
                  <a:pt x="0" y="126963"/>
                </a:lnTo>
                <a:arcTo wR="126963" hR="126963" stAng="10800000" swAng="5400000"/>
                <a:close/>
              </a:path>
            </a:pathLst>
          </a:custGeom>
          <a:solidFill>
            <a:srgbClr val="15233F"/>
          </a:solidFill>
          <a:ln/>
        </p:spPr>
        <p:txBody>
          <a:bodyPr wrap="square" lIns="0" tIns="25400" rIns="0" bIns="0" rtlCol="0" anchor="t">
            <a:normAutofit/>
          </a:bodyPr>
          <a:lstStyle/>
          <a:p>
            <a:pPr marL="0" indent="0" algn="ctr">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6</a:t>
            </a:r>
            <a:endParaRPr lang="en-US" sz="1200" dirty="0"/>
          </a:p>
        </p:txBody>
      </p:sp>
      <p:sp>
        <p:nvSpPr>
          <p:cNvPr id="33" name="Text 31"/>
          <p:cNvSpPr/>
          <p:nvPr/>
        </p:nvSpPr>
        <p:spPr>
          <a:xfrm>
            <a:off x="5384566" y="3494119"/>
            <a:ext cx="6174414"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Chuẩn hoá cửa sổ</a:t>
            </a:r>
            <a:endParaRPr lang="en-US" sz="1400" dirty="0"/>
          </a:p>
        </p:txBody>
      </p:sp>
      <p:sp>
        <p:nvSpPr>
          <p:cNvPr id="34" name="Text 32"/>
          <p:cNvSpPr/>
          <p:nvPr/>
        </p:nvSpPr>
        <p:spPr>
          <a:xfrm>
            <a:off x="5029068" y="3801402"/>
            <a:ext cx="253927" cy="264069"/>
          </a:xfrm>
          <a:custGeom>
            <a:avLst/>
            <a:gdLst/>
            <a:ahLst/>
            <a:cxnLst/>
            <a:rect l="l" t="t" r="r" b="b"/>
            <a:pathLst>
              <a:path w="253927" h="264069">
                <a:moveTo>
                  <a:pt x="126963" y="0"/>
                </a:moveTo>
                <a:lnTo>
                  <a:pt x="126963" y="0"/>
                </a:lnTo>
                <a:arcTo wR="126963" hR="126963" stAng="16200000" swAng="5400000"/>
                <a:lnTo>
                  <a:pt x="253927" y="137106"/>
                </a:lnTo>
                <a:arcTo wR="126963" hR="126963" stAng="0" swAng="5400000"/>
                <a:lnTo>
                  <a:pt x="126963" y="264069"/>
                </a:lnTo>
                <a:arcTo wR="126963" hR="126963" stAng="5400000" swAng="5400000"/>
                <a:lnTo>
                  <a:pt x="0" y="126963"/>
                </a:lnTo>
                <a:arcTo wR="126963" hR="126963" stAng="10800000" swAng="5400000"/>
                <a:close/>
              </a:path>
            </a:pathLst>
          </a:custGeom>
          <a:solidFill>
            <a:srgbClr val="15233F"/>
          </a:solidFill>
          <a:ln/>
        </p:spPr>
        <p:txBody>
          <a:bodyPr wrap="square" lIns="0" tIns="25400" rIns="0" bIns="0" rtlCol="0" anchor="t">
            <a:normAutofit/>
          </a:bodyPr>
          <a:lstStyle/>
          <a:p>
            <a:pPr marL="0" indent="0" algn="ctr">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7</a:t>
            </a:r>
            <a:endParaRPr lang="en-US" sz="1200" dirty="0"/>
          </a:p>
        </p:txBody>
      </p:sp>
      <p:sp>
        <p:nvSpPr>
          <p:cNvPr id="35" name="Text 33"/>
          <p:cNvSpPr/>
          <p:nvPr/>
        </p:nvSpPr>
        <p:spPr>
          <a:xfrm>
            <a:off x="5384566" y="3808971"/>
            <a:ext cx="6174414"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Tính đặc trưng, hoặc đưa vào mô hình chuỗi</a:t>
            </a:r>
            <a:endParaRPr lang="en-US" sz="1400" dirty="0"/>
          </a:p>
        </p:txBody>
      </p:sp>
      <p:sp>
        <p:nvSpPr>
          <p:cNvPr id="36" name="Shape 34"/>
          <p:cNvSpPr/>
          <p:nvPr/>
        </p:nvSpPr>
        <p:spPr>
          <a:xfrm>
            <a:off x="5032243" y="4157501"/>
            <a:ext cx="6343724" cy="962907"/>
          </a:xfrm>
          <a:prstGeom prst="roundRect">
            <a:avLst>
              <a:gd name="adj" fmla="val 6265"/>
            </a:avLst>
          </a:prstGeom>
          <a:solidFill>
            <a:srgbClr val="FDFCF9"/>
          </a:solidFill>
          <a:ln w="6350">
            <a:solidFill>
              <a:srgbClr val="DCD8CE"/>
            </a:solidFill>
            <a:prstDash val="solid"/>
          </a:ln>
        </p:spPr>
      </p:sp>
      <p:sp>
        <p:nvSpPr>
          <p:cNvPr id="37" name="Text 35"/>
          <p:cNvSpPr/>
          <p:nvPr/>
        </p:nvSpPr>
        <p:spPr>
          <a:xfrm>
            <a:off x="5160699" y="4260599"/>
            <a:ext cx="6269418"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233F"/>
                </a:solidFill>
                <a:latin typeface="Times New Roman" pitchFamily="18" charset="0"/>
                <a:ea typeface="Times New Roman" pitchFamily="18" charset="-122"/>
                <a:cs typeface="Times New Roman" pitchFamily="18" charset="-120"/>
              </a:rPr>
              <a:t>Bước 3 trên dòng thời gian: lỗ ngắn được vá, lỗ dài giữ rỗng</a:t>
            </a:r>
            <a:endParaRPr lang="en-US" sz="1200" dirty="0"/>
          </a:p>
        </p:txBody>
      </p:sp>
      <p:sp>
        <p:nvSpPr>
          <p:cNvPr id="38" name="Shape 36"/>
          <p:cNvSpPr/>
          <p:nvPr/>
        </p:nvSpPr>
        <p:spPr>
          <a:xfrm>
            <a:off x="5160699" y="4537385"/>
            <a:ext cx="224602" cy="203141"/>
          </a:xfrm>
          <a:prstGeom prst="roundRect">
            <a:avLst>
              <a:gd name="adj" fmla="val 9378"/>
            </a:avLst>
          </a:prstGeom>
          <a:solidFill>
            <a:srgbClr val="15233F"/>
          </a:solidFill>
          <a:ln/>
        </p:spPr>
      </p:sp>
      <p:sp>
        <p:nvSpPr>
          <p:cNvPr id="39" name="Shape 37"/>
          <p:cNvSpPr/>
          <p:nvPr/>
        </p:nvSpPr>
        <p:spPr>
          <a:xfrm>
            <a:off x="5410656" y="4537385"/>
            <a:ext cx="224675" cy="203141"/>
          </a:xfrm>
          <a:prstGeom prst="roundRect">
            <a:avLst>
              <a:gd name="adj" fmla="val 9378"/>
            </a:avLst>
          </a:prstGeom>
          <a:solidFill>
            <a:srgbClr val="15233F"/>
          </a:solidFill>
          <a:ln/>
        </p:spPr>
      </p:sp>
      <p:sp>
        <p:nvSpPr>
          <p:cNvPr id="40" name="Shape 38"/>
          <p:cNvSpPr/>
          <p:nvPr/>
        </p:nvSpPr>
        <p:spPr>
          <a:xfrm>
            <a:off x="5660688" y="4537385"/>
            <a:ext cx="224602" cy="203141"/>
          </a:xfrm>
          <a:prstGeom prst="roundRect">
            <a:avLst>
              <a:gd name="adj" fmla="val 9378"/>
            </a:avLst>
          </a:prstGeom>
          <a:solidFill>
            <a:srgbClr val="15233F"/>
          </a:solidFill>
          <a:ln/>
        </p:spPr>
      </p:sp>
      <p:sp>
        <p:nvSpPr>
          <p:cNvPr id="41" name="Shape 39"/>
          <p:cNvSpPr/>
          <p:nvPr/>
        </p:nvSpPr>
        <p:spPr>
          <a:xfrm>
            <a:off x="5910645" y="4537385"/>
            <a:ext cx="224675" cy="203141"/>
          </a:xfrm>
          <a:prstGeom prst="roundRect">
            <a:avLst>
              <a:gd name="adj" fmla="val 9378"/>
            </a:avLst>
          </a:prstGeom>
          <a:solidFill>
            <a:srgbClr val="15233F"/>
          </a:solidFill>
          <a:ln/>
        </p:spPr>
      </p:sp>
      <p:sp>
        <p:nvSpPr>
          <p:cNvPr id="42" name="Shape 40"/>
          <p:cNvSpPr/>
          <p:nvPr/>
        </p:nvSpPr>
        <p:spPr>
          <a:xfrm>
            <a:off x="6160677" y="4537385"/>
            <a:ext cx="224602" cy="203141"/>
          </a:xfrm>
          <a:prstGeom prst="roundRect">
            <a:avLst>
              <a:gd name="adj" fmla="val 9378"/>
            </a:avLst>
          </a:prstGeom>
          <a:solidFill>
            <a:srgbClr val="15233F"/>
          </a:solidFill>
          <a:ln/>
        </p:spPr>
      </p:sp>
      <p:sp>
        <p:nvSpPr>
          <p:cNvPr id="43" name="Shape 41"/>
          <p:cNvSpPr/>
          <p:nvPr/>
        </p:nvSpPr>
        <p:spPr>
          <a:xfrm>
            <a:off x="6410635" y="4537385"/>
            <a:ext cx="224675" cy="203141"/>
          </a:xfrm>
          <a:prstGeom prst="roundRect">
            <a:avLst>
              <a:gd name="adj" fmla="val 9378"/>
            </a:avLst>
          </a:prstGeom>
          <a:solidFill>
            <a:srgbClr val="15233F"/>
          </a:solidFill>
          <a:ln/>
        </p:spPr>
      </p:sp>
      <p:sp>
        <p:nvSpPr>
          <p:cNvPr id="44" name="Shape 42"/>
          <p:cNvSpPr/>
          <p:nvPr/>
        </p:nvSpPr>
        <p:spPr>
          <a:xfrm>
            <a:off x="6660666" y="4537385"/>
            <a:ext cx="224602" cy="203141"/>
          </a:xfrm>
          <a:prstGeom prst="roundRect">
            <a:avLst>
              <a:gd name="adj" fmla="val 9378"/>
            </a:avLst>
          </a:prstGeom>
          <a:solidFill>
            <a:srgbClr val="A84E16"/>
          </a:solidFill>
          <a:ln/>
        </p:spPr>
      </p:sp>
      <p:sp>
        <p:nvSpPr>
          <p:cNvPr id="45" name="Shape 43"/>
          <p:cNvSpPr/>
          <p:nvPr/>
        </p:nvSpPr>
        <p:spPr>
          <a:xfrm>
            <a:off x="6910624" y="4537385"/>
            <a:ext cx="224675" cy="203141"/>
          </a:xfrm>
          <a:prstGeom prst="roundRect">
            <a:avLst>
              <a:gd name="adj" fmla="val 9378"/>
            </a:avLst>
          </a:prstGeom>
          <a:solidFill>
            <a:srgbClr val="A84E16"/>
          </a:solidFill>
          <a:ln/>
        </p:spPr>
      </p:sp>
      <p:sp>
        <p:nvSpPr>
          <p:cNvPr id="46" name="Shape 44"/>
          <p:cNvSpPr/>
          <p:nvPr/>
        </p:nvSpPr>
        <p:spPr>
          <a:xfrm>
            <a:off x="7160655" y="4537385"/>
            <a:ext cx="224602" cy="203141"/>
          </a:xfrm>
          <a:prstGeom prst="roundRect">
            <a:avLst>
              <a:gd name="adj" fmla="val 9378"/>
            </a:avLst>
          </a:prstGeom>
          <a:solidFill>
            <a:srgbClr val="15233F"/>
          </a:solidFill>
          <a:ln/>
        </p:spPr>
      </p:sp>
      <p:sp>
        <p:nvSpPr>
          <p:cNvPr id="47" name="Shape 45"/>
          <p:cNvSpPr/>
          <p:nvPr/>
        </p:nvSpPr>
        <p:spPr>
          <a:xfrm>
            <a:off x="7410613" y="4537385"/>
            <a:ext cx="224602" cy="203141"/>
          </a:xfrm>
          <a:prstGeom prst="roundRect">
            <a:avLst>
              <a:gd name="adj" fmla="val 9378"/>
            </a:avLst>
          </a:prstGeom>
          <a:solidFill>
            <a:srgbClr val="15233F"/>
          </a:solidFill>
          <a:ln/>
        </p:spPr>
      </p:sp>
      <p:sp>
        <p:nvSpPr>
          <p:cNvPr id="48" name="Shape 46"/>
          <p:cNvSpPr/>
          <p:nvPr/>
        </p:nvSpPr>
        <p:spPr>
          <a:xfrm>
            <a:off x="7660570" y="4537385"/>
            <a:ext cx="224602" cy="203141"/>
          </a:xfrm>
          <a:prstGeom prst="roundRect">
            <a:avLst>
              <a:gd name="adj" fmla="val 9378"/>
            </a:avLst>
          </a:prstGeom>
          <a:solidFill>
            <a:srgbClr val="15233F"/>
          </a:solidFill>
          <a:ln/>
        </p:spPr>
      </p:sp>
      <p:sp>
        <p:nvSpPr>
          <p:cNvPr id="49" name="Shape 47"/>
          <p:cNvSpPr/>
          <p:nvPr/>
        </p:nvSpPr>
        <p:spPr>
          <a:xfrm>
            <a:off x="7910528" y="4537385"/>
            <a:ext cx="224602" cy="203141"/>
          </a:xfrm>
          <a:prstGeom prst="roundRect">
            <a:avLst>
              <a:gd name="adj" fmla="val 9378"/>
            </a:avLst>
          </a:prstGeom>
          <a:solidFill>
            <a:srgbClr val="15233F"/>
          </a:solidFill>
          <a:ln/>
        </p:spPr>
      </p:sp>
      <p:sp>
        <p:nvSpPr>
          <p:cNvPr id="50" name="Shape 48"/>
          <p:cNvSpPr/>
          <p:nvPr/>
        </p:nvSpPr>
        <p:spPr>
          <a:xfrm>
            <a:off x="8160486" y="4537385"/>
            <a:ext cx="224602" cy="203141"/>
          </a:xfrm>
          <a:prstGeom prst="roundRect">
            <a:avLst>
              <a:gd name="adj" fmla="val 9378"/>
            </a:avLst>
          </a:prstGeom>
          <a:solidFill>
            <a:srgbClr val="15233F"/>
          </a:solidFill>
          <a:ln/>
        </p:spPr>
      </p:sp>
      <p:sp>
        <p:nvSpPr>
          <p:cNvPr id="51" name="Shape 49"/>
          <p:cNvSpPr/>
          <p:nvPr/>
        </p:nvSpPr>
        <p:spPr>
          <a:xfrm>
            <a:off x="8410444" y="4537385"/>
            <a:ext cx="224602" cy="203141"/>
          </a:xfrm>
          <a:prstGeom prst="roundRect">
            <a:avLst>
              <a:gd name="adj" fmla="val 9378"/>
            </a:avLst>
          </a:prstGeom>
          <a:solidFill>
            <a:srgbClr val="15233F"/>
          </a:solidFill>
          <a:ln/>
        </p:spPr>
      </p:sp>
      <p:sp>
        <p:nvSpPr>
          <p:cNvPr id="52" name="Shape 50"/>
          <p:cNvSpPr/>
          <p:nvPr/>
        </p:nvSpPr>
        <p:spPr>
          <a:xfrm>
            <a:off x="8666752" y="4543735"/>
            <a:ext cx="230717" cy="190441"/>
          </a:xfrm>
          <a:prstGeom prst="roundRect">
            <a:avLst>
              <a:gd name="adj" fmla="val 6669"/>
            </a:avLst>
          </a:prstGeom>
          <a:solidFill>
            <a:srgbClr val="F7F5F0"/>
          </a:solidFill>
          <a:ln w="12700">
            <a:solidFill>
              <a:srgbClr val="9AA4B5"/>
            </a:solidFill>
            <a:prstDash val="dash"/>
          </a:ln>
        </p:spPr>
      </p:sp>
      <p:sp>
        <p:nvSpPr>
          <p:cNvPr id="53" name="Shape 51"/>
          <p:cNvSpPr/>
          <p:nvPr/>
        </p:nvSpPr>
        <p:spPr>
          <a:xfrm>
            <a:off x="8935524" y="4543735"/>
            <a:ext cx="230717" cy="190441"/>
          </a:xfrm>
          <a:prstGeom prst="roundRect">
            <a:avLst>
              <a:gd name="adj" fmla="val 6669"/>
            </a:avLst>
          </a:prstGeom>
          <a:solidFill>
            <a:srgbClr val="F7F5F0"/>
          </a:solidFill>
          <a:ln w="12700">
            <a:solidFill>
              <a:srgbClr val="9AA4B5"/>
            </a:solidFill>
            <a:prstDash val="dash"/>
          </a:ln>
        </p:spPr>
      </p:sp>
      <p:sp>
        <p:nvSpPr>
          <p:cNvPr id="54" name="Shape 52"/>
          <p:cNvSpPr/>
          <p:nvPr/>
        </p:nvSpPr>
        <p:spPr>
          <a:xfrm>
            <a:off x="9204297" y="4543735"/>
            <a:ext cx="230717" cy="190441"/>
          </a:xfrm>
          <a:prstGeom prst="roundRect">
            <a:avLst>
              <a:gd name="adj" fmla="val 6669"/>
            </a:avLst>
          </a:prstGeom>
          <a:solidFill>
            <a:srgbClr val="F7F5F0"/>
          </a:solidFill>
          <a:ln w="12700">
            <a:solidFill>
              <a:srgbClr val="9AA4B5"/>
            </a:solidFill>
            <a:prstDash val="dash"/>
          </a:ln>
        </p:spPr>
      </p:sp>
      <p:sp>
        <p:nvSpPr>
          <p:cNvPr id="55" name="Shape 53"/>
          <p:cNvSpPr/>
          <p:nvPr/>
        </p:nvSpPr>
        <p:spPr>
          <a:xfrm>
            <a:off x="9473069" y="4543735"/>
            <a:ext cx="230717" cy="190441"/>
          </a:xfrm>
          <a:prstGeom prst="roundRect">
            <a:avLst>
              <a:gd name="adj" fmla="val 6669"/>
            </a:avLst>
          </a:prstGeom>
          <a:solidFill>
            <a:srgbClr val="F7F5F0"/>
          </a:solidFill>
          <a:ln w="12700">
            <a:solidFill>
              <a:srgbClr val="9AA4B5"/>
            </a:solidFill>
            <a:prstDash val="dash"/>
          </a:ln>
        </p:spPr>
      </p:sp>
      <p:sp>
        <p:nvSpPr>
          <p:cNvPr id="56" name="Shape 54"/>
          <p:cNvSpPr/>
          <p:nvPr/>
        </p:nvSpPr>
        <p:spPr>
          <a:xfrm>
            <a:off x="9741842" y="4543735"/>
            <a:ext cx="230717" cy="190441"/>
          </a:xfrm>
          <a:prstGeom prst="roundRect">
            <a:avLst>
              <a:gd name="adj" fmla="val 6669"/>
            </a:avLst>
          </a:prstGeom>
          <a:solidFill>
            <a:srgbClr val="F7F5F0"/>
          </a:solidFill>
          <a:ln w="12700">
            <a:solidFill>
              <a:srgbClr val="9AA4B5"/>
            </a:solidFill>
            <a:prstDash val="dash"/>
          </a:ln>
        </p:spPr>
      </p:sp>
      <p:sp>
        <p:nvSpPr>
          <p:cNvPr id="57" name="Shape 55"/>
          <p:cNvSpPr/>
          <p:nvPr/>
        </p:nvSpPr>
        <p:spPr>
          <a:xfrm>
            <a:off x="10010615" y="4543735"/>
            <a:ext cx="230717" cy="190441"/>
          </a:xfrm>
          <a:prstGeom prst="roundRect">
            <a:avLst>
              <a:gd name="adj" fmla="val 6669"/>
            </a:avLst>
          </a:prstGeom>
          <a:solidFill>
            <a:srgbClr val="F7F5F0"/>
          </a:solidFill>
          <a:ln w="12700">
            <a:solidFill>
              <a:srgbClr val="9AA4B5"/>
            </a:solidFill>
            <a:prstDash val="dash"/>
          </a:ln>
        </p:spPr>
      </p:sp>
      <p:sp>
        <p:nvSpPr>
          <p:cNvPr id="58" name="Shape 56"/>
          <p:cNvSpPr/>
          <p:nvPr/>
        </p:nvSpPr>
        <p:spPr>
          <a:xfrm>
            <a:off x="10273037" y="4537385"/>
            <a:ext cx="224602" cy="203141"/>
          </a:xfrm>
          <a:prstGeom prst="roundRect">
            <a:avLst>
              <a:gd name="adj" fmla="val 9378"/>
            </a:avLst>
          </a:prstGeom>
          <a:solidFill>
            <a:srgbClr val="15233F"/>
          </a:solidFill>
          <a:ln/>
        </p:spPr>
      </p:sp>
      <p:sp>
        <p:nvSpPr>
          <p:cNvPr id="59" name="Shape 57"/>
          <p:cNvSpPr/>
          <p:nvPr/>
        </p:nvSpPr>
        <p:spPr>
          <a:xfrm>
            <a:off x="10522995" y="4537385"/>
            <a:ext cx="224602" cy="203141"/>
          </a:xfrm>
          <a:prstGeom prst="roundRect">
            <a:avLst>
              <a:gd name="adj" fmla="val 9378"/>
            </a:avLst>
          </a:prstGeom>
          <a:solidFill>
            <a:srgbClr val="15233F"/>
          </a:solidFill>
          <a:ln/>
        </p:spPr>
      </p:sp>
      <p:sp>
        <p:nvSpPr>
          <p:cNvPr id="60" name="Shape 58"/>
          <p:cNvSpPr/>
          <p:nvPr/>
        </p:nvSpPr>
        <p:spPr>
          <a:xfrm>
            <a:off x="10772953" y="4537385"/>
            <a:ext cx="224602" cy="203141"/>
          </a:xfrm>
          <a:prstGeom prst="roundRect">
            <a:avLst>
              <a:gd name="adj" fmla="val 9378"/>
            </a:avLst>
          </a:prstGeom>
          <a:solidFill>
            <a:srgbClr val="15233F"/>
          </a:solidFill>
          <a:ln/>
        </p:spPr>
      </p:sp>
      <p:sp>
        <p:nvSpPr>
          <p:cNvPr id="61" name="Shape 59"/>
          <p:cNvSpPr/>
          <p:nvPr/>
        </p:nvSpPr>
        <p:spPr>
          <a:xfrm>
            <a:off x="11022911" y="4537385"/>
            <a:ext cx="224602" cy="203141"/>
          </a:xfrm>
          <a:prstGeom prst="roundRect">
            <a:avLst>
              <a:gd name="adj" fmla="val 9378"/>
            </a:avLst>
          </a:prstGeom>
          <a:solidFill>
            <a:srgbClr val="15233F"/>
          </a:solidFill>
          <a:ln/>
        </p:spPr>
      </p:sp>
      <p:sp>
        <p:nvSpPr>
          <p:cNvPr id="62" name="Shape 60"/>
          <p:cNvSpPr/>
          <p:nvPr/>
        </p:nvSpPr>
        <p:spPr>
          <a:xfrm>
            <a:off x="5160699" y="4847168"/>
            <a:ext cx="165071" cy="126927"/>
          </a:xfrm>
          <a:prstGeom prst="roundRect">
            <a:avLst>
              <a:gd name="adj" fmla="val 15009"/>
            </a:avLst>
          </a:prstGeom>
          <a:solidFill>
            <a:srgbClr val="15233F"/>
          </a:solidFill>
          <a:ln/>
        </p:spPr>
      </p:sp>
      <p:sp>
        <p:nvSpPr>
          <p:cNvPr id="63" name="Text 61"/>
          <p:cNvSpPr/>
          <p:nvPr/>
        </p:nvSpPr>
        <p:spPr>
          <a:xfrm>
            <a:off x="5389196" y="4803952"/>
            <a:ext cx="48242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Có tay</a:t>
            </a:r>
            <a:endParaRPr lang="en-US" sz="1200" dirty="0"/>
          </a:p>
        </p:txBody>
      </p:sp>
      <p:sp>
        <p:nvSpPr>
          <p:cNvPr id="64" name="Shape 62"/>
          <p:cNvSpPr/>
          <p:nvPr/>
        </p:nvSpPr>
        <p:spPr>
          <a:xfrm>
            <a:off x="5994357" y="4847168"/>
            <a:ext cx="165071" cy="126927"/>
          </a:xfrm>
          <a:prstGeom prst="roundRect">
            <a:avLst>
              <a:gd name="adj" fmla="val 15009"/>
            </a:avLst>
          </a:prstGeom>
          <a:solidFill>
            <a:srgbClr val="A84E16"/>
          </a:solidFill>
          <a:ln/>
        </p:spPr>
      </p:sp>
      <p:sp>
        <p:nvSpPr>
          <p:cNvPr id="65" name="Text 63"/>
          <p:cNvSpPr/>
          <p:nvPr/>
        </p:nvSpPr>
        <p:spPr>
          <a:xfrm>
            <a:off x="6222854" y="4803952"/>
            <a:ext cx="1994371"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Lỗ ≤ 3 bước: vá bằng nội suy</a:t>
            </a:r>
            <a:endParaRPr lang="en-US" sz="1200" dirty="0"/>
          </a:p>
        </p:txBody>
      </p:sp>
      <p:sp>
        <p:nvSpPr>
          <p:cNvPr id="66" name="Shape 64"/>
          <p:cNvSpPr/>
          <p:nvPr/>
        </p:nvSpPr>
        <p:spPr>
          <a:xfrm>
            <a:off x="8223575" y="4853518"/>
            <a:ext cx="152371" cy="114227"/>
          </a:xfrm>
          <a:prstGeom prst="roundRect">
            <a:avLst>
              <a:gd name="adj" fmla="val 11118"/>
            </a:avLst>
          </a:prstGeom>
          <a:solidFill>
            <a:srgbClr val="F7F5F0"/>
          </a:solidFill>
          <a:ln w="12700">
            <a:solidFill>
              <a:srgbClr val="9AA4B5"/>
            </a:solidFill>
            <a:prstDash val="dash"/>
          </a:ln>
        </p:spPr>
      </p:sp>
      <p:sp>
        <p:nvSpPr>
          <p:cNvPr id="67" name="Text 65"/>
          <p:cNvSpPr/>
          <p:nvPr/>
        </p:nvSpPr>
        <p:spPr>
          <a:xfrm>
            <a:off x="8445722" y="4803952"/>
            <a:ext cx="1190802"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Lỗ dài: giữ rỗng</a:t>
            </a:r>
            <a:endParaRPr lang="en-US" sz="1200" dirty="0"/>
          </a:p>
        </p:txBody>
      </p:sp>
      <p:sp>
        <p:nvSpPr>
          <p:cNvPr id="68" name="Text 66"/>
          <p:cNvSpPr/>
          <p:nvPr/>
        </p:nvSpPr>
        <p:spPr>
          <a:xfrm>
            <a:off x="812785" y="6238215"/>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5F6878"/>
                </a:solidFill>
                <a:latin typeface="Times New Roman" pitchFamily="18" charset="0"/>
                <a:ea typeface="Times New Roman" pitchFamily="18" charset="-122"/>
                <a:cs typeface="Times New Roman" pitchFamily="18" charset="-120"/>
              </a:rPr>
              <a:t>tiến</a:t>
            </a:r>
            <a:r>
              <a:rPr lang="en-US" sz="1200" dirty="0">
                <a:solidFill>
                  <a:srgbClr val="5F6878"/>
                </a:solidFill>
                <a:latin typeface="Times New Roman" pitchFamily="18" charset="0"/>
                <a:ea typeface="Times New Roman" pitchFamily="18" charset="-122"/>
                <a:cs typeface="Times New Roman" pitchFamily="18" charset="-120"/>
              </a:rPr>
              <a:t> </a:t>
            </a:r>
            <a:r>
              <a:rPr lang="en-US" sz="1200" dirty="0" err="1" smtClean="0">
                <a:solidFill>
                  <a:srgbClr val="5F6878"/>
                </a:solidFill>
                <a:latin typeface="Times New Roman" pitchFamily="18" charset="0"/>
                <a:ea typeface="Times New Roman" pitchFamily="18" charset="-122"/>
                <a:cs typeface="Times New Roman" pitchFamily="18" charset="-120"/>
              </a:rPr>
              <a:t>độ</a:t>
            </a:r>
            <a:endParaRPr lang="en-US" sz="1200" dirty="0"/>
          </a:p>
        </p:txBody>
      </p:sp>
      <p:sp>
        <p:nvSpPr>
          <p:cNvPr id="69" name="Text 67"/>
          <p:cNvSpPr/>
          <p:nvPr/>
        </p:nvSpPr>
        <p:spPr>
          <a:xfrm>
            <a:off x="10871230" y="6238215"/>
            <a:ext cx="507912"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04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5" y="711144"/>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6"/>
                </a:solidFill>
                <a:latin typeface="Times New Roman" pitchFamily="18" charset="0"/>
                <a:ea typeface="Times New Roman" pitchFamily="18" charset="-122"/>
                <a:cs typeface="Times New Roman" pitchFamily="18" charset="-120"/>
              </a:rPr>
              <a:t>NGUYÊN TẮC VÀ </a:t>
            </a:r>
            <a:r>
              <a:rPr lang="en-US" sz="1200" b="1" kern="0" spc="150" dirty="0" smtClean="0">
                <a:solidFill>
                  <a:srgbClr val="A84E16"/>
                </a:solidFill>
                <a:latin typeface="Times New Roman" pitchFamily="18" charset="0"/>
                <a:ea typeface="Times New Roman" pitchFamily="18" charset="-122"/>
                <a:cs typeface="Times New Roman" pitchFamily="18" charset="-120"/>
              </a:rPr>
              <a:t>PIPELINE XỬ LÝ</a:t>
            </a:r>
            <a:endParaRPr lang="en-US" sz="1200" dirty="0"/>
          </a:p>
        </p:txBody>
      </p:sp>
      <p:sp>
        <p:nvSpPr>
          <p:cNvPr id="3" name="Text 1"/>
          <p:cNvSpPr>
            <a:spLocks noGrp="1"/>
          </p:cNvSpPr>
          <p:nvPr>
            <p:ph type="title"/>
          </p:nvPr>
        </p:nvSpPr>
        <p:spPr>
          <a:xfrm>
            <a:off x="812785" y="987927"/>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5233F"/>
                </a:solidFill>
                <a:latin typeface="Times New Roman" pitchFamily="18" charset="0"/>
                <a:ea typeface="Times New Roman" pitchFamily="18" charset="-122"/>
                <a:cs typeface="Times New Roman" pitchFamily="18" charset="-120"/>
              </a:rPr>
              <a:t>Chuẩn hoá cửa sổ</a:t>
            </a:r>
            <a:endParaRPr lang="en-US" sz="3000" dirty="0"/>
          </a:p>
        </p:txBody>
      </p:sp>
      <p:sp>
        <p:nvSpPr>
          <p:cNvPr id="4" name="Shape 2"/>
          <p:cNvSpPr/>
          <p:nvPr/>
        </p:nvSpPr>
        <p:spPr>
          <a:xfrm>
            <a:off x="812785" y="1610137"/>
            <a:ext cx="3809927" cy="719887"/>
          </a:xfrm>
          <a:prstGeom prst="rect">
            <a:avLst/>
          </a:prstGeom>
          <a:solidFill>
            <a:srgbClr val="FDFCF9"/>
          </a:solidFill>
          <a:ln/>
        </p:spPr>
      </p:sp>
      <p:sp>
        <p:nvSpPr>
          <p:cNvPr id="5" name="Shape 3"/>
          <p:cNvSpPr/>
          <p:nvPr/>
        </p:nvSpPr>
        <p:spPr>
          <a:xfrm>
            <a:off x="831835" y="1610137"/>
            <a:ext cx="0" cy="719887"/>
          </a:xfrm>
          <a:prstGeom prst="line">
            <a:avLst/>
          </a:prstGeom>
          <a:noFill/>
          <a:ln w="38100">
            <a:solidFill>
              <a:srgbClr val="2A5A9B"/>
            </a:solidFill>
            <a:prstDash val="solid"/>
          </a:ln>
        </p:spPr>
      </p:sp>
      <p:sp>
        <p:nvSpPr>
          <p:cNvPr id="6" name="Text 4"/>
          <p:cNvSpPr/>
          <p:nvPr/>
        </p:nvSpPr>
        <p:spPr>
          <a:xfrm>
            <a:off x="1002771" y="1724425"/>
            <a:ext cx="3571613"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Gốc toạ độ</a:t>
            </a:r>
            <a:endParaRPr lang="en-US" sz="1400" dirty="0"/>
          </a:p>
        </p:txBody>
      </p:sp>
      <p:sp>
        <p:nvSpPr>
          <p:cNvPr id="7" name="Text 5"/>
          <p:cNvSpPr/>
          <p:nvPr/>
        </p:nvSpPr>
        <p:spPr>
          <a:xfrm>
            <a:off x="1002771" y="1975777"/>
            <a:ext cx="3571613" cy="26536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B4558"/>
                </a:solidFill>
                <a:latin typeface="Times New Roman" pitchFamily="18" charset="0"/>
                <a:ea typeface="Times New Roman" pitchFamily="18" charset="-122"/>
                <a:cs typeface="Times New Roman" pitchFamily="18" charset="-120"/>
              </a:rPr>
              <a:t>Cổ tay ở </a:t>
            </a:r>
            <a:r>
              <a:rPr lang="en-US" sz="1400" b="1" dirty="0">
                <a:solidFill>
                  <a:srgbClr val="3B4558"/>
                </a:solidFill>
                <a:latin typeface="Times New Roman" pitchFamily="18" charset="0"/>
                <a:ea typeface="Times New Roman" pitchFamily="18" charset="-122"/>
                <a:cs typeface="Times New Roman" pitchFamily="18" charset="-120"/>
              </a:rPr>
              <a:t>frame đầu</a:t>
            </a:r>
            <a:r>
              <a:rPr lang="en-US" sz="1400" dirty="0">
                <a:solidFill>
                  <a:srgbClr val="3B4558"/>
                </a:solidFill>
                <a:latin typeface="Times New Roman" pitchFamily="18" charset="0"/>
                <a:ea typeface="Times New Roman" pitchFamily="18" charset="-122"/>
                <a:cs typeface="Times New Roman" pitchFamily="18" charset="-120"/>
              </a:rPr>
              <a:t> cửa sổ</a:t>
            </a:r>
            <a:endParaRPr lang="en-US" sz="1400" dirty="0"/>
          </a:p>
        </p:txBody>
      </p:sp>
      <p:sp>
        <p:nvSpPr>
          <p:cNvPr id="8" name="Shape 6"/>
          <p:cNvSpPr/>
          <p:nvPr/>
        </p:nvSpPr>
        <p:spPr>
          <a:xfrm>
            <a:off x="812785" y="2431597"/>
            <a:ext cx="3809927" cy="719887"/>
          </a:xfrm>
          <a:prstGeom prst="rect">
            <a:avLst/>
          </a:prstGeom>
          <a:solidFill>
            <a:srgbClr val="FDFCF9"/>
          </a:solidFill>
          <a:ln/>
        </p:spPr>
      </p:sp>
      <p:sp>
        <p:nvSpPr>
          <p:cNvPr id="9" name="Shape 7"/>
          <p:cNvSpPr/>
          <p:nvPr/>
        </p:nvSpPr>
        <p:spPr>
          <a:xfrm>
            <a:off x="831835" y="2431597"/>
            <a:ext cx="0" cy="719887"/>
          </a:xfrm>
          <a:prstGeom prst="line">
            <a:avLst/>
          </a:prstGeom>
          <a:noFill/>
          <a:ln w="38100">
            <a:solidFill>
              <a:srgbClr val="2A5A9B"/>
            </a:solidFill>
            <a:prstDash val="solid"/>
          </a:ln>
        </p:spPr>
      </p:sp>
      <p:sp>
        <p:nvSpPr>
          <p:cNvPr id="10" name="Text 8"/>
          <p:cNvSpPr/>
          <p:nvPr/>
        </p:nvSpPr>
        <p:spPr>
          <a:xfrm>
            <a:off x="1002771" y="2545882"/>
            <a:ext cx="3571613"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Đơn vị: “lòng bàn tay”</a:t>
            </a:r>
            <a:endParaRPr lang="en-US" sz="1400" dirty="0"/>
          </a:p>
        </p:txBody>
      </p:sp>
      <p:sp>
        <p:nvSpPr>
          <p:cNvPr id="11" name="Text 9"/>
          <p:cNvSpPr/>
          <p:nvPr/>
        </p:nvSpPr>
        <p:spPr>
          <a:xfrm>
            <a:off x="1002771" y="2797237"/>
            <a:ext cx="3571613" cy="26536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B4558"/>
                </a:solidFill>
                <a:latin typeface="Times New Roman" pitchFamily="18" charset="0"/>
                <a:ea typeface="Times New Roman" pitchFamily="18" charset="-122"/>
                <a:cs typeface="Times New Roman" pitchFamily="18" charset="-120"/>
              </a:rPr>
              <a:t>Cổ tay tới gốc ngón giữa, đo ở frame đầu</a:t>
            </a:r>
            <a:endParaRPr lang="en-US" sz="1400" dirty="0"/>
          </a:p>
        </p:txBody>
      </p:sp>
      <p:sp>
        <p:nvSpPr>
          <p:cNvPr id="12" name="Shape 10"/>
          <p:cNvSpPr/>
          <p:nvPr/>
        </p:nvSpPr>
        <p:spPr>
          <a:xfrm>
            <a:off x="812785" y="3253054"/>
            <a:ext cx="3809927" cy="959850"/>
          </a:xfrm>
          <a:prstGeom prst="rect">
            <a:avLst/>
          </a:prstGeom>
          <a:solidFill>
            <a:srgbClr val="FDFCF9"/>
          </a:solidFill>
          <a:ln/>
        </p:spPr>
      </p:sp>
      <p:sp>
        <p:nvSpPr>
          <p:cNvPr id="13" name="Shape 11"/>
          <p:cNvSpPr/>
          <p:nvPr/>
        </p:nvSpPr>
        <p:spPr>
          <a:xfrm>
            <a:off x="831835" y="3253054"/>
            <a:ext cx="0" cy="959850"/>
          </a:xfrm>
          <a:prstGeom prst="line">
            <a:avLst/>
          </a:prstGeom>
          <a:noFill/>
          <a:ln w="38100">
            <a:solidFill>
              <a:srgbClr val="A84E16"/>
            </a:solidFill>
            <a:prstDash val="solid"/>
          </a:ln>
        </p:spPr>
      </p:sp>
      <p:sp>
        <p:nvSpPr>
          <p:cNvPr id="14" name="Text 12"/>
          <p:cNvSpPr/>
          <p:nvPr/>
        </p:nvSpPr>
        <p:spPr>
          <a:xfrm>
            <a:off x="1002771" y="3367339"/>
            <a:ext cx="3571613"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Dùng chung cho mọi frame</a:t>
            </a:r>
            <a:endParaRPr lang="en-US" sz="1400" dirty="0"/>
          </a:p>
        </p:txBody>
      </p:sp>
      <p:sp>
        <p:nvSpPr>
          <p:cNvPr id="15" name="Text 13"/>
          <p:cNvSpPr/>
          <p:nvPr/>
        </p:nvSpPr>
        <p:spPr>
          <a:xfrm>
            <a:off x="1002771" y="3618694"/>
            <a:ext cx="3571613" cy="505325"/>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B4558"/>
                </a:solidFill>
                <a:latin typeface="Times New Roman" pitchFamily="18" charset="0"/>
                <a:ea typeface="Times New Roman" pitchFamily="18" charset="-122"/>
                <a:cs typeface="Times New Roman" pitchFamily="18" charset="-120"/>
              </a:rPr>
              <a:t>Không phụ thuộc vị trí và cỡ tay, nhưng </a:t>
            </a:r>
            <a:r>
              <a:rPr lang="en-US" sz="1400" b="1" dirty="0">
                <a:solidFill>
                  <a:srgbClr val="3B4558"/>
                </a:solidFill>
                <a:latin typeface="Times New Roman" pitchFamily="18" charset="0"/>
                <a:ea typeface="Times New Roman" pitchFamily="18" charset="-122"/>
                <a:cs typeface="Times New Roman" pitchFamily="18" charset="-120"/>
              </a:rPr>
              <a:t>giữ quỹ đạo</a:t>
            </a:r>
            <a:endParaRPr lang="en-US" sz="1400" dirty="0"/>
          </a:p>
        </p:txBody>
      </p:sp>
      <p:sp>
        <p:nvSpPr>
          <p:cNvPr id="16" name="Shape 14"/>
          <p:cNvSpPr/>
          <p:nvPr/>
        </p:nvSpPr>
        <p:spPr>
          <a:xfrm>
            <a:off x="5032243" y="1613312"/>
            <a:ext cx="3094126" cy="2596415"/>
          </a:xfrm>
          <a:prstGeom prst="roundRect">
            <a:avLst>
              <a:gd name="adj" fmla="val 2323"/>
            </a:avLst>
          </a:prstGeom>
          <a:solidFill>
            <a:srgbClr val="FDFCF9"/>
          </a:solidFill>
          <a:ln w="6350">
            <a:solidFill>
              <a:srgbClr val="DCD8CE"/>
            </a:solidFill>
            <a:prstDash val="solid"/>
          </a:ln>
        </p:spPr>
      </p:sp>
      <p:sp>
        <p:nvSpPr>
          <p:cNvPr id="17" name="Text 15"/>
          <p:cNvSpPr/>
          <p:nvPr/>
        </p:nvSpPr>
        <p:spPr>
          <a:xfrm>
            <a:off x="5160699" y="1741770"/>
            <a:ext cx="292233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233F"/>
                </a:solidFill>
                <a:latin typeface="Times New Roman" pitchFamily="18" charset="0"/>
                <a:ea typeface="Times New Roman" pitchFamily="18" charset="-122"/>
                <a:cs typeface="Times New Roman" pitchFamily="18" charset="-120"/>
              </a:rPr>
              <a:t>Gốc theo từng frame</a:t>
            </a:r>
            <a:endParaRPr lang="en-US" sz="1200" dirty="0"/>
          </a:p>
        </p:txBody>
      </p:sp>
      <p:pic>
        <p:nvPicPr>
          <p:cNvPr id="18" name="Image 0" descr="Gốc theo từng frame: mọi vị trí cổ tay trùng tại gốc, cú vuốt thành một chấm"/>
          <p:cNvPicPr>
            <a:picLocks noChangeAspect="1"/>
          </p:cNvPicPr>
          <p:nvPr/>
        </p:nvPicPr>
        <p:blipFill>
          <a:blip r:embed="rId3"/>
          <a:srcRect l="-2" r="-2"/>
          <a:stretch/>
        </p:blipFill>
        <p:spPr>
          <a:xfrm>
            <a:off x="5160699" y="2031268"/>
            <a:ext cx="2793927" cy="1269927"/>
          </a:xfrm>
          <a:prstGeom prst="rect">
            <a:avLst/>
          </a:prstGeom>
        </p:spPr>
      </p:pic>
      <p:sp>
        <p:nvSpPr>
          <p:cNvPr id="19" name="Text 16"/>
          <p:cNvSpPr/>
          <p:nvPr/>
        </p:nvSpPr>
        <p:spPr>
          <a:xfrm>
            <a:off x="5160699" y="3377335"/>
            <a:ext cx="2922332" cy="22354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B4558"/>
                </a:solidFill>
                <a:latin typeface="Times New Roman" pitchFamily="18" charset="0"/>
                <a:ea typeface="Times New Roman" pitchFamily="18" charset="-122"/>
                <a:cs typeface="Times New Roman" pitchFamily="18" charset="-120"/>
              </a:rPr>
              <a:t>Cú vuốt co lại thành một chấm</a:t>
            </a:r>
            <a:endParaRPr lang="en-US" sz="1200" dirty="0"/>
          </a:p>
        </p:txBody>
      </p:sp>
      <p:sp>
        <p:nvSpPr>
          <p:cNvPr id="20" name="Shape 17"/>
          <p:cNvSpPr/>
          <p:nvPr/>
        </p:nvSpPr>
        <p:spPr>
          <a:xfrm>
            <a:off x="8288251" y="1616487"/>
            <a:ext cx="3084542" cy="2590065"/>
          </a:xfrm>
          <a:prstGeom prst="roundRect">
            <a:avLst>
              <a:gd name="adj" fmla="val 2207"/>
            </a:avLst>
          </a:prstGeom>
          <a:solidFill>
            <a:srgbClr val="FDFCF9"/>
          </a:solidFill>
          <a:ln w="12700">
            <a:solidFill>
              <a:srgbClr val="A84E16"/>
            </a:solidFill>
            <a:prstDash val="solid"/>
          </a:ln>
        </p:spPr>
      </p:sp>
      <p:sp>
        <p:nvSpPr>
          <p:cNvPr id="21" name="Text 18"/>
          <p:cNvSpPr/>
          <p:nvPr/>
        </p:nvSpPr>
        <p:spPr>
          <a:xfrm>
            <a:off x="8411914" y="1740151"/>
            <a:ext cx="292233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E16"/>
                </a:solidFill>
                <a:latin typeface="Times New Roman" pitchFamily="18" charset="0"/>
                <a:ea typeface="Times New Roman" pitchFamily="18" charset="-122"/>
                <a:cs typeface="Times New Roman" pitchFamily="18" charset="-120"/>
              </a:rPr>
              <a:t>Gốc theo frame đầu (cách đang dùng)</a:t>
            </a:r>
            <a:endParaRPr lang="en-US" sz="1200" dirty="0"/>
          </a:p>
        </p:txBody>
      </p:sp>
      <p:pic>
        <p:nvPicPr>
          <p:cNvPr id="22" name="Image 1" descr="Gốc theo frame đầu: các vị trí cổ tay trải dọc trục ngang, cú vuốt còn nguyên"/>
          <p:cNvPicPr>
            <a:picLocks noChangeAspect="1"/>
          </p:cNvPicPr>
          <p:nvPr/>
        </p:nvPicPr>
        <p:blipFill>
          <a:blip r:embed="rId4"/>
          <a:srcRect l="-2" r="-2"/>
          <a:stretch/>
        </p:blipFill>
        <p:spPr>
          <a:xfrm>
            <a:off x="8411914" y="2029650"/>
            <a:ext cx="2793927" cy="1269927"/>
          </a:xfrm>
          <a:prstGeom prst="rect">
            <a:avLst/>
          </a:prstGeom>
        </p:spPr>
      </p:pic>
      <p:sp>
        <p:nvSpPr>
          <p:cNvPr id="23" name="Text 19"/>
          <p:cNvSpPr/>
          <p:nvPr/>
        </p:nvSpPr>
        <p:spPr>
          <a:xfrm>
            <a:off x="8411914" y="3375716"/>
            <a:ext cx="2922332" cy="22354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B4558"/>
                </a:solidFill>
                <a:latin typeface="Times New Roman" pitchFamily="18" charset="0"/>
                <a:ea typeface="Times New Roman" pitchFamily="18" charset="-122"/>
                <a:cs typeface="Times New Roman" pitchFamily="18" charset="-120"/>
              </a:rPr>
              <a:t>Cú vuốt còn nguyên</a:t>
            </a:r>
            <a:endParaRPr lang="en-US" sz="1200" dirty="0"/>
          </a:p>
        </p:txBody>
      </p:sp>
      <p:sp>
        <p:nvSpPr>
          <p:cNvPr id="24" name="Shape 20"/>
          <p:cNvSpPr/>
          <p:nvPr/>
        </p:nvSpPr>
        <p:spPr>
          <a:xfrm>
            <a:off x="812785" y="4416044"/>
            <a:ext cx="10566357" cy="896350"/>
          </a:xfrm>
          <a:prstGeom prst="rect">
            <a:avLst/>
          </a:prstGeom>
          <a:solidFill>
            <a:srgbClr val="FDFCF9"/>
          </a:solidFill>
          <a:ln/>
        </p:spPr>
      </p:sp>
      <p:sp>
        <p:nvSpPr>
          <p:cNvPr id="25" name="Shape 21"/>
          <p:cNvSpPr/>
          <p:nvPr/>
        </p:nvSpPr>
        <p:spPr>
          <a:xfrm>
            <a:off x="831835" y="4416044"/>
            <a:ext cx="0" cy="896350"/>
          </a:xfrm>
          <a:prstGeom prst="line">
            <a:avLst/>
          </a:prstGeom>
          <a:noFill/>
          <a:ln w="38100">
            <a:solidFill>
              <a:srgbClr val="A84E16"/>
            </a:solidFill>
            <a:prstDash val="solid"/>
          </a:ln>
        </p:spPr>
      </p:sp>
      <p:sp>
        <p:nvSpPr>
          <p:cNvPr id="26" name="Text 22"/>
          <p:cNvSpPr/>
          <p:nvPr/>
        </p:nvSpPr>
        <p:spPr>
          <a:xfrm>
            <a:off x="1028200" y="4555685"/>
            <a:ext cx="10478352"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Từ chối cửa sổ khi lòng bàn tay ở frame đầu &lt; 0,5 × trung vị của chính cửa sổ đó</a:t>
            </a:r>
            <a:endParaRPr lang="en-US" sz="1400" dirty="0"/>
          </a:p>
        </p:txBody>
      </p:sp>
      <p:sp>
        <p:nvSpPr>
          <p:cNvPr id="27" name="Text 23"/>
          <p:cNvSpPr/>
          <p:nvPr/>
        </p:nvSpPr>
        <p:spPr>
          <a:xfrm>
            <a:off x="1028200" y="4857824"/>
            <a:ext cx="1665038" cy="314928"/>
          </a:xfrm>
          <a:prstGeom prst="roundRect">
            <a:avLst>
              <a:gd name="adj" fmla="val 48392"/>
            </a:avLst>
          </a:prstGeom>
          <a:solidFill>
            <a:srgbClr val="F1E3D6"/>
          </a:solidFill>
          <a:ln/>
        </p:spPr>
        <p:txBody>
          <a:bodyPr wrap="none" lIns="0" tIns="0" rIns="0" bIns="0" rtlCol="0" anchor="ctr">
            <a:normAutofit/>
          </a:bodyPr>
          <a:lstStyle/>
          <a:p>
            <a:pPr marL="0" indent="0" algn="ct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Loại khoảng 2% cửa sổ</a:t>
            </a:r>
            <a:endParaRPr lang="en-US" sz="1200" dirty="0"/>
          </a:p>
        </p:txBody>
      </p:sp>
      <p:sp>
        <p:nvSpPr>
          <p:cNvPr id="28" name="Text 24"/>
          <p:cNvSpPr/>
          <p:nvPr/>
        </p:nvSpPr>
        <p:spPr>
          <a:xfrm>
            <a:off x="2794809" y="4857824"/>
            <a:ext cx="2699485" cy="314928"/>
          </a:xfrm>
          <a:prstGeom prst="roundRect">
            <a:avLst>
              <a:gd name="adj" fmla="val 48392"/>
            </a:avLst>
          </a:prstGeom>
          <a:solidFill>
            <a:srgbClr val="F1E3D6"/>
          </a:solidFill>
          <a:ln/>
        </p:spPr>
        <p:txBody>
          <a:bodyPr wrap="none" lIns="0" tIns="0" rIns="0" bIns="0" rtlCol="0" anchor="ctr">
            <a:normAutofit/>
          </a:bodyPr>
          <a:lstStyle/>
          <a:p>
            <a:pPr marL="0" indent="0" algn="ct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Xoá các ngoại lai lên tới 30 lòng bàn tay</a:t>
            </a:r>
            <a:endParaRPr lang="en-US" sz="1200" dirty="0"/>
          </a:p>
        </p:txBody>
      </p:sp>
      <p:sp>
        <p:nvSpPr>
          <p:cNvPr id="29" name="Text 25"/>
          <p:cNvSpPr/>
          <p:nvPr/>
        </p:nvSpPr>
        <p:spPr>
          <a:xfrm>
            <a:off x="5595865" y="4857824"/>
            <a:ext cx="3021322" cy="314928"/>
          </a:xfrm>
          <a:prstGeom prst="roundRect">
            <a:avLst>
              <a:gd name="adj" fmla="val 48392"/>
            </a:avLst>
          </a:prstGeom>
          <a:solidFill>
            <a:srgbClr val="F1E3D6"/>
          </a:solidFill>
          <a:ln/>
        </p:spPr>
        <p:txBody>
          <a:bodyPr wrap="none" lIns="0" tIns="0" rIns="0" bIns="0" rtlCol="0" anchor="ctr">
            <a:normAutofit/>
          </a:bodyPr>
          <a:lstStyle/>
          <a:p>
            <a:pPr marL="0" indent="0" algn="ct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Chỉ so dữ liệu bên trong cửa sổ, vẫn nhân quả</a:t>
            </a:r>
            <a:endParaRPr lang="en-US" sz="1200" dirty="0"/>
          </a:p>
        </p:txBody>
      </p:sp>
      <p:sp>
        <p:nvSpPr>
          <p:cNvPr id="30" name="Text 26"/>
          <p:cNvSpPr/>
          <p:nvPr/>
        </p:nvSpPr>
        <p:spPr>
          <a:xfrm>
            <a:off x="812785" y="6238215"/>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5F6878"/>
                </a:solidFill>
                <a:latin typeface="Times New Roman" pitchFamily="18" charset="0"/>
                <a:ea typeface="Times New Roman" pitchFamily="18" charset="-122"/>
                <a:cs typeface="Times New Roman" pitchFamily="18" charset="-120"/>
              </a:rPr>
              <a:t>tiến</a:t>
            </a:r>
            <a:r>
              <a:rPr lang="en-US" sz="1200" dirty="0">
                <a:solidFill>
                  <a:srgbClr val="5F6878"/>
                </a:solidFill>
                <a:latin typeface="Times New Roman" pitchFamily="18" charset="0"/>
                <a:ea typeface="Times New Roman" pitchFamily="18" charset="-122"/>
                <a:cs typeface="Times New Roman" pitchFamily="18" charset="-120"/>
              </a:rPr>
              <a:t> </a:t>
            </a:r>
            <a:r>
              <a:rPr lang="en-US" sz="1200" dirty="0" err="1" smtClean="0">
                <a:solidFill>
                  <a:srgbClr val="5F6878"/>
                </a:solidFill>
                <a:latin typeface="Times New Roman" pitchFamily="18" charset="0"/>
                <a:ea typeface="Times New Roman" pitchFamily="18" charset="-122"/>
                <a:cs typeface="Times New Roman" pitchFamily="18" charset="-120"/>
              </a:rPr>
              <a:t>độ</a:t>
            </a:r>
            <a:endParaRPr lang="en-US" sz="1200" dirty="0"/>
          </a:p>
        </p:txBody>
      </p:sp>
      <p:sp>
        <p:nvSpPr>
          <p:cNvPr id="31" name="Text 27"/>
          <p:cNvSpPr/>
          <p:nvPr/>
        </p:nvSpPr>
        <p:spPr>
          <a:xfrm>
            <a:off x="10871230" y="6238215"/>
            <a:ext cx="507912"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05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5" y="71114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6"/>
                </a:solidFill>
                <a:latin typeface="Times New Roman" pitchFamily="18" charset="0"/>
                <a:ea typeface="Times New Roman" pitchFamily="18" charset="-122"/>
                <a:cs typeface="Times New Roman" pitchFamily="18" charset="-120"/>
              </a:rPr>
              <a:t>NGUYÊN TẮC VÀ </a:t>
            </a:r>
            <a:r>
              <a:rPr lang="en-US" sz="1200" b="1" kern="0" spc="150" dirty="0" smtClean="0">
                <a:solidFill>
                  <a:srgbClr val="A84E16"/>
                </a:solidFill>
                <a:latin typeface="Times New Roman" pitchFamily="18" charset="0"/>
                <a:ea typeface="Times New Roman" pitchFamily="18" charset="-122"/>
                <a:cs typeface="Times New Roman" pitchFamily="18" charset="-120"/>
              </a:rPr>
              <a:t>PIPELINE XỬ LÝ</a:t>
            </a:r>
            <a:endParaRPr lang="en-US" sz="1200" dirty="0"/>
          </a:p>
        </p:txBody>
      </p:sp>
      <p:sp>
        <p:nvSpPr>
          <p:cNvPr id="3" name="Text 1"/>
          <p:cNvSpPr>
            <a:spLocks noGrp="1"/>
          </p:cNvSpPr>
          <p:nvPr>
            <p:ph type="title"/>
          </p:nvPr>
        </p:nvSpPr>
        <p:spPr>
          <a:xfrm>
            <a:off x="812785" y="987924"/>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5233F"/>
                </a:solidFill>
                <a:latin typeface="Times New Roman" pitchFamily="18" charset="0"/>
                <a:ea typeface="Times New Roman" pitchFamily="18" charset="-122"/>
                <a:cs typeface="Times New Roman" pitchFamily="18" charset="-120"/>
              </a:rPr>
              <a:t>15 đặc trưng, chia thành 5 nhóm</a:t>
            </a:r>
            <a:endParaRPr lang="en-US" sz="3000" dirty="0"/>
          </a:p>
        </p:txBody>
      </p:sp>
      <p:sp>
        <p:nvSpPr>
          <p:cNvPr id="4" name="Shape 2"/>
          <p:cNvSpPr/>
          <p:nvPr/>
        </p:nvSpPr>
        <p:spPr>
          <a:xfrm>
            <a:off x="812785" y="1610137"/>
            <a:ext cx="10566357" cy="2558668"/>
          </a:xfrm>
          <a:prstGeom prst="rect">
            <a:avLst/>
          </a:prstGeom>
          <a:solidFill>
            <a:srgbClr val="FDFCF9"/>
          </a:solidFill>
          <a:ln/>
        </p:spPr>
      </p:sp>
      <p:sp>
        <p:nvSpPr>
          <p:cNvPr id="5" name="Shape 3"/>
          <p:cNvSpPr/>
          <p:nvPr/>
        </p:nvSpPr>
        <p:spPr>
          <a:xfrm>
            <a:off x="11375968" y="1610137"/>
            <a:ext cx="0" cy="2558668"/>
          </a:xfrm>
          <a:prstGeom prst="line">
            <a:avLst/>
          </a:prstGeom>
          <a:noFill/>
          <a:ln w="6350">
            <a:solidFill>
              <a:srgbClr val="DCD8CE"/>
            </a:solidFill>
            <a:prstDash val="solid"/>
          </a:ln>
        </p:spPr>
      </p:sp>
      <p:sp>
        <p:nvSpPr>
          <p:cNvPr id="6" name="Shape 4"/>
          <p:cNvSpPr/>
          <p:nvPr/>
        </p:nvSpPr>
        <p:spPr>
          <a:xfrm>
            <a:off x="812785" y="4165631"/>
            <a:ext cx="10566357" cy="0"/>
          </a:xfrm>
          <a:prstGeom prst="line">
            <a:avLst/>
          </a:prstGeom>
          <a:noFill/>
          <a:ln w="6350">
            <a:solidFill>
              <a:srgbClr val="DCD8CE"/>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193" y="1619545"/>
          <a:ext cx="10552247" cy="2545545"/>
        </p:xfrm>
        <a:graphic>
          <a:graphicData uri="http://schemas.openxmlformats.org/drawingml/2006/table">
            <a:tbl>
              <a:tblPr/>
              <a:tblGrid>
                <a:gridCol w="2638062">
                  <a:extLst>
                    <a:ext uri="{9D8B030D-6E8A-4147-A177-3AD203B41FA5}">
                      <a16:colId xmlns:a16="http://schemas.microsoft.com/office/drawing/2014/main" val="20000"/>
                    </a:ext>
                  </a:extLst>
                </a:gridCol>
                <a:gridCol w="4959556">
                  <a:extLst>
                    <a:ext uri="{9D8B030D-6E8A-4147-A177-3AD203B41FA5}">
                      <a16:colId xmlns:a16="http://schemas.microsoft.com/office/drawing/2014/main" val="20001"/>
                    </a:ext>
                  </a:extLst>
                </a:gridCol>
                <a:gridCol w="2954629">
                  <a:extLst>
                    <a:ext uri="{9D8B030D-6E8A-4147-A177-3AD203B41FA5}">
                      <a16:colId xmlns:a16="http://schemas.microsoft.com/office/drawing/2014/main" val="20002"/>
                    </a:ext>
                  </a:extLst>
                </a:gridCol>
              </a:tblGrid>
              <a:tr h="382617">
                <a:tc>
                  <a:txBody>
                    <a:bodyPr/>
                    <a:lstStyle/>
                    <a:p>
                      <a:pPr marL="0" indent="0">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Nhóm</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Đặc trưng</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Dùng để bắt</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extLst>
                  <a:ext uri="{0D108BD9-81ED-4DB2-BD59-A6C34878D82A}">
                    <a16:rowId xmlns:a16="http://schemas.microsoft.com/office/drawing/2014/main" val="10000"/>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Độ xòe bàn tay (5)</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đầu, cuối, thay đổi, biên độ, xu hướng</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Mở hoặc nắm cả bàn tay</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1"/>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Độ mở cái–trỏ (2)</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thay đổi, biên độ</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Chụm hoặc mở ngón (zoom)</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2"/>
                  </a:ext>
                </a:extLst>
              </a:tr>
              <a:tr h="631472">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Chuyển động cổ tay (5)</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dời ngang, dời dọc, tốc độ ngang đỉnh, tốc độ ngang trung bình, tốc độ dọc đỉnh</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Vuốt</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3"/>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Hình dạng quỹ đạo (2)</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độ thẳng, tỉ lệ ngang</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Vuốt một chiều hay vẫy qua lại</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4"/>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Chất lượng (1)</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tỉ lệ bước có tay</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Độ tin cậy của cửa sổ</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5"/>
          <p:cNvSpPr/>
          <p:nvPr/>
        </p:nvSpPr>
        <p:spPr>
          <a:xfrm>
            <a:off x="812785" y="4371944"/>
            <a:ext cx="5207001" cy="916634"/>
          </a:xfrm>
          <a:prstGeom prst="rect">
            <a:avLst/>
          </a:prstGeom>
          <a:solidFill>
            <a:srgbClr val="FDFCF9"/>
          </a:solidFill>
          <a:ln/>
        </p:spPr>
      </p:sp>
      <p:sp>
        <p:nvSpPr>
          <p:cNvPr id="9" name="Shape 6"/>
          <p:cNvSpPr/>
          <p:nvPr/>
        </p:nvSpPr>
        <p:spPr>
          <a:xfrm>
            <a:off x="831835" y="4371944"/>
            <a:ext cx="0" cy="916634"/>
          </a:xfrm>
          <a:prstGeom prst="line">
            <a:avLst/>
          </a:prstGeom>
          <a:noFill/>
          <a:ln w="38100">
            <a:solidFill>
              <a:srgbClr val="2A5A9B"/>
            </a:solidFill>
            <a:prstDash val="solid"/>
          </a:ln>
        </p:spPr>
      </p:sp>
      <p:sp>
        <p:nvSpPr>
          <p:cNvPr id="10" name="Text 7"/>
          <p:cNvSpPr/>
          <p:nvPr/>
        </p:nvSpPr>
        <p:spPr>
          <a:xfrm>
            <a:off x="1028200" y="4498876"/>
            <a:ext cx="4958214"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5 đặc trưng có dấu mang thông tin hướng</a:t>
            </a:r>
            <a:endParaRPr lang="en-US" sz="1400" dirty="0"/>
          </a:p>
        </p:txBody>
      </p:sp>
      <p:sp>
        <p:nvSpPr>
          <p:cNvPr id="11" name="Text 8"/>
          <p:cNvSpPr/>
          <p:nvPr/>
        </p:nvSpPr>
        <p:spPr>
          <a:xfrm>
            <a:off x="1028200" y="4750228"/>
            <a:ext cx="4958214"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Thay đổi độ xòe, xu hướng độ xòe, thay đổi độ mở cái–trỏ, dời ngang, tốc độ ngang trung bình. Bản thân đặc trưng không quyết định trái hay phải.</a:t>
            </a:r>
            <a:endParaRPr lang="en-US" sz="1200" dirty="0"/>
          </a:p>
        </p:txBody>
      </p:sp>
      <p:sp>
        <p:nvSpPr>
          <p:cNvPr id="12" name="Shape 9"/>
          <p:cNvSpPr/>
          <p:nvPr/>
        </p:nvSpPr>
        <p:spPr>
          <a:xfrm>
            <a:off x="6172142" y="4371944"/>
            <a:ext cx="5207001" cy="916634"/>
          </a:xfrm>
          <a:prstGeom prst="rect">
            <a:avLst/>
          </a:prstGeom>
          <a:solidFill>
            <a:srgbClr val="FDFCF9"/>
          </a:solidFill>
          <a:ln/>
        </p:spPr>
      </p:sp>
      <p:sp>
        <p:nvSpPr>
          <p:cNvPr id="13" name="Shape 10"/>
          <p:cNvSpPr/>
          <p:nvPr/>
        </p:nvSpPr>
        <p:spPr>
          <a:xfrm>
            <a:off x="6191192" y="4371944"/>
            <a:ext cx="0" cy="916634"/>
          </a:xfrm>
          <a:prstGeom prst="line">
            <a:avLst/>
          </a:prstGeom>
          <a:noFill/>
          <a:ln w="38100">
            <a:solidFill>
              <a:srgbClr val="A84E16"/>
            </a:solidFill>
            <a:prstDash val="solid"/>
          </a:ln>
        </p:spPr>
      </p:sp>
      <p:sp>
        <p:nvSpPr>
          <p:cNvPr id="14" name="Text 11"/>
          <p:cNvSpPr/>
          <p:nvPr/>
        </p:nvSpPr>
        <p:spPr>
          <a:xfrm>
            <a:off x="6387557" y="4498876"/>
            <a:ext cx="4958214"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Không bao giờ rỗng</a:t>
            </a:r>
            <a:endParaRPr lang="en-US" sz="1400" dirty="0"/>
          </a:p>
        </p:txBody>
      </p:sp>
      <p:sp>
        <p:nvSpPr>
          <p:cNvPr id="15" name="Text 12"/>
          <p:cNvSpPr/>
          <p:nvPr/>
        </p:nvSpPr>
        <p:spPr>
          <a:xfrm>
            <a:off x="6387557" y="4750228"/>
            <a:ext cx="4958214"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Kể cả khi cửa sổ có 30% bước mất tay.</a:t>
            </a:r>
            <a:endParaRPr lang="en-US" sz="1200" dirty="0"/>
          </a:p>
        </p:txBody>
      </p:sp>
      <p:sp>
        <p:nvSpPr>
          <p:cNvPr id="16" name="Text 13"/>
          <p:cNvSpPr/>
          <p:nvPr/>
        </p:nvSpPr>
        <p:spPr>
          <a:xfrm>
            <a:off x="812785" y="6238211"/>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5F6878"/>
                </a:solidFill>
                <a:latin typeface="Times New Roman" pitchFamily="18" charset="0"/>
                <a:ea typeface="Times New Roman" pitchFamily="18" charset="-122"/>
                <a:cs typeface="Times New Roman" pitchFamily="18" charset="-120"/>
              </a:rPr>
              <a:t>tiến</a:t>
            </a:r>
            <a:r>
              <a:rPr lang="en-US" sz="1200" dirty="0">
                <a:solidFill>
                  <a:srgbClr val="5F6878"/>
                </a:solidFill>
                <a:latin typeface="Times New Roman" pitchFamily="18" charset="0"/>
                <a:ea typeface="Times New Roman" pitchFamily="18" charset="-122"/>
                <a:cs typeface="Times New Roman" pitchFamily="18" charset="-120"/>
              </a:rPr>
              <a:t> </a:t>
            </a:r>
            <a:r>
              <a:rPr lang="en-US" sz="1200" dirty="0" err="1" smtClean="0">
                <a:solidFill>
                  <a:srgbClr val="5F6878"/>
                </a:solidFill>
                <a:latin typeface="Times New Roman" pitchFamily="18" charset="0"/>
                <a:ea typeface="Times New Roman" pitchFamily="18" charset="-122"/>
                <a:cs typeface="Times New Roman" pitchFamily="18" charset="-120"/>
              </a:rPr>
              <a:t>độ</a:t>
            </a:r>
            <a:endParaRPr lang="en-US" sz="1200" dirty="0"/>
          </a:p>
        </p:txBody>
      </p:sp>
      <p:sp>
        <p:nvSpPr>
          <p:cNvPr id="17" name="Text 14"/>
          <p:cNvSpPr/>
          <p:nvPr/>
        </p:nvSpPr>
        <p:spPr>
          <a:xfrm>
            <a:off x="10871230" y="6238211"/>
            <a:ext cx="507912"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06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5" y="711144"/>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6"/>
                </a:solidFill>
                <a:latin typeface="Times New Roman" pitchFamily="18" charset="0"/>
                <a:ea typeface="Times New Roman" pitchFamily="18" charset="-122"/>
                <a:cs typeface="Times New Roman" pitchFamily="18" charset="-120"/>
              </a:rPr>
              <a:t>DỮ LIỆU IPN</a:t>
            </a:r>
            <a:endParaRPr lang="en-US" sz="1200" dirty="0"/>
          </a:p>
        </p:txBody>
      </p:sp>
      <p:sp>
        <p:nvSpPr>
          <p:cNvPr id="3" name="Text 1"/>
          <p:cNvSpPr>
            <a:spLocks noGrp="1"/>
          </p:cNvSpPr>
          <p:nvPr>
            <p:ph type="title"/>
          </p:nvPr>
        </p:nvSpPr>
        <p:spPr>
          <a:xfrm>
            <a:off x="812785" y="987927"/>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5233F"/>
                </a:solidFill>
                <a:latin typeface="Times New Roman" pitchFamily="18" charset="0"/>
                <a:ea typeface="Times New Roman" pitchFamily="18" charset="-122"/>
                <a:cs typeface="Times New Roman" pitchFamily="18" charset="-120"/>
              </a:rPr>
              <a:t>Câu chuyện dữ liệu: video và nhãn IPN lệch nhau</a:t>
            </a:r>
            <a:endParaRPr lang="en-US" sz="3000" dirty="0"/>
          </a:p>
        </p:txBody>
      </p:sp>
      <p:sp>
        <p:nvSpPr>
          <p:cNvPr id="4" name="Text 2"/>
          <p:cNvSpPr/>
          <p:nvPr/>
        </p:nvSpPr>
        <p:spPr>
          <a:xfrm>
            <a:off x="812785" y="1610140"/>
            <a:ext cx="5258517" cy="505325"/>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B4558"/>
                </a:solidFill>
                <a:latin typeface="Times New Roman" pitchFamily="18" charset="0"/>
                <a:ea typeface="Times New Roman" pitchFamily="18" charset="-122"/>
                <a:cs typeface="Times New Roman" pitchFamily="18" charset="-120"/>
              </a:rPr>
              <a:t>Triệu chứng:</a:t>
            </a:r>
            <a:r>
              <a:rPr lang="en-US" sz="1400" dirty="0">
                <a:solidFill>
                  <a:srgbClr val="3B4558"/>
                </a:solidFill>
                <a:latin typeface="Times New Roman" pitchFamily="18" charset="0"/>
                <a:ea typeface="Times New Roman" pitchFamily="18" charset="-122"/>
                <a:cs typeface="Times New Roman" pitchFamily="18" charset="-120"/>
              </a:rPr>
              <a:t> ở nhiều video, số frame đọc được khác số frame trong file nhãn.</a:t>
            </a:r>
            <a:endParaRPr lang="en-US" sz="1400" dirty="0"/>
          </a:p>
        </p:txBody>
      </p:sp>
      <p:sp>
        <p:nvSpPr>
          <p:cNvPr id="5" name="Text 3"/>
          <p:cNvSpPr/>
          <p:nvPr/>
        </p:nvSpPr>
        <p:spPr>
          <a:xfrm>
            <a:off x="812785" y="2204349"/>
            <a:ext cx="5258517"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Chẩn đoán bằng ba cách đếm độc lập</a:t>
            </a:r>
            <a:endParaRPr lang="en-US" sz="1400" dirty="0"/>
          </a:p>
        </p:txBody>
      </p:sp>
      <p:sp>
        <p:nvSpPr>
          <p:cNvPr id="6" name="Text 4"/>
          <p:cNvSpPr/>
          <p:nvPr/>
        </p:nvSpPr>
        <p:spPr>
          <a:xfrm>
            <a:off x="812785" y="2481058"/>
            <a:ext cx="1651000" cy="523140"/>
          </a:xfrm>
          <a:prstGeom prst="roundRect">
            <a:avLst>
              <a:gd name="adj" fmla="val 12138"/>
            </a:avLst>
          </a:prstGeom>
          <a:solidFill>
            <a:srgbClr val="E3E9F2"/>
          </a:solidFill>
          <a:ln/>
        </p:spPr>
        <p:txBody>
          <a:bodyPr wrap="square" lIns="32201" tIns="44901" rIns="32201" bIns="19501" rtlCol="0" anchor="t">
            <a:normAutofit/>
          </a:bodyPr>
          <a:lstStyle/>
          <a:p>
            <a:pPr marL="0" indent="0" algn="ctr">
              <a:lnSpc>
                <a:spcPts val="1560"/>
              </a:lnSpc>
              <a:buNone/>
            </a:pPr>
            <a:r>
              <a:rPr lang="en-US" sz="1200" dirty="0">
                <a:solidFill>
                  <a:srgbClr val="3B4558"/>
                </a:solidFill>
                <a:latin typeface="Times New Roman" pitchFamily="18" charset="0"/>
                <a:ea typeface="Times New Roman" pitchFamily="18" charset="-122"/>
                <a:cs typeface="Times New Roman" pitchFamily="18" charset="-120"/>
              </a:rPr>
              <a:t>Số frame khai báo trong header</a:t>
            </a:r>
            <a:endParaRPr lang="en-US" sz="1200" dirty="0"/>
          </a:p>
        </p:txBody>
      </p:sp>
      <p:sp>
        <p:nvSpPr>
          <p:cNvPr id="7" name="Text 5"/>
          <p:cNvSpPr/>
          <p:nvPr/>
        </p:nvSpPr>
        <p:spPr>
          <a:xfrm>
            <a:off x="2539927" y="2481058"/>
            <a:ext cx="1651074" cy="523140"/>
          </a:xfrm>
          <a:prstGeom prst="roundRect">
            <a:avLst>
              <a:gd name="adj" fmla="val 12138"/>
            </a:avLst>
          </a:prstGeom>
          <a:solidFill>
            <a:srgbClr val="E3E9F2"/>
          </a:solidFill>
          <a:ln/>
        </p:spPr>
        <p:txBody>
          <a:bodyPr wrap="square" lIns="32201" tIns="44901" rIns="32201" bIns="19501" rtlCol="0" anchor="t">
            <a:normAutofit/>
          </a:bodyPr>
          <a:lstStyle/>
          <a:p>
            <a:pPr marL="0" indent="0" algn="ctr">
              <a:lnSpc>
                <a:spcPts val="1560"/>
              </a:lnSpc>
              <a:buNone/>
            </a:pPr>
            <a:r>
              <a:rPr lang="en-US" sz="1200" dirty="0">
                <a:solidFill>
                  <a:srgbClr val="3B4558"/>
                </a:solidFill>
                <a:latin typeface="Times New Roman" pitchFamily="18" charset="0"/>
                <a:ea typeface="Times New Roman" pitchFamily="18" charset="-122"/>
                <a:cs typeface="Times New Roman" pitchFamily="18" charset="-120"/>
              </a:rPr>
              <a:t>Số chunk trong chỉ mục file AVI</a:t>
            </a:r>
            <a:endParaRPr lang="en-US" sz="1200" dirty="0"/>
          </a:p>
        </p:txBody>
      </p:sp>
      <p:sp>
        <p:nvSpPr>
          <p:cNvPr id="8" name="Text 6"/>
          <p:cNvSpPr/>
          <p:nvPr/>
        </p:nvSpPr>
        <p:spPr>
          <a:xfrm>
            <a:off x="4267142" y="2481058"/>
            <a:ext cx="1651000" cy="523140"/>
          </a:xfrm>
          <a:prstGeom prst="roundRect">
            <a:avLst>
              <a:gd name="adj" fmla="val 12138"/>
            </a:avLst>
          </a:prstGeom>
          <a:solidFill>
            <a:srgbClr val="E3E9F2"/>
          </a:solidFill>
          <a:ln/>
        </p:spPr>
        <p:txBody>
          <a:bodyPr wrap="square" lIns="32201" tIns="44901" rIns="32201" bIns="19501" rtlCol="0" anchor="t">
            <a:normAutofit/>
          </a:bodyPr>
          <a:lstStyle/>
          <a:p>
            <a:pPr marL="0" indent="0" algn="ctr">
              <a:lnSpc>
                <a:spcPts val="1560"/>
              </a:lnSpc>
              <a:buNone/>
            </a:pPr>
            <a:r>
              <a:rPr lang="en-US" sz="1200" dirty="0">
                <a:solidFill>
                  <a:srgbClr val="3B4558"/>
                </a:solidFill>
                <a:latin typeface="Times New Roman" pitchFamily="18" charset="0"/>
                <a:ea typeface="Times New Roman" pitchFamily="18" charset="-122"/>
                <a:cs typeface="Times New Roman" pitchFamily="18" charset="-120"/>
              </a:rPr>
              <a:t>Số frame giải mã được thật</a:t>
            </a:r>
            <a:endParaRPr lang="en-US" sz="1200" dirty="0"/>
          </a:p>
        </p:txBody>
      </p:sp>
      <p:sp>
        <p:nvSpPr>
          <p:cNvPr id="9" name="Shape 7"/>
          <p:cNvSpPr/>
          <p:nvPr/>
        </p:nvSpPr>
        <p:spPr>
          <a:xfrm>
            <a:off x="812785" y="3118483"/>
            <a:ext cx="5105357" cy="990350"/>
          </a:xfrm>
          <a:prstGeom prst="roundRect">
            <a:avLst>
              <a:gd name="adj" fmla="val 6412"/>
            </a:avLst>
          </a:prstGeom>
          <a:solidFill>
            <a:srgbClr val="15233F"/>
          </a:solidFill>
          <a:ln/>
        </p:spPr>
      </p:sp>
      <p:sp>
        <p:nvSpPr>
          <p:cNvPr id="10" name="Text 8"/>
          <p:cNvSpPr/>
          <p:nvPr/>
        </p:nvSpPr>
        <p:spPr>
          <a:xfrm>
            <a:off x="990571" y="3258127"/>
            <a:ext cx="4892280"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frame giải mã + chunk 6 byte = tổng số chunk</a:t>
            </a:r>
            <a:endParaRPr lang="en-US" sz="1400" dirty="0"/>
          </a:p>
        </p:txBody>
      </p:sp>
      <p:sp>
        <p:nvSpPr>
          <p:cNvPr id="11" name="Text 9"/>
          <p:cNvSpPr/>
          <p:nvPr/>
        </p:nvSpPr>
        <p:spPr>
          <a:xfrm>
            <a:off x="990571" y="3557767"/>
            <a:ext cx="4892280"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3CCDB"/>
                </a:solidFill>
                <a:latin typeface="Times New Roman" pitchFamily="18" charset="0"/>
                <a:ea typeface="Times New Roman" pitchFamily="18" charset="-122"/>
                <a:cs typeface="Times New Roman" pitchFamily="18" charset="-120"/>
              </a:rPr>
              <a:t>Đúng ở mọi video → bộ giải mã âm thầm bỏ các frame “not coded” của XVID</a:t>
            </a:r>
            <a:endParaRPr lang="en-US" sz="1200" dirty="0"/>
          </a:p>
        </p:txBody>
      </p:sp>
      <p:sp>
        <p:nvSpPr>
          <p:cNvPr id="12" name="Text 10"/>
          <p:cNvSpPr/>
          <p:nvPr/>
        </p:nvSpPr>
        <p:spPr>
          <a:xfrm>
            <a:off x="812785" y="4223122"/>
            <a:ext cx="1684823"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84E16"/>
                </a:solidFill>
                <a:latin typeface="Times New Roman" pitchFamily="18" charset="0"/>
                <a:ea typeface="Times New Roman" pitchFamily="18" charset="-122"/>
                <a:cs typeface="Times New Roman" pitchFamily="18" charset="-120"/>
              </a:rPr>
              <a:t>101/200</a:t>
            </a:r>
            <a:endParaRPr lang="en-US" sz="1800" dirty="0"/>
          </a:p>
        </p:txBody>
      </p:sp>
      <p:sp>
        <p:nvSpPr>
          <p:cNvPr id="13" name="Text 11"/>
          <p:cNvSpPr/>
          <p:nvPr/>
        </p:nvSpPr>
        <p:spPr>
          <a:xfrm>
            <a:off x="812785" y="4555759"/>
            <a:ext cx="1684823"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video bị ảnh hưởng</a:t>
            </a:r>
            <a:endParaRPr lang="en-US" sz="1200" dirty="0"/>
          </a:p>
        </p:txBody>
      </p:sp>
      <p:sp>
        <p:nvSpPr>
          <p:cNvPr id="14" name="Text 12"/>
          <p:cNvSpPr/>
          <p:nvPr/>
        </p:nvSpPr>
        <p:spPr>
          <a:xfrm>
            <a:off x="2548379" y="4223122"/>
            <a:ext cx="1684896"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84E16"/>
                </a:solidFill>
                <a:latin typeface="Times New Roman" pitchFamily="18" charset="0"/>
                <a:ea typeface="Times New Roman" pitchFamily="18" charset="-122"/>
                <a:cs typeface="Times New Roman" pitchFamily="18" charset="-120"/>
              </a:rPr>
              <a:t>677</a:t>
            </a:r>
            <a:endParaRPr lang="en-US" sz="1800" dirty="0"/>
          </a:p>
        </p:txBody>
      </p:sp>
      <p:sp>
        <p:nvSpPr>
          <p:cNvPr id="15" name="Text 13"/>
          <p:cNvSpPr/>
          <p:nvPr/>
        </p:nvSpPr>
        <p:spPr>
          <a:xfrm>
            <a:off x="2548379" y="4555759"/>
            <a:ext cx="168489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frame bị bỏ</a:t>
            </a:r>
            <a:endParaRPr lang="en-US" sz="1200" dirty="0"/>
          </a:p>
        </p:txBody>
      </p:sp>
      <p:sp>
        <p:nvSpPr>
          <p:cNvPr id="16" name="Text 14"/>
          <p:cNvSpPr/>
          <p:nvPr/>
        </p:nvSpPr>
        <p:spPr>
          <a:xfrm>
            <a:off x="4284046" y="4223122"/>
            <a:ext cx="1684896"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84E16"/>
                </a:solidFill>
                <a:latin typeface="Times New Roman" pitchFamily="18" charset="0"/>
                <a:ea typeface="Times New Roman" pitchFamily="18" charset="-122"/>
                <a:cs typeface="Times New Roman" pitchFamily="18" charset="-120"/>
              </a:rPr>
              <a:t>56</a:t>
            </a:r>
            <a:endParaRPr lang="en-US" sz="1800" dirty="0"/>
          </a:p>
        </p:txBody>
      </p:sp>
      <p:sp>
        <p:nvSpPr>
          <p:cNvPr id="17" name="Text 15"/>
          <p:cNvSpPr/>
          <p:nvPr/>
        </p:nvSpPr>
        <p:spPr>
          <a:xfrm>
            <a:off x="4284046" y="4555759"/>
            <a:ext cx="1684896"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frame nhiều nhất một video</a:t>
            </a:r>
            <a:endParaRPr lang="en-US" sz="1200" dirty="0"/>
          </a:p>
        </p:txBody>
      </p:sp>
      <p:sp>
        <p:nvSpPr>
          <p:cNvPr id="18" name="Text 16"/>
          <p:cNvSpPr/>
          <p:nvPr/>
        </p:nvSpPr>
        <p:spPr>
          <a:xfrm>
            <a:off x="812785" y="5096762"/>
            <a:ext cx="5258517" cy="505325"/>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B4558"/>
                </a:solidFill>
                <a:latin typeface="Times New Roman" pitchFamily="18" charset="0"/>
                <a:ea typeface="Times New Roman" pitchFamily="18" charset="-122"/>
                <a:cs typeface="Times New Roman" pitchFamily="18" charset="-120"/>
              </a:rPr>
              <a:t>Cách sửa:</a:t>
            </a:r>
            <a:r>
              <a:rPr lang="en-US" sz="1400" dirty="0">
                <a:solidFill>
                  <a:srgbClr val="3B4558"/>
                </a:solidFill>
                <a:latin typeface="Times New Roman" pitchFamily="18" charset="0"/>
                <a:ea typeface="Times New Roman" pitchFamily="18" charset="-122"/>
                <a:cs typeface="Times New Roman" pitchFamily="18" charset="-120"/>
              </a:rPr>
              <a:t> mốc thời gian lấy theo vị trí frame trong file, không theo số lần đọc.</a:t>
            </a:r>
            <a:endParaRPr lang="en-US" sz="1400" dirty="0"/>
          </a:p>
        </p:txBody>
      </p:sp>
      <p:sp>
        <p:nvSpPr>
          <p:cNvPr id="19" name="Text 17"/>
          <p:cNvSpPr/>
          <p:nvPr/>
        </p:nvSpPr>
        <p:spPr>
          <a:xfrm>
            <a:off x="6273713" y="1610140"/>
            <a:ext cx="5258593" cy="48753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5233F"/>
                </a:solidFill>
                <a:latin typeface="Times New Roman" pitchFamily="18" charset="0"/>
                <a:ea typeface="Times New Roman" pitchFamily="18" charset="-122"/>
                <a:cs typeface="Times New Roman" pitchFamily="18" charset="-120"/>
              </a:rPr>
              <a:t>Nhãn IPN đếm frame không thống nhất → chọn cách đếm cho từng video</a:t>
            </a:r>
            <a:endParaRPr lang="en-US" sz="1400" dirty="0"/>
          </a:p>
        </p:txBody>
      </p:sp>
      <p:sp>
        <p:nvSpPr>
          <p:cNvPr id="20" name="Shape 18"/>
          <p:cNvSpPr/>
          <p:nvPr/>
        </p:nvSpPr>
        <p:spPr>
          <a:xfrm>
            <a:off x="6273713" y="2186564"/>
            <a:ext cx="5105430" cy="1927196"/>
          </a:xfrm>
          <a:prstGeom prst="rect">
            <a:avLst/>
          </a:prstGeom>
          <a:solidFill>
            <a:srgbClr val="FDFCF9"/>
          </a:solidFill>
          <a:ln/>
        </p:spPr>
      </p:sp>
      <p:sp>
        <p:nvSpPr>
          <p:cNvPr id="21" name="Shape 19"/>
          <p:cNvSpPr/>
          <p:nvPr/>
        </p:nvSpPr>
        <p:spPr>
          <a:xfrm>
            <a:off x="11375968" y="2186564"/>
            <a:ext cx="0" cy="1927196"/>
          </a:xfrm>
          <a:prstGeom prst="line">
            <a:avLst/>
          </a:prstGeom>
          <a:noFill/>
          <a:ln w="6350">
            <a:solidFill>
              <a:srgbClr val="DCD8CE"/>
            </a:solidFill>
            <a:prstDash val="solid"/>
          </a:ln>
        </p:spPr>
      </p:sp>
      <p:sp>
        <p:nvSpPr>
          <p:cNvPr id="22" name="Shape 20"/>
          <p:cNvSpPr/>
          <p:nvPr/>
        </p:nvSpPr>
        <p:spPr>
          <a:xfrm>
            <a:off x="6273713" y="4110585"/>
            <a:ext cx="5105430" cy="0"/>
          </a:xfrm>
          <a:prstGeom prst="line">
            <a:avLst/>
          </a:prstGeom>
          <a:noFill/>
          <a:ln w="6350">
            <a:solidFill>
              <a:srgbClr val="DCD8CE"/>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283120" y="2195972"/>
          <a:ext cx="5091319" cy="1913085"/>
        </p:xfrm>
        <a:graphic>
          <a:graphicData uri="http://schemas.openxmlformats.org/drawingml/2006/table">
            <a:tbl>
              <a:tblPr/>
              <a:tblGrid>
                <a:gridCol w="1323743">
                  <a:extLst>
                    <a:ext uri="{9D8B030D-6E8A-4147-A177-3AD203B41FA5}">
                      <a16:colId xmlns:a16="http://schemas.microsoft.com/office/drawing/2014/main" val="20000"/>
                    </a:ext>
                  </a:extLst>
                </a:gridCol>
                <a:gridCol w="3767576">
                  <a:extLst>
                    <a:ext uri="{9D8B030D-6E8A-4147-A177-3AD203B41FA5}">
                      <a16:colId xmlns:a16="http://schemas.microsoft.com/office/drawing/2014/main" val="20001"/>
                    </a:ext>
                  </a:extLst>
                </a:gridCol>
              </a:tblGrid>
              <a:tr h="382617">
                <a:tc>
                  <a:txBody>
                    <a:bodyPr/>
                    <a:lstStyle/>
                    <a:p>
                      <a:pPr marL="0" indent="0" algn="r">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Số video</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Nhãn khớp với</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extLst>
                  <a:ext uri="{0D108BD9-81ED-4DB2-BD59-A6C34878D82A}">
                    <a16:rowId xmlns:a16="http://schemas.microsoft.com/office/drawing/2014/main" val="10000"/>
                  </a:ext>
                </a:extLst>
              </a:tr>
              <a:tr h="382617">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128</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Hai cách đếm như nhau</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1"/>
                  </a:ext>
                </a:extLst>
              </a:tr>
              <a:tr h="382617">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57</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Số chunk (tính cả frame bị bỏ)</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2"/>
                  </a:ext>
                </a:extLst>
              </a:tr>
              <a:tr h="382617">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4</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Số frame giải mã</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3"/>
                  </a:ext>
                </a:extLst>
              </a:tr>
              <a:tr h="382617">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11</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0B5A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5AB"/>
                      </a:solidFill>
                      <a:prstDash val="solid"/>
                      <a:round/>
                      <a:headEnd type="none" w="med" len="med"/>
                      <a:tailEnd type="none" w="med" len="med"/>
                    </a:lnB>
                    <a:solidFill>
                      <a:srgbClr val="F1E3D6"/>
                    </a:solidFill>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Không khớp cách nào → loại</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0B5AB"/>
                      </a:solidFill>
                      <a:prstDash val="solid"/>
                      <a:round/>
                      <a:headEnd type="none" w="med" len="med"/>
                      <a:tailEnd type="none" w="med" len="med"/>
                    </a:lnL>
                    <a:lnR w="12700" cap="flat" cmpd="sng" algn="ctr">
                      <a:solidFill>
                        <a:srgbClr val="C0B5A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5AB"/>
                      </a:solidFill>
                      <a:prstDash val="solid"/>
                      <a:round/>
                      <a:headEnd type="none" w="med" len="med"/>
                      <a:tailEnd type="none" w="med" len="med"/>
                    </a:lnB>
                    <a:solidFill>
                      <a:srgbClr val="F1E3D6"/>
                    </a:solidFill>
                  </a:tcPr>
                </a:tc>
                <a:extLst>
                  <a:ext uri="{0D108BD9-81ED-4DB2-BD59-A6C34878D82A}">
                    <a16:rowId xmlns:a16="http://schemas.microsoft.com/office/drawing/2014/main" val="10004"/>
                  </a:ext>
                </a:extLst>
              </a:tr>
            </a:tbl>
          </a:graphicData>
        </a:graphic>
      </p:graphicFrame>
      <p:sp>
        <p:nvSpPr>
          <p:cNvPr id="24" name="Shape 21"/>
          <p:cNvSpPr/>
          <p:nvPr/>
        </p:nvSpPr>
        <p:spPr>
          <a:xfrm>
            <a:off x="6273713" y="4228046"/>
            <a:ext cx="5105430" cy="1180924"/>
          </a:xfrm>
          <a:prstGeom prst="rect">
            <a:avLst/>
          </a:prstGeom>
          <a:solidFill>
            <a:srgbClr val="FDFCF9"/>
          </a:solidFill>
          <a:ln/>
        </p:spPr>
      </p:sp>
      <p:sp>
        <p:nvSpPr>
          <p:cNvPr id="25" name="Shape 22"/>
          <p:cNvSpPr/>
          <p:nvPr/>
        </p:nvSpPr>
        <p:spPr>
          <a:xfrm>
            <a:off x="6292763" y="4228046"/>
            <a:ext cx="0" cy="1180924"/>
          </a:xfrm>
          <a:prstGeom prst="line">
            <a:avLst/>
          </a:prstGeom>
          <a:noFill/>
          <a:ln w="38100">
            <a:solidFill>
              <a:srgbClr val="2A5A9B"/>
            </a:solidFill>
            <a:prstDash val="solid"/>
          </a:ln>
        </p:spPr>
      </p:sp>
      <p:sp>
        <p:nvSpPr>
          <p:cNvPr id="26" name="Text 23"/>
          <p:cNvSpPr/>
          <p:nvPr/>
        </p:nvSpPr>
        <p:spPr>
          <a:xfrm>
            <a:off x="6489128" y="4354971"/>
            <a:ext cx="4853597"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Kiểm vị trí bằng điểm mốc</a:t>
            </a:r>
            <a:endParaRPr lang="en-US" sz="1400" dirty="0"/>
          </a:p>
        </p:txBody>
      </p:sp>
      <p:sp>
        <p:nvSpPr>
          <p:cNvPr id="27" name="Text 24"/>
          <p:cNvSpPr/>
          <p:nvPr/>
        </p:nvSpPr>
        <p:spPr>
          <a:xfrm>
            <a:off x="6600634" y="4619042"/>
            <a:ext cx="4734471" cy="688402"/>
          </a:xfrm>
          <a:prstGeom prst="rect">
            <a:avLst/>
          </a:prstGeom>
          <a:noFill/>
          <a:ln/>
        </p:spPr>
        <p:txBody>
          <a:bodyPr wrap="square" lIns="0" tIns="0" rIns="0" bIns="0" rtlCol="0" anchor="t">
            <a:normAutofit/>
          </a:bodyPr>
          <a:lstStyle/>
          <a:p>
            <a:pPr marL="142494" indent="-142494" algn="l">
              <a:lnSpc>
                <a:spcPts val="174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Dịch nhãn ±70 frame quanh ranh giới “có tay ↔ không tay”</a:t>
            </a:r>
            <a:endParaRPr lang="en-US" sz="1200" dirty="0"/>
          </a:p>
          <a:p>
            <a:pPr marL="142494" indent="-142494" algn="l">
              <a:lnSpc>
                <a:spcPts val="174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Độ nhiễu của phép đo: −2…+6 frame</a:t>
            </a:r>
            <a:endParaRPr lang="en-US" sz="1200" dirty="0"/>
          </a:p>
          <a:p>
            <a:pPr marL="142494" indent="-142494" algn="l">
              <a:lnSpc>
                <a:spcPts val="174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Cách đếm sai trôi tới 40–60 frame</a:t>
            </a:r>
            <a:endParaRPr lang="en-US" sz="1200" dirty="0"/>
          </a:p>
        </p:txBody>
      </p:sp>
      <p:sp>
        <p:nvSpPr>
          <p:cNvPr id="28" name="Text 25"/>
          <p:cNvSpPr/>
          <p:nvPr/>
        </p:nvSpPr>
        <p:spPr>
          <a:xfrm>
            <a:off x="812785" y="6238218"/>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5F6878"/>
                </a:solidFill>
                <a:latin typeface="Times New Roman" pitchFamily="18" charset="0"/>
                <a:ea typeface="Times New Roman" pitchFamily="18" charset="-122"/>
                <a:cs typeface="Times New Roman" pitchFamily="18" charset="-120"/>
              </a:rPr>
              <a:t>tiến</a:t>
            </a:r>
            <a:r>
              <a:rPr lang="en-US" sz="1200" dirty="0">
                <a:solidFill>
                  <a:srgbClr val="5F6878"/>
                </a:solidFill>
                <a:latin typeface="Times New Roman" pitchFamily="18" charset="0"/>
                <a:ea typeface="Times New Roman" pitchFamily="18" charset="-122"/>
                <a:cs typeface="Times New Roman" pitchFamily="18" charset="-120"/>
              </a:rPr>
              <a:t> </a:t>
            </a:r>
            <a:r>
              <a:rPr lang="en-US" sz="1200" dirty="0" err="1" smtClean="0">
                <a:solidFill>
                  <a:srgbClr val="5F6878"/>
                </a:solidFill>
                <a:latin typeface="Times New Roman" pitchFamily="18" charset="0"/>
                <a:ea typeface="Times New Roman" pitchFamily="18" charset="-122"/>
                <a:cs typeface="Times New Roman" pitchFamily="18" charset="-120"/>
              </a:rPr>
              <a:t>độ</a:t>
            </a:r>
            <a:endParaRPr lang="en-US" sz="1200" dirty="0"/>
          </a:p>
        </p:txBody>
      </p:sp>
      <p:sp>
        <p:nvSpPr>
          <p:cNvPr id="29" name="Text 26"/>
          <p:cNvSpPr/>
          <p:nvPr/>
        </p:nvSpPr>
        <p:spPr>
          <a:xfrm>
            <a:off x="10871230" y="6238218"/>
            <a:ext cx="507912"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07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5" y="711138"/>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6"/>
                </a:solidFill>
                <a:latin typeface="Times New Roman" pitchFamily="18" charset="0"/>
                <a:ea typeface="Times New Roman" pitchFamily="18" charset="-122"/>
                <a:cs typeface="Times New Roman" pitchFamily="18" charset="-120"/>
              </a:rPr>
              <a:t>DỮ LIỆU IPN</a:t>
            </a:r>
            <a:endParaRPr lang="en-US" sz="1200" dirty="0"/>
          </a:p>
        </p:txBody>
      </p:sp>
      <p:sp>
        <p:nvSpPr>
          <p:cNvPr id="3" name="Text 1"/>
          <p:cNvSpPr>
            <a:spLocks noGrp="1"/>
          </p:cNvSpPr>
          <p:nvPr>
            <p:ph type="title"/>
          </p:nvPr>
        </p:nvSpPr>
        <p:spPr>
          <a:xfrm>
            <a:off x="812785" y="987921"/>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5233F"/>
                </a:solidFill>
                <a:latin typeface="Times New Roman" pitchFamily="18" charset="0"/>
                <a:ea typeface="Times New Roman" pitchFamily="18" charset="-122"/>
                <a:cs typeface="Times New Roman" pitchFamily="18" charset="-120"/>
              </a:rPr>
              <a:t>Trích điểm mốc toàn bộ IPN và đo quy ước hướng</a:t>
            </a:r>
            <a:endParaRPr lang="en-US" sz="3000" dirty="0"/>
          </a:p>
        </p:txBody>
      </p:sp>
      <p:sp>
        <p:nvSpPr>
          <p:cNvPr id="4" name="Shape 2"/>
          <p:cNvSpPr/>
          <p:nvPr/>
        </p:nvSpPr>
        <p:spPr>
          <a:xfrm>
            <a:off x="812785" y="1610134"/>
            <a:ext cx="3386667" cy="3243572"/>
          </a:xfrm>
          <a:prstGeom prst="rect">
            <a:avLst/>
          </a:prstGeom>
          <a:solidFill>
            <a:srgbClr val="FDFCF9"/>
          </a:solidFill>
          <a:ln/>
        </p:spPr>
      </p:sp>
      <p:sp>
        <p:nvSpPr>
          <p:cNvPr id="5" name="Shape 3"/>
          <p:cNvSpPr/>
          <p:nvPr/>
        </p:nvSpPr>
        <p:spPr>
          <a:xfrm>
            <a:off x="812785" y="1622834"/>
            <a:ext cx="3386667" cy="0"/>
          </a:xfrm>
          <a:prstGeom prst="line">
            <a:avLst/>
          </a:prstGeom>
          <a:noFill/>
          <a:ln w="25400">
            <a:solidFill>
              <a:srgbClr val="15233F"/>
            </a:solidFill>
            <a:prstDash val="solid"/>
          </a:ln>
        </p:spPr>
      </p:sp>
      <p:sp>
        <p:nvSpPr>
          <p:cNvPr id="6" name="Text 4"/>
          <p:cNvSpPr/>
          <p:nvPr/>
        </p:nvSpPr>
        <p:spPr>
          <a:xfrm>
            <a:off x="977856" y="1773293"/>
            <a:ext cx="3148222"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Trích điểm mốc</a:t>
            </a:r>
            <a:endParaRPr lang="en-US" sz="1400" dirty="0"/>
          </a:p>
        </p:txBody>
      </p:sp>
      <p:sp>
        <p:nvSpPr>
          <p:cNvPr id="7" name="Text 5"/>
          <p:cNvSpPr/>
          <p:nvPr/>
        </p:nvSpPr>
        <p:spPr>
          <a:xfrm>
            <a:off x="977856" y="2050002"/>
            <a:ext cx="3148222"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15233F"/>
                </a:solidFill>
                <a:latin typeface="Times New Roman" pitchFamily="18" charset="0"/>
                <a:ea typeface="Times New Roman" pitchFamily="18" charset="-122"/>
                <a:cs typeface="Times New Roman" pitchFamily="18" charset="-120"/>
              </a:rPr>
              <a:t>200/200</a:t>
            </a:r>
            <a:endParaRPr lang="en-US" sz="3000" dirty="0"/>
          </a:p>
        </p:txBody>
      </p:sp>
      <p:sp>
        <p:nvSpPr>
          <p:cNvPr id="8" name="Text 6"/>
          <p:cNvSpPr/>
          <p:nvPr/>
        </p:nvSpPr>
        <p:spPr>
          <a:xfrm>
            <a:off x="977856" y="2494434"/>
            <a:ext cx="3148222"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video, 0 lỗi</a:t>
            </a:r>
            <a:endParaRPr lang="en-US" sz="1200" dirty="0"/>
          </a:p>
        </p:txBody>
      </p:sp>
      <p:sp>
        <p:nvSpPr>
          <p:cNvPr id="9" name="Text 7"/>
          <p:cNvSpPr/>
          <p:nvPr/>
        </p:nvSpPr>
        <p:spPr>
          <a:xfrm>
            <a:off x="1089362" y="2771217"/>
            <a:ext cx="3029096" cy="1671108"/>
          </a:xfrm>
          <a:prstGeom prst="rect">
            <a:avLst/>
          </a:prstGeom>
          <a:noFill/>
          <a:ln/>
        </p:spPr>
        <p:txBody>
          <a:bodyPr wrap="square" lIns="0" tIns="0" rIns="0" bIns="0" rtlCol="0" anchor="t">
            <a:normAutofit/>
          </a:bodyPr>
          <a:lstStyle/>
          <a:p>
            <a:pPr marL="142494" indent="-142494" algn="l">
              <a:lnSpc>
                <a:spcPts val="162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2,27 giờ với 4 tiến trình song song; chạy lại thì tiếp tục, không làm lại từ đầu</a:t>
            </a:r>
            <a:endParaRPr lang="en-US" sz="1200" dirty="0"/>
          </a:p>
          <a:p>
            <a:pPr marL="142494" indent="-142494" algn="l">
              <a:lnSpc>
                <a:spcPts val="162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Lưu toạ độ thô chưa chuẩn hoá, kèm mốc thời gian, cờ có tay, đoạn nhãn</a:t>
            </a:r>
            <a:endParaRPr lang="en-US" sz="1200" dirty="0"/>
          </a:p>
          <a:p>
            <a:pPr marL="142494" indent="-142494" algn="l">
              <a:lnSpc>
                <a:spcPts val="162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Kiểm lại toàn bộ sau khi trích</a:t>
            </a:r>
            <a:endParaRPr lang="en-US" sz="1200" dirty="0"/>
          </a:p>
          <a:p>
            <a:pPr marL="142494" indent="-142494" algn="l">
              <a:lnSpc>
                <a:spcPts val="162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Chạy trên máy, không dùng Colab, để giữ đúng phiên bản thư viện của hệ thống chạy thật</a:t>
            </a:r>
            <a:endParaRPr lang="en-US" sz="1200" dirty="0"/>
          </a:p>
        </p:txBody>
      </p:sp>
      <p:sp>
        <p:nvSpPr>
          <p:cNvPr id="10" name="Shape 8"/>
          <p:cNvSpPr/>
          <p:nvPr/>
        </p:nvSpPr>
        <p:spPr>
          <a:xfrm>
            <a:off x="4402594" y="1610134"/>
            <a:ext cx="3386667" cy="3243572"/>
          </a:xfrm>
          <a:prstGeom prst="rect">
            <a:avLst/>
          </a:prstGeom>
          <a:solidFill>
            <a:srgbClr val="FDFCF9"/>
          </a:solidFill>
          <a:ln/>
        </p:spPr>
      </p:sp>
      <p:sp>
        <p:nvSpPr>
          <p:cNvPr id="11" name="Shape 9"/>
          <p:cNvSpPr/>
          <p:nvPr/>
        </p:nvSpPr>
        <p:spPr>
          <a:xfrm>
            <a:off x="4402594" y="1622834"/>
            <a:ext cx="3386667" cy="0"/>
          </a:xfrm>
          <a:prstGeom prst="line">
            <a:avLst/>
          </a:prstGeom>
          <a:noFill/>
          <a:ln w="25400">
            <a:solidFill>
              <a:srgbClr val="A84E16"/>
            </a:solidFill>
            <a:prstDash val="solid"/>
          </a:ln>
        </p:spPr>
      </p:sp>
      <p:sp>
        <p:nvSpPr>
          <p:cNvPr id="12" name="Text 10"/>
          <p:cNvSpPr/>
          <p:nvPr/>
        </p:nvSpPr>
        <p:spPr>
          <a:xfrm>
            <a:off x="4567664" y="1773293"/>
            <a:ext cx="3148222"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Quy ước hướng · đo trên 189 đoạn</a:t>
            </a:r>
            <a:endParaRPr lang="en-US" sz="1400" dirty="0"/>
          </a:p>
        </p:txBody>
      </p:sp>
      <p:sp>
        <p:nvSpPr>
          <p:cNvPr id="13" name="Shape 11"/>
          <p:cNvSpPr/>
          <p:nvPr/>
        </p:nvSpPr>
        <p:spPr>
          <a:xfrm>
            <a:off x="7621015" y="2062721"/>
            <a:ext cx="0" cy="1002109"/>
          </a:xfrm>
          <a:prstGeom prst="line">
            <a:avLst/>
          </a:prstGeom>
          <a:noFill/>
          <a:ln w="6350">
            <a:solidFill>
              <a:srgbClr val="DCD8CE"/>
            </a:solidFill>
            <a:prstDash val="solid"/>
          </a:ln>
        </p:spPr>
      </p:sp>
      <p:sp>
        <p:nvSpPr>
          <p:cNvPr id="14" name="Shape 12"/>
          <p:cNvSpPr/>
          <p:nvPr/>
        </p:nvSpPr>
        <p:spPr>
          <a:xfrm>
            <a:off x="4567664" y="3061655"/>
            <a:ext cx="3056526" cy="0"/>
          </a:xfrm>
          <a:prstGeom prst="line">
            <a:avLst/>
          </a:prstGeom>
          <a:noFill/>
          <a:ln w="6350">
            <a:solidFill>
              <a:srgbClr val="DCD8CE"/>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7072" y="2072128"/>
          <a:ext cx="3042415" cy="987999"/>
        </p:xfrm>
        <a:graphic>
          <a:graphicData uri="http://schemas.openxmlformats.org/drawingml/2006/table">
            <a:tbl>
              <a:tblPr/>
              <a:tblGrid>
                <a:gridCol w="1277814">
                  <a:extLst>
                    <a:ext uri="{9D8B030D-6E8A-4147-A177-3AD203B41FA5}">
                      <a16:colId xmlns:a16="http://schemas.microsoft.com/office/drawing/2014/main" val="20000"/>
                    </a:ext>
                  </a:extLst>
                </a:gridCol>
                <a:gridCol w="1764601">
                  <a:extLst>
                    <a:ext uri="{9D8B030D-6E8A-4147-A177-3AD203B41FA5}">
                      <a16:colId xmlns:a16="http://schemas.microsoft.com/office/drawing/2014/main" val="20001"/>
                    </a:ext>
                  </a:extLst>
                </a:gridCol>
              </a:tblGrid>
              <a:tr h="329333">
                <a:tc>
                  <a:txBody>
                    <a:bodyPr/>
                    <a:lstStyle/>
                    <a:p>
                      <a:pPr marL="0" indent="0">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Lớp</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Trung vị dời ngang</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extLst>
                  <a:ext uri="{0D108BD9-81ED-4DB2-BD59-A6C34878D82A}">
                    <a16:rowId xmlns:a16="http://schemas.microsoft.com/office/drawing/2014/main" val="10000"/>
                  </a:ext>
                </a:extLst>
              </a:tr>
              <a:tr h="329333">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Hất trái</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+0,46 lòng bàn tay</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1"/>
                  </a:ext>
                </a:extLst>
              </a:tr>
              <a:tr h="329333">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Hất phải</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−0,54 lòng bàn tay</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6" name="Text 13"/>
          <p:cNvSpPr/>
          <p:nvPr/>
        </p:nvSpPr>
        <p:spPr>
          <a:xfrm>
            <a:off x="4567664" y="3140968"/>
            <a:ext cx="3148222"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84E16"/>
                </a:solidFill>
                <a:latin typeface="Times New Roman" pitchFamily="18" charset="0"/>
                <a:ea typeface="Times New Roman" pitchFamily="18" charset="-122"/>
                <a:cs typeface="Times New Roman" pitchFamily="18" charset="-120"/>
              </a:rPr>
              <a:t>→ Hằng số hướng = +1</a:t>
            </a:r>
            <a:endParaRPr lang="en-US" sz="1800" dirty="0"/>
          </a:p>
        </p:txBody>
      </p:sp>
      <p:sp>
        <p:nvSpPr>
          <p:cNvPr id="17" name="Text 14"/>
          <p:cNvSpPr/>
          <p:nvPr/>
        </p:nvSpPr>
        <p:spPr>
          <a:xfrm>
            <a:off x="4567664" y="3537111"/>
            <a:ext cx="314822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“Hất trái” là tay đi về bên trái </a:t>
            </a:r>
            <a:r>
              <a:rPr lang="en-US" sz="1200" b="1" dirty="0">
                <a:solidFill>
                  <a:srgbClr val="3B4558"/>
                </a:solidFill>
                <a:latin typeface="Times New Roman" pitchFamily="18" charset="0"/>
                <a:ea typeface="Times New Roman" pitchFamily="18" charset="-122"/>
                <a:cs typeface="Times New Roman" pitchFamily="18" charset="-120"/>
              </a:rPr>
              <a:t>của chính người làm</a:t>
            </a:r>
            <a:endParaRPr lang="en-US" sz="1200" dirty="0"/>
          </a:p>
        </p:txBody>
      </p:sp>
      <p:pic>
        <p:nvPicPr>
          <p:cNvPr id="18" name="Image 0" descr="line"/>
          <p:cNvPicPr>
            <a:picLocks noChangeAspect="1"/>
          </p:cNvPicPr>
          <p:nvPr/>
        </p:nvPicPr>
        <p:blipFill>
          <a:blip r:embed="rId3"/>
          <a:srcRect l="-39" r="-39"/>
          <a:stretch/>
        </p:blipFill>
        <p:spPr>
          <a:xfrm>
            <a:off x="4567664" y="4024678"/>
            <a:ext cx="3056526" cy="6350"/>
          </a:xfrm>
          <a:prstGeom prst="rect">
            <a:avLst/>
          </a:prstGeom>
        </p:spPr>
      </p:pic>
      <p:sp>
        <p:nvSpPr>
          <p:cNvPr id="19" name="Text 15"/>
          <p:cNvSpPr/>
          <p:nvPr/>
        </p:nvSpPr>
        <p:spPr>
          <a:xfrm>
            <a:off x="4567664" y="4107142"/>
            <a:ext cx="314822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Zoom: thay đổi độ xòe +0,20 (zoom in), −0,30 (zoom out) → bảng ánh xạ đúng chiều</a:t>
            </a:r>
            <a:endParaRPr lang="en-US" sz="1200" dirty="0"/>
          </a:p>
        </p:txBody>
      </p:sp>
      <p:sp>
        <p:nvSpPr>
          <p:cNvPr id="20" name="Shape 16"/>
          <p:cNvSpPr/>
          <p:nvPr/>
        </p:nvSpPr>
        <p:spPr>
          <a:xfrm>
            <a:off x="7992402" y="1610134"/>
            <a:ext cx="3386667" cy="3243572"/>
          </a:xfrm>
          <a:prstGeom prst="rect">
            <a:avLst/>
          </a:prstGeom>
          <a:solidFill>
            <a:srgbClr val="FDFCF9"/>
          </a:solidFill>
          <a:ln/>
        </p:spPr>
      </p:sp>
      <p:sp>
        <p:nvSpPr>
          <p:cNvPr id="21" name="Shape 17"/>
          <p:cNvSpPr/>
          <p:nvPr/>
        </p:nvSpPr>
        <p:spPr>
          <a:xfrm>
            <a:off x="7992402" y="1622834"/>
            <a:ext cx="3386667" cy="0"/>
          </a:xfrm>
          <a:prstGeom prst="line">
            <a:avLst/>
          </a:prstGeom>
          <a:noFill/>
          <a:ln w="25400">
            <a:solidFill>
              <a:srgbClr val="15233F"/>
            </a:solidFill>
            <a:prstDash val="solid"/>
          </a:ln>
        </p:spPr>
      </p:sp>
      <p:sp>
        <p:nvSpPr>
          <p:cNvPr id="22" name="Text 18"/>
          <p:cNvSpPr/>
          <p:nvPr/>
        </p:nvSpPr>
        <p:spPr>
          <a:xfrm>
            <a:off x="8157473" y="1773293"/>
            <a:ext cx="3148222"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Bộ cử chỉ</a:t>
            </a:r>
            <a:endParaRPr lang="en-US" sz="1400" dirty="0"/>
          </a:p>
        </p:txBody>
      </p:sp>
      <p:sp>
        <p:nvSpPr>
          <p:cNvPr id="23" name="Text 19"/>
          <p:cNvSpPr/>
          <p:nvPr/>
        </p:nvSpPr>
        <p:spPr>
          <a:xfrm>
            <a:off x="8157473" y="2062721"/>
            <a:ext cx="3148222"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5233F"/>
                </a:solidFill>
                <a:latin typeface="Times New Roman" pitchFamily="18" charset="0"/>
                <a:ea typeface="Times New Roman" pitchFamily="18" charset="-122"/>
                <a:cs typeface="Times New Roman" pitchFamily="18" charset="-120"/>
              </a:rPr>
              <a:t>≈ 2 giây</a:t>
            </a:r>
            <a:endParaRPr lang="en-US" sz="1800" dirty="0"/>
          </a:p>
        </p:txBody>
      </p:sp>
      <p:sp>
        <p:nvSpPr>
          <p:cNvPr id="24" name="Text 20"/>
          <p:cNvSpPr/>
          <p:nvPr/>
        </p:nvSpPr>
        <p:spPr>
          <a:xfrm>
            <a:off x="8157473" y="2382720"/>
            <a:ext cx="3148222"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mỗi cử chỉ</a:t>
            </a:r>
            <a:endParaRPr lang="en-US" sz="1200" dirty="0"/>
          </a:p>
        </p:txBody>
      </p:sp>
      <p:sp>
        <p:nvSpPr>
          <p:cNvPr id="25" name="Text 21"/>
          <p:cNvSpPr/>
          <p:nvPr/>
        </p:nvSpPr>
        <p:spPr>
          <a:xfrm>
            <a:off x="8157473" y="2672215"/>
            <a:ext cx="3148222"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84E16"/>
                </a:solidFill>
                <a:latin typeface="Times New Roman" pitchFamily="18" charset="0"/>
                <a:ea typeface="Times New Roman" pitchFamily="18" charset="-122"/>
                <a:cs typeface="Times New Roman" pitchFamily="18" charset="-120"/>
              </a:rPr>
              <a:t>≈ 0,3 giây</a:t>
            </a:r>
            <a:endParaRPr lang="en-US" sz="1800" dirty="0"/>
          </a:p>
        </p:txBody>
      </p:sp>
      <p:sp>
        <p:nvSpPr>
          <p:cNvPr id="26" name="Text 22"/>
          <p:cNvSpPr/>
          <p:nvPr/>
        </p:nvSpPr>
        <p:spPr>
          <a:xfrm>
            <a:off x="8157473" y="2992214"/>
            <a:ext cx="3148222"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động tác chính</a:t>
            </a:r>
            <a:endParaRPr lang="en-US" sz="1200" dirty="0"/>
          </a:p>
        </p:txBody>
      </p:sp>
      <p:sp>
        <p:nvSpPr>
          <p:cNvPr id="27" name="Text 23"/>
          <p:cNvSpPr/>
          <p:nvPr/>
        </p:nvSpPr>
        <p:spPr>
          <a:xfrm>
            <a:off x="8157473" y="3281716"/>
            <a:ext cx="3148222"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5233F"/>
                </a:solidFill>
                <a:latin typeface="Times New Roman" pitchFamily="18" charset="0"/>
                <a:ea typeface="Times New Roman" pitchFamily="18" charset="-122"/>
                <a:cs typeface="Times New Roman" pitchFamily="18" charset="-120"/>
              </a:rPr>
              <a:t>≈ 90%</a:t>
            </a:r>
            <a:endParaRPr lang="en-US" sz="1800" dirty="0"/>
          </a:p>
        </p:txBody>
      </p:sp>
      <p:sp>
        <p:nvSpPr>
          <p:cNvPr id="28" name="Text 24"/>
          <p:cNvSpPr/>
          <p:nvPr/>
        </p:nvSpPr>
        <p:spPr>
          <a:xfrm>
            <a:off x="8157473" y="3601715"/>
            <a:ext cx="3148222"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cử chỉ dài hơn cửa sổ 1,2 giây</a:t>
            </a:r>
            <a:endParaRPr lang="en-US" sz="1200" dirty="0"/>
          </a:p>
        </p:txBody>
      </p:sp>
      <p:sp>
        <p:nvSpPr>
          <p:cNvPr id="29" name="Text 25"/>
          <p:cNvSpPr/>
          <p:nvPr/>
        </p:nvSpPr>
        <p:spPr>
          <a:xfrm>
            <a:off x="8157473" y="3891211"/>
            <a:ext cx="3148222"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5233F"/>
                </a:solidFill>
                <a:latin typeface="Times New Roman" pitchFamily="18" charset="0"/>
                <a:ea typeface="Times New Roman" pitchFamily="18" charset="-122"/>
                <a:cs typeface="Times New Roman" pitchFamily="18" charset="-120"/>
              </a:rPr>
              <a:t>3–6%</a:t>
            </a:r>
            <a:endParaRPr lang="en-US" sz="1800" dirty="0"/>
          </a:p>
        </p:txBody>
      </p:sp>
      <p:sp>
        <p:nvSpPr>
          <p:cNvPr id="30" name="Text 26"/>
          <p:cNvSpPr/>
          <p:nvPr/>
        </p:nvSpPr>
        <p:spPr>
          <a:xfrm>
            <a:off x="8157473" y="4211210"/>
            <a:ext cx="3148222"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frame mất tay trong cử chỉ</a:t>
            </a:r>
            <a:endParaRPr lang="en-US" sz="1200" dirty="0"/>
          </a:p>
        </p:txBody>
      </p:sp>
      <p:sp>
        <p:nvSpPr>
          <p:cNvPr id="31" name="Text 27"/>
          <p:cNvSpPr/>
          <p:nvPr/>
        </p:nvSpPr>
        <p:spPr>
          <a:xfrm>
            <a:off x="8157473" y="4500705"/>
            <a:ext cx="3148222" cy="238757"/>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F6878"/>
                </a:solidFill>
                <a:latin typeface="Times New Roman" pitchFamily="18" charset="0"/>
                <a:ea typeface="Times New Roman" pitchFamily="18" charset="-122"/>
                <a:cs typeface="Times New Roman" pitchFamily="18" charset="-120"/>
              </a:rPr>
              <a:t>Tài liệu hướng dẫn bộ cử chỉ đang ở bản nháp</a:t>
            </a:r>
            <a:endParaRPr lang="en-US" sz="1200" dirty="0"/>
          </a:p>
        </p:txBody>
      </p:sp>
      <p:sp>
        <p:nvSpPr>
          <p:cNvPr id="32" name="Text 28"/>
          <p:cNvSpPr/>
          <p:nvPr/>
        </p:nvSpPr>
        <p:spPr>
          <a:xfrm>
            <a:off x="812785" y="6238211"/>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5F6878"/>
                </a:solidFill>
                <a:latin typeface="Times New Roman" pitchFamily="18" charset="0"/>
                <a:ea typeface="Times New Roman" pitchFamily="18" charset="-122"/>
                <a:cs typeface="Times New Roman" pitchFamily="18" charset="-120"/>
              </a:rPr>
              <a:t>tiến</a:t>
            </a:r>
            <a:r>
              <a:rPr lang="en-US" sz="1200" dirty="0">
                <a:solidFill>
                  <a:srgbClr val="5F6878"/>
                </a:solidFill>
                <a:latin typeface="Times New Roman" pitchFamily="18" charset="0"/>
                <a:ea typeface="Times New Roman" pitchFamily="18" charset="-122"/>
                <a:cs typeface="Times New Roman" pitchFamily="18" charset="-120"/>
              </a:rPr>
              <a:t> </a:t>
            </a:r>
            <a:r>
              <a:rPr lang="en-US" sz="1200" dirty="0" err="1" smtClean="0">
                <a:solidFill>
                  <a:srgbClr val="5F6878"/>
                </a:solidFill>
                <a:latin typeface="Times New Roman" pitchFamily="18" charset="0"/>
                <a:ea typeface="Times New Roman" pitchFamily="18" charset="-122"/>
                <a:cs typeface="Times New Roman" pitchFamily="18" charset="-120"/>
              </a:rPr>
              <a:t>độ</a:t>
            </a:r>
            <a:endParaRPr lang="en-US" sz="1200" dirty="0"/>
          </a:p>
        </p:txBody>
      </p:sp>
      <p:sp>
        <p:nvSpPr>
          <p:cNvPr id="33" name="Text 29"/>
          <p:cNvSpPr/>
          <p:nvPr/>
        </p:nvSpPr>
        <p:spPr>
          <a:xfrm>
            <a:off x="10871230" y="6238211"/>
            <a:ext cx="507912"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08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5" y="711138"/>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6"/>
                </a:solidFill>
                <a:latin typeface="Times New Roman" pitchFamily="18" charset="0"/>
                <a:ea typeface="Times New Roman" pitchFamily="18" charset="-122"/>
                <a:cs typeface="Times New Roman" pitchFamily="18" charset="-120"/>
              </a:rPr>
              <a:t>DỮ LIỆU IPN</a:t>
            </a:r>
            <a:endParaRPr lang="en-US" sz="1200" dirty="0"/>
          </a:p>
        </p:txBody>
      </p:sp>
      <p:sp>
        <p:nvSpPr>
          <p:cNvPr id="3" name="Text 1"/>
          <p:cNvSpPr>
            <a:spLocks noGrp="1"/>
          </p:cNvSpPr>
          <p:nvPr>
            <p:ph type="title"/>
          </p:nvPr>
        </p:nvSpPr>
        <p:spPr>
          <a:xfrm>
            <a:off x="812785" y="987927"/>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5233F"/>
                </a:solidFill>
                <a:latin typeface="Times New Roman" pitchFamily="18" charset="0"/>
                <a:ea typeface="Times New Roman" pitchFamily="18" charset="-122"/>
                <a:cs typeface="Times New Roman" pitchFamily="18" charset="-120"/>
              </a:rPr>
              <a:t>Gán nhãn cửa sổ: neo vào khoảnh khắc chính</a:t>
            </a:r>
            <a:endParaRPr lang="en-US" sz="3000" dirty="0"/>
          </a:p>
        </p:txBody>
      </p:sp>
      <p:sp>
        <p:nvSpPr>
          <p:cNvPr id="4" name="Text 2"/>
          <p:cNvSpPr/>
          <p:nvPr/>
        </p:nvSpPr>
        <p:spPr>
          <a:xfrm>
            <a:off x="812785" y="1610134"/>
            <a:ext cx="3662605" cy="634971"/>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A84E16"/>
                </a:solidFill>
                <a:latin typeface="Times New Roman" pitchFamily="18" charset="0"/>
                <a:ea typeface="Times New Roman" pitchFamily="18" charset="-122"/>
                <a:cs typeface="Times New Roman" pitchFamily="18" charset="-120"/>
              </a:rPr>
              <a:t>49%</a:t>
            </a:r>
            <a:endParaRPr lang="en-US" sz="4800" dirty="0"/>
          </a:p>
        </p:txBody>
      </p:sp>
      <p:sp>
        <p:nvSpPr>
          <p:cNvPr id="5" name="Text 3"/>
          <p:cNvSpPr/>
          <p:nvPr/>
        </p:nvSpPr>
        <p:spPr>
          <a:xfrm>
            <a:off x="812785" y="2270491"/>
            <a:ext cx="3662605" cy="505325"/>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B4558"/>
                </a:solidFill>
                <a:latin typeface="Times New Roman" pitchFamily="18" charset="0"/>
                <a:ea typeface="Times New Roman" pitchFamily="18" charset="-122"/>
                <a:cs typeface="Times New Roman" pitchFamily="18" charset="-120"/>
              </a:rPr>
              <a:t>cửa sổ dương theo luật ban đầu (lớp chiếm ≥ 60% cửa sổ) </a:t>
            </a:r>
            <a:r>
              <a:rPr lang="en-US" sz="1400" b="1" dirty="0">
                <a:solidFill>
                  <a:srgbClr val="3B4558"/>
                </a:solidFill>
                <a:latin typeface="Times New Roman" pitchFamily="18" charset="0"/>
                <a:ea typeface="Times New Roman" pitchFamily="18" charset="-122"/>
                <a:cs typeface="Times New Roman" pitchFamily="18" charset="-120"/>
              </a:rPr>
              <a:t>không chứa động tác chính</a:t>
            </a:r>
            <a:endParaRPr lang="en-US" sz="1400" dirty="0"/>
          </a:p>
        </p:txBody>
      </p:sp>
      <p:sp>
        <p:nvSpPr>
          <p:cNvPr id="6" name="Text 4"/>
          <p:cNvSpPr/>
          <p:nvPr/>
        </p:nvSpPr>
        <p:spPr>
          <a:xfrm>
            <a:off x="4724283" y="1610134"/>
            <a:ext cx="6854505"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Giải pháp: neo nhãn vào khoảnh khắc chính</a:t>
            </a:r>
            <a:endParaRPr lang="en-US" sz="1400" dirty="0"/>
          </a:p>
        </p:txBody>
      </p:sp>
      <p:sp>
        <p:nvSpPr>
          <p:cNvPr id="7" name="Text 5"/>
          <p:cNvSpPr/>
          <p:nvPr/>
        </p:nvSpPr>
        <p:spPr>
          <a:xfrm>
            <a:off x="4821565" y="1886849"/>
            <a:ext cx="6749603" cy="985250"/>
          </a:xfrm>
          <a:prstGeom prst="rect">
            <a:avLst/>
          </a:prstGeom>
          <a:noFill/>
          <a:ln/>
        </p:spPr>
        <p:txBody>
          <a:bodyPr wrap="square" lIns="0" tIns="0" rIns="0" bIns="0" rtlCol="0" anchor="t">
            <a:normAutofit/>
          </a:bodyPr>
          <a:lstStyle/>
          <a:p>
            <a:pPr marL="156718" indent="-156718" algn="l">
              <a:lnSpc>
                <a:spcPts val="1890"/>
              </a:lnSpc>
              <a:buSzPct val="100000"/>
              <a:buChar char="•"/>
            </a:pPr>
            <a:r>
              <a:rPr lang="en-US" sz="1400" dirty="0">
                <a:solidFill>
                  <a:srgbClr val="3B4558"/>
                </a:solidFill>
                <a:latin typeface="Times New Roman" pitchFamily="18" charset="0"/>
                <a:ea typeface="Times New Roman" pitchFamily="18" charset="-122"/>
                <a:cs typeface="Times New Roman" pitchFamily="18" charset="-120"/>
              </a:rPr>
              <a:t>Khoảnh khắc chính = bước tín hiệu đổi nhanh nhất: vị trí ngang cổ tay (vuốt), độ mở cái–trỏ (zoom); làm mượt 3 bước, chỉ xét độ lớn, không xét dấu</a:t>
            </a:r>
            <a:endParaRPr lang="en-US" sz="1400" dirty="0"/>
          </a:p>
          <a:p>
            <a:pPr marL="156718" indent="-156718" algn="l">
              <a:lnSpc>
                <a:spcPts val="1890"/>
              </a:lnSpc>
              <a:buSzPct val="100000"/>
              <a:buChar char="•"/>
            </a:pPr>
            <a:r>
              <a:rPr lang="en-US" sz="1400" dirty="0">
                <a:solidFill>
                  <a:srgbClr val="3B4558"/>
                </a:solidFill>
                <a:latin typeface="Times New Roman" pitchFamily="18" charset="0"/>
                <a:ea typeface="Times New Roman" pitchFamily="18" charset="-122"/>
                <a:cs typeface="Times New Roman" pitchFamily="18" charset="-120"/>
              </a:rPr>
              <a:t>Cửa sổ dương khi khoảnh khắc chính cách hai mép ít nhất 3 bước</a:t>
            </a:r>
            <a:endParaRPr lang="en-US" sz="1400" dirty="0"/>
          </a:p>
          <a:p>
            <a:pPr marL="156718" indent="-156718" algn="l">
              <a:lnSpc>
                <a:spcPts val="1890"/>
              </a:lnSpc>
              <a:buSzPct val="100000"/>
              <a:buChar char="•"/>
            </a:pPr>
            <a:r>
              <a:rPr lang="en-US" sz="1400" dirty="0">
                <a:solidFill>
                  <a:srgbClr val="3B4558"/>
                </a:solidFill>
                <a:latin typeface="Times New Roman" pitchFamily="18" charset="0"/>
                <a:ea typeface="Times New Roman" pitchFamily="18" charset="-122"/>
                <a:cs typeface="Times New Roman" pitchFamily="18" charset="-120"/>
              </a:rPr>
              <a:t>Cửa sổ chạm cử chỉ mà không chứa khoảnh khắc chính → bỏ, không gán “không cử chỉ”</a:t>
            </a:r>
            <a:endParaRPr lang="en-US" sz="1400" dirty="0"/>
          </a:p>
        </p:txBody>
      </p:sp>
      <p:sp>
        <p:nvSpPr>
          <p:cNvPr id="8" name="Text 6"/>
          <p:cNvSpPr/>
          <p:nvPr/>
        </p:nvSpPr>
        <p:spPr>
          <a:xfrm>
            <a:off x="2400212" y="3049836"/>
            <a:ext cx="1511227"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Cử chỉ ≈ 2 giây</a:t>
            </a:r>
            <a:endParaRPr lang="en-US" sz="1200" dirty="0"/>
          </a:p>
        </p:txBody>
      </p:sp>
      <p:sp>
        <p:nvSpPr>
          <p:cNvPr id="9" name="Text 7"/>
          <p:cNvSpPr/>
          <p:nvPr/>
        </p:nvSpPr>
        <p:spPr>
          <a:xfrm>
            <a:off x="3860758" y="3049836"/>
            <a:ext cx="2616125" cy="238757"/>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A84E16"/>
                </a:solidFill>
                <a:latin typeface="Times New Roman" pitchFamily="18" charset="0"/>
                <a:ea typeface="Times New Roman" pitchFamily="18" charset="-122"/>
                <a:cs typeface="Times New Roman" pitchFamily="18" charset="-120"/>
              </a:rPr>
              <a:t>Động tác chính ≈ 0,3 giây</a:t>
            </a:r>
            <a:endParaRPr lang="en-US" sz="1200" dirty="0"/>
          </a:p>
        </p:txBody>
      </p:sp>
      <p:sp>
        <p:nvSpPr>
          <p:cNvPr id="10" name="Text 8"/>
          <p:cNvSpPr/>
          <p:nvPr/>
        </p:nvSpPr>
        <p:spPr>
          <a:xfrm>
            <a:off x="7690272" y="3049836"/>
            <a:ext cx="3688797"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Mỗi thanh dưới = một cửa sổ 1,2 giây</a:t>
            </a:r>
            <a:endParaRPr lang="en-US" sz="1200" dirty="0"/>
          </a:p>
        </p:txBody>
      </p:sp>
      <p:sp>
        <p:nvSpPr>
          <p:cNvPr id="11" name="Text 9"/>
          <p:cNvSpPr/>
          <p:nvPr/>
        </p:nvSpPr>
        <p:spPr>
          <a:xfrm>
            <a:off x="812785" y="3265692"/>
            <a:ext cx="1587427" cy="292071"/>
          </a:xfrm>
          <a:prstGeom prst="rect">
            <a:avLst/>
          </a:prstGeom>
          <a:solidFill>
            <a:srgbClr val="E4E1D8"/>
          </a:solidFill>
          <a:ln/>
        </p:spPr>
        <p:txBody>
          <a:bodyPr wrap="square" lIns="0" tIns="0" rIns="0" bIns="0" rtlCol="0" anchor="ctr">
            <a:normAutofit/>
          </a:bodyPr>
          <a:lstStyle/>
          <a:p>
            <a:pPr marL="0" indent="0" algn="ct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Không cử chỉ</a:t>
            </a:r>
            <a:endParaRPr lang="en-US" sz="1200" dirty="0"/>
          </a:p>
        </p:txBody>
      </p:sp>
      <p:sp>
        <p:nvSpPr>
          <p:cNvPr id="12" name="Text 10"/>
          <p:cNvSpPr/>
          <p:nvPr/>
        </p:nvSpPr>
        <p:spPr>
          <a:xfrm>
            <a:off x="2400212" y="3265692"/>
            <a:ext cx="2374856" cy="292071"/>
          </a:xfrm>
          <a:prstGeom prst="rect">
            <a:avLst/>
          </a:prstGeom>
          <a:solidFill>
            <a:srgbClr val="CFDAEA"/>
          </a:solidFill>
          <a:ln/>
        </p:spPr>
        <p:txBody>
          <a:bodyPr wrap="square" lIns="0" tIns="0" rIns="0" bIns="0" rtlCol="0" anchor="ctr">
            <a:normAutofit/>
          </a:bodyPr>
          <a:lstStyle/>
          <a:p>
            <a:pPr marL="0" indent="0" algn="ctr">
              <a:lnSpc>
                <a:spcPts val="1680"/>
              </a:lnSpc>
              <a:buNone/>
            </a:pPr>
            <a:r>
              <a:rPr lang="en-US" sz="1200" dirty="0">
                <a:solidFill>
                  <a:srgbClr val="15233F"/>
                </a:solidFill>
                <a:latin typeface="Times New Roman" pitchFamily="18" charset="0"/>
                <a:ea typeface="Times New Roman" pitchFamily="18" charset="-122"/>
                <a:cs typeface="Times New Roman" pitchFamily="18" charset="-120"/>
              </a:rPr>
              <a:t>Chuẩn bị</a:t>
            </a:r>
            <a:endParaRPr lang="en-US" sz="1200" dirty="0"/>
          </a:p>
        </p:txBody>
      </p:sp>
      <p:sp>
        <p:nvSpPr>
          <p:cNvPr id="13" name="Shape 11"/>
          <p:cNvSpPr/>
          <p:nvPr/>
        </p:nvSpPr>
        <p:spPr>
          <a:xfrm>
            <a:off x="4775142" y="3265692"/>
            <a:ext cx="793677" cy="292071"/>
          </a:xfrm>
          <a:prstGeom prst="rect">
            <a:avLst/>
          </a:prstGeom>
          <a:solidFill>
            <a:srgbClr val="A84E16"/>
          </a:solidFill>
          <a:ln/>
        </p:spPr>
      </p:sp>
      <p:sp>
        <p:nvSpPr>
          <p:cNvPr id="14" name="Text 12"/>
          <p:cNvSpPr/>
          <p:nvPr/>
        </p:nvSpPr>
        <p:spPr>
          <a:xfrm>
            <a:off x="5568892" y="3265692"/>
            <a:ext cx="2114536" cy="292071"/>
          </a:xfrm>
          <a:prstGeom prst="rect">
            <a:avLst/>
          </a:prstGeom>
          <a:solidFill>
            <a:srgbClr val="CFDAEA"/>
          </a:solidFill>
          <a:ln/>
        </p:spPr>
        <p:txBody>
          <a:bodyPr wrap="square" lIns="0" tIns="0" rIns="0" bIns="0" rtlCol="0" anchor="ctr">
            <a:normAutofit/>
          </a:bodyPr>
          <a:lstStyle/>
          <a:p>
            <a:pPr marL="0" indent="0" algn="ctr">
              <a:lnSpc>
                <a:spcPts val="1680"/>
              </a:lnSpc>
              <a:buNone/>
            </a:pPr>
            <a:r>
              <a:rPr lang="en-US" sz="1200" dirty="0">
                <a:solidFill>
                  <a:srgbClr val="15233F"/>
                </a:solidFill>
                <a:latin typeface="Times New Roman" pitchFamily="18" charset="0"/>
                <a:ea typeface="Times New Roman" pitchFamily="18" charset="-122"/>
                <a:cs typeface="Times New Roman" pitchFamily="18" charset="-120"/>
              </a:rPr>
              <a:t>Thu tay</a:t>
            </a:r>
            <a:endParaRPr lang="en-US" sz="1200" dirty="0"/>
          </a:p>
        </p:txBody>
      </p:sp>
      <p:sp>
        <p:nvSpPr>
          <p:cNvPr id="15" name="Text 13"/>
          <p:cNvSpPr/>
          <p:nvPr/>
        </p:nvSpPr>
        <p:spPr>
          <a:xfrm>
            <a:off x="7683427" y="3265692"/>
            <a:ext cx="3695642" cy="292071"/>
          </a:xfrm>
          <a:prstGeom prst="rect">
            <a:avLst/>
          </a:prstGeom>
          <a:solidFill>
            <a:srgbClr val="E4E1D8"/>
          </a:solidFill>
          <a:ln/>
        </p:spPr>
        <p:txBody>
          <a:bodyPr wrap="square" lIns="0" tIns="0" rIns="0" bIns="0" rtlCol="0" anchor="ctr">
            <a:normAutofit/>
          </a:bodyPr>
          <a:lstStyle/>
          <a:p>
            <a:pPr marL="0" indent="0" algn="ct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Không cử chỉ</a:t>
            </a:r>
            <a:endParaRPr lang="en-US" sz="1200" dirty="0"/>
          </a:p>
        </p:txBody>
      </p:sp>
      <p:sp>
        <p:nvSpPr>
          <p:cNvPr id="16" name="Text 14"/>
          <p:cNvSpPr/>
          <p:nvPr/>
        </p:nvSpPr>
        <p:spPr>
          <a:xfrm>
            <a:off x="819135" y="3640330"/>
            <a:ext cx="3155906" cy="241227"/>
          </a:xfrm>
          <a:prstGeom prst="roundRect">
            <a:avLst>
              <a:gd name="adj" fmla="val 13162"/>
            </a:avLst>
          </a:prstGeom>
          <a:solidFill>
            <a:srgbClr val="ECEAE3"/>
          </a:solidFill>
          <a:ln w="12700">
            <a:solidFill>
              <a:srgbClr val="8A93A3"/>
            </a:solidFill>
            <a:prstDash val="dash"/>
          </a:ln>
        </p:spPr>
        <p:txBody>
          <a:bodyPr wrap="square" lIns="95358" tIns="0" rIns="95358" bIns="0" rtlCol="0" anchor="ctr">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Bỏ: không chứa khoảnh khắc chính</a:t>
            </a:r>
            <a:endParaRPr lang="en-US" sz="1200" dirty="0"/>
          </a:p>
        </p:txBody>
      </p:sp>
      <p:sp>
        <p:nvSpPr>
          <p:cNvPr id="17" name="Text 15"/>
          <p:cNvSpPr/>
          <p:nvPr/>
        </p:nvSpPr>
        <p:spPr>
          <a:xfrm>
            <a:off x="3187642" y="3926123"/>
            <a:ext cx="3174927" cy="253927"/>
          </a:xfrm>
          <a:prstGeom prst="roundRect">
            <a:avLst>
              <a:gd name="adj" fmla="val 15004"/>
            </a:avLst>
          </a:prstGeom>
          <a:solidFill>
            <a:srgbClr val="A84E16"/>
          </a:solidFill>
          <a:ln/>
        </p:spPr>
        <p:txBody>
          <a:bodyPr wrap="square" lIns="90441" tIns="0" rIns="90441" bIns="0" rtlCol="0" anchor="ctr">
            <a:normAutofit/>
          </a:bodyPr>
          <a:lstStyle/>
          <a:p>
            <a:pPr marL="0" indent="0" algn="l">
              <a:lnSpc>
                <a:spcPts val="1680"/>
              </a:lnSpc>
              <a:buNone/>
            </a:pPr>
            <a:r>
              <a:rPr lang="en-US" sz="1200" b="1" dirty="0">
                <a:solidFill>
                  <a:srgbClr val="FDFCF9"/>
                </a:solidFill>
                <a:latin typeface="Times New Roman" pitchFamily="18" charset="0"/>
                <a:ea typeface="Times New Roman" pitchFamily="18" charset="-122"/>
                <a:cs typeface="Times New Roman" pitchFamily="18" charset="-120"/>
              </a:rPr>
              <a:t>Dương</a:t>
            </a:r>
            <a:endParaRPr lang="en-US" sz="1200" dirty="0"/>
          </a:p>
        </p:txBody>
      </p:sp>
      <p:sp>
        <p:nvSpPr>
          <p:cNvPr id="18" name="Text 16"/>
          <p:cNvSpPr/>
          <p:nvPr/>
        </p:nvSpPr>
        <p:spPr>
          <a:xfrm>
            <a:off x="4781492" y="4224542"/>
            <a:ext cx="3155906" cy="241227"/>
          </a:xfrm>
          <a:prstGeom prst="roundRect">
            <a:avLst>
              <a:gd name="adj" fmla="val 13162"/>
            </a:avLst>
          </a:prstGeom>
          <a:solidFill>
            <a:srgbClr val="ECEAE3"/>
          </a:solidFill>
          <a:ln w="12700">
            <a:solidFill>
              <a:srgbClr val="8A93A3"/>
            </a:solidFill>
            <a:prstDash val="dash"/>
          </a:ln>
        </p:spPr>
        <p:txBody>
          <a:bodyPr wrap="square" lIns="95358" tIns="0" rIns="95358" bIns="0" rtlCol="0" anchor="ctr">
            <a:normAutofit/>
          </a:bodyPr>
          <a:lstStyle/>
          <a:p>
            <a:pPr marL="0" indent="0" algn="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Bỏ: khoảnh khắc chính sát mép</a:t>
            </a:r>
            <a:endParaRPr lang="en-US" sz="1200" dirty="0"/>
          </a:p>
        </p:txBody>
      </p:sp>
      <p:sp>
        <p:nvSpPr>
          <p:cNvPr id="19" name="Text 17"/>
          <p:cNvSpPr/>
          <p:nvPr/>
        </p:nvSpPr>
        <p:spPr>
          <a:xfrm>
            <a:off x="7943821" y="4510261"/>
            <a:ext cx="3168606" cy="253927"/>
          </a:xfrm>
          <a:prstGeom prst="roundRect">
            <a:avLst>
              <a:gd name="adj" fmla="val 15004"/>
            </a:avLst>
          </a:prstGeom>
          <a:solidFill>
            <a:srgbClr val="2A5A9B"/>
          </a:solidFill>
          <a:ln/>
        </p:spPr>
        <p:txBody>
          <a:bodyPr wrap="square" lIns="90441" tIns="0" rIns="90441" bIns="0" rtlCol="0" anchor="ctr">
            <a:normAutofit/>
          </a:bodyPr>
          <a:lstStyle/>
          <a:p>
            <a:pPr marL="0" indent="0" algn="ctr">
              <a:lnSpc>
                <a:spcPts val="1680"/>
              </a:lnSpc>
              <a:buNone/>
            </a:pPr>
            <a:r>
              <a:rPr lang="en-US" sz="1200" dirty="0">
                <a:solidFill>
                  <a:srgbClr val="FDFCF9"/>
                </a:solidFill>
                <a:latin typeface="Times New Roman" pitchFamily="18" charset="0"/>
                <a:ea typeface="Times New Roman" pitchFamily="18" charset="-122"/>
                <a:cs typeface="Times New Roman" pitchFamily="18" charset="-120"/>
              </a:rPr>
              <a:t>Không cử chỉ</a:t>
            </a:r>
            <a:endParaRPr lang="en-US" sz="1200" dirty="0"/>
          </a:p>
        </p:txBody>
      </p:sp>
      <p:sp>
        <p:nvSpPr>
          <p:cNvPr id="20" name="Shape 18"/>
          <p:cNvSpPr/>
          <p:nvPr/>
        </p:nvSpPr>
        <p:spPr>
          <a:xfrm>
            <a:off x="5162462" y="3240261"/>
            <a:ext cx="19035" cy="1523927"/>
          </a:xfrm>
          <a:prstGeom prst="rect">
            <a:avLst/>
          </a:prstGeom>
          <a:solidFill>
            <a:srgbClr val="15233F"/>
          </a:solidFill>
          <a:ln/>
        </p:spPr>
      </p:sp>
      <p:sp>
        <p:nvSpPr>
          <p:cNvPr id="21" name="Text 19"/>
          <p:cNvSpPr/>
          <p:nvPr/>
        </p:nvSpPr>
        <p:spPr>
          <a:xfrm>
            <a:off x="812785" y="4967405"/>
            <a:ext cx="7046254" cy="43682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B4558"/>
                </a:solidFill>
                <a:latin typeface="Times New Roman" pitchFamily="18" charset="0"/>
                <a:ea typeface="Times New Roman" pitchFamily="18" charset="-122"/>
                <a:cs typeface="Times New Roman" pitchFamily="18" charset="-120"/>
              </a:rPr>
              <a:t>Cách chọn luật:</a:t>
            </a:r>
            <a:r>
              <a:rPr lang="en-US" sz="1200" dirty="0">
                <a:solidFill>
                  <a:srgbClr val="3B4558"/>
                </a:solidFill>
                <a:latin typeface="Times New Roman" pitchFamily="18" charset="0"/>
                <a:ea typeface="Times New Roman" pitchFamily="18" charset="-122"/>
                <a:cs typeface="Times New Roman" pitchFamily="18" charset="-120"/>
              </a:rPr>
              <a:t> so 3 luật bằng 3 chỉ số đo trên train · tách nhóm để biết lỗi nằm ở nhãn hay ở đặc trưng · thử biên 0 và 3 bước</a:t>
            </a:r>
            <a:endParaRPr lang="en-US" sz="1200" dirty="0"/>
          </a:p>
        </p:txBody>
      </p:sp>
      <p:sp>
        <p:nvSpPr>
          <p:cNvPr id="22" name="Text 20"/>
          <p:cNvSpPr/>
          <p:nvPr/>
        </p:nvSpPr>
        <p:spPr>
          <a:xfrm>
            <a:off x="7958594" y="4967405"/>
            <a:ext cx="3523165" cy="43682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B4558"/>
                </a:solidFill>
                <a:latin typeface="Times New Roman" pitchFamily="18" charset="0"/>
                <a:ea typeface="Times New Roman" pitchFamily="18" charset="-122"/>
                <a:cs typeface="Times New Roman" pitchFamily="18" charset="-120"/>
              </a:rPr>
              <a:t>Cái giá:</a:t>
            </a:r>
            <a:r>
              <a:rPr lang="en-US" sz="1200" dirty="0">
                <a:solidFill>
                  <a:srgbClr val="3B4558"/>
                </a:solidFill>
                <a:latin typeface="Times New Roman" pitchFamily="18" charset="0"/>
                <a:ea typeface="Times New Roman" pitchFamily="18" charset="-122"/>
                <a:cs typeface="Times New Roman" pitchFamily="18" charset="-120"/>
              </a:rPr>
              <a:t> cửa sổ dương mỗi lớp giảm từ khoảng 950 xuống khoảng 415</a:t>
            </a:r>
            <a:endParaRPr lang="en-US" sz="1200" dirty="0"/>
          </a:p>
        </p:txBody>
      </p:sp>
      <p:sp>
        <p:nvSpPr>
          <p:cNvPr id="23" name="Text 21"/>
          <p:cNvSpPr/>
          <p:nvPr/>
        </p:nvSpPr>
        <p:spPr>
          <a:xfrm>
            <a:off x="812785" y="6238211"/>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5F6878"/>
                </a:solidFill>
                <a:latin typeface="Times New Roman" pitchFamily="18" charset="0"/>
                <a:ea typeface="Times New Roman" pitchFamily="18" charset="-122"/>
                <a:cs typeface="Times New Roman" pitchFamily="18" charset="-120"/>
              </a:rPr>
              <a:t>tiến</a:t>
            </a:r>
            <a:r>
              <a:rPr lang="en-US" sz="1200" dirty="0">
                <a:solidFill>
                  <a:srgbClr val="5F6878"/>
                </a:solidFill>
                <a:latin typeface="Times New Roman" pitchFamily="18" charset="0"/>
                <a:ea typeface="Times New Roman" pitchFamily="18" charset="-122"/>
                <a:cs typeface="Times New Roman" pitchFamily="18" charset="-120"/>
              </a:rPr>
              <a:t> </a:t>
            </a:r>
            <a:r>
              <a:rPr lang="en-US" sz="1200" dirty="0" err="1" smtClean="0">
                <a:solidFill>
                  <a:srgbClr val="5F6878"/>
                </a:solidFill>
                <a:latin typeface="Times New Roman" pitchFamily="18" charset="0"/>
                <a:ea typeface="Times New Roman" pitchFamily="18" charset="-122"/>
                <a:cs typeface="Times New Roman" pitchFamily="18" charset="-120"/>
              </a:rPr>
              <a:t>độ</a:t>
            </a:r>
            <a:endParaRPr lang="en-US" sz="1200" dirty="0"/>
          </a:p>
        </p:txBody>
      </p:sp>
      <p:sp>
        <p:nvSpPr>
          <p:cNvPr id="24" name="Text 22"/>
          <p:cNvSpPr/>
          <p:nvPr/>
        </p:nvSpPr>
        <p:spPr>
          <a:xfrm>
            <a:off x="10878022" y="6238211"/>
            <a:ext cx="501121"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09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5" y="711144"/>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6"/>
                </a:solidFill>
                <a:latin typeface="Times New Roman" pitchFamily="18" charset="0"/>
                <a:ea typeface="Times New Roman" pitchFamily="18" charset="-122"/>
                <a:cs typeface="Times New Roman" pitchFamily="18" charset="-120"/>
              </a:rPr>
              <a:t>DỮ LIỆU IPN</a:t>
            </a:r>
            <a:endParaRPr lang="en-US" sz="1200" dirty="0"/>
          </a:p>
        </p:txBody>
      </p:sp>
      <p:sp>
        <p:nvSpPr>
          <p:cNvPr id="3" name="Text 1"/>
          <p:cNvSpPr>
            <a:spLocks noGrp="1"/>
          </p:cNvSpPr>
          <p:nvPr>
            <p:ph type="title"/>
          </p:nvPr>
        </p:nvSpPr>
        <p:spPr>
          <a:xfrm>
            <a:off x="812785" y="987927"/>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5233F"/>
                </a:solidFill>
                <a:latin typeface="Times New Roman" pitchFamily="18" charset="0"/>
                <a:ea typeface="Times New Roman" pitchFamily="18" charset="-122"/>
                <a:cs typeface="Times New Roman" pitchFamily="18" charset="-120"/>
              </a:rPr>
              <a:t>Chia tập theo người, cân bằng lớp, tăng cường</a:t>
            </a:r>
            <a:endParaRPr lang="en-US" sz="3000" dirty="0"/>
          </a:p>
        </p:txBody>
      </p:sp>
      <p:sp>
        <p:nvSpPr>
          <p:cNvPr id="4" name="Text 2"/>
          <p:cNvSpPr/>
          <p:nvPr/>
        </p:nvSpPr>
        <p:spPr>
          <a:xfrm>
            <a:off x="812785" y="1610140"/>
            <a:ext cx="5493945"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Chia theo người · không ai có mặt ở hai tập</a:t>
            </a:r>
            <a:endParaRPr lang="en-US" sz="1400" dirty="0"/>
          </a:p>
        </p:txBody>
      </p:sp>
      <p:sp>
        <p:nvSpPr>
          <p:cNvPr id="5" name="Text 3"/>
          <p:cNvSpPr/>
          <p:nvPr/>
        </p:nvSpPr>
        <p:spPr>
          <a:xfrm>
            <a:off x="812785" y="1924993"/>
            <a:ext cx="1727215" cy="375708"/>
          </a:xfrm>
          <a:prstGeom prst="roundRect">
            <a:avLst>
              <a:gd name="adj" fmla="val 16901"/>
            </a:avLst>
          </a:prstGeom>
          <a:solidFill>
            <a:srgbClr val="E3E9F2"/>
          </a:solidFill>
          <a:ln/>
        </p:spPr>
        <p:txBody>
          <a:bodyPr wrap="square" lIns="32201" tIns="44901" rIns="32201" bIns="19501" rtlCol="0" anchor="t">
            <a:normAutofit/>
          </a:bodyPr>
          <a:lstStyle/>
          <a:p>
            <a:pPr marL="0" indent="0" algn="ctr">
              <a:lnSpc>
                <a:spcPts val="1960"/>
              </a:lnSpc>
              <a:buNone/>
            </a:pPr>
            <a:r>
              <a:rPr lang="en-US" sz="1400" b="1" dirty="0">
                <a:solidFill>
                  <a:srgbClr val="15233F"/>
                </a:solidFill>
                <a:latin typeface="Times New Roman" pitchFamily="18" charset="0"/>
                <a:ea typeface="Times New Roman" pitchFamily="18" charset="-122"/>
                <a:cs typeface="Times New Roman" pitchFamily="18" charset="-120"/>
              </a:rPr>
              <a:t>Train · 30 người</a:t>
            </a:r>
            <a:endParaRPr lang="en-US" sz="1400" dirty="0"/>
          </a:p>
        </p:txBody>
      </p:sp>
      <p:sp>
        <p:nvSpPr>
          <p:cNvPr id="6" name="Text 4"/>
          <p:cNvSpPr/>
          <p:nvPr/>
        </p:nvSpPr>
        <p:spPr>
          <a:xfrm>
            <a:off x="2616141" y="1924993"/>
            <a:ext cx="1727215" cy="375708"/>
          </a:xfrm>
          <a:prstGeom prst="roundRect">
            <a:avLst>
              <a:gd name="adj" fmla="val 16901"/>
            </a:avLst>
          </a:prstGeom>
          <a:solidFill>
            <a:srgbClr val="E3E9F2"/>
          </a:solidFill>
          <a:ln/>
        </p:spPr>
        <p:txBody>
          <a:bodyPr wrap="square" lIns="32201" tIns="44901" rIns="32201" bIns="19501" rtlCol="0" anchor="t">
            <a:normAutofit/>
          </a:bodyPr>
          <a:lstStyle/>
          <a:p>
            <a:pPr marL="0" indent="0" algn="ctr">
              <a:lnSpc>
                <a:spcPts val="1960"/>
              </a:lnSpc>
              <a:buNone/>
            </a:pPr>
            <a:r>
              <a:rPr lang="en-US" sz="1400" b="1" dirty="0">
                <a:solidFill>
                  <a:srgbClr val="15233F"/>
                </a:solidFill>
                <a:latin typeface="Times New Roman" pitchFamily="18" charset="0"/>
                <a:ea typeface="Times New Roman" pitchFamily="18" charset="-122"/>
                <a:cs typeface="Times New Roman" pitchFamily="18" charset="-120"/>
              </a:rPr>
              <a:t>Val · 7 người</a:t>
            </a:r>
            <a:endParaRPr lang="en-US" sz="1400" dirty="0"/>
          </a:p>
        </p:txBody>
      </p:sp>
      <p:sp>
        <p:nvSpPr>
          <p:cNvPr id="7" name="Text 5"/>
          <p:cNvSpPr/>
          <p:nvPr/>
        </p:nvSpPr>
        <p:spPr>
          <a:xfrm>
            <a:off x="4419498" y="1924993"/>
            <a:ext cx="1727215" cy="375708"/>
          </a:xfrm>
          <a:prstGeom prst="roundRect">
            <a:avLst>
              <a:gd name="adj" fmla="val 16901"/>
            </a:avLst>
          </a:prstGeom>
          <a:solidFill>
            <a:srgbClr val="E3E9F2"/>
          </a:solidFill>
          <a:ln/>
        </p:spPr>
        <p:txBody>
          <a:bodyPr wrap="square" lIns="32201" tIns="44901" rIns="32201" bIns="19501" rtlCol="0" anchor="t">
            <a:normAutofit/>
          </a:bodyPr>
          <a:lstStyle/>
          <a:p>
            <a:pPr marL="0" indent="0" algn="ctr">
              <a:lnSpc>
                <a:spcPts val="1960"/>
              </a:lnSpc>
              <a:buNone/>
            </a:pPr>
            <a:r>
              <a:rPr lang="en-US" sz="1400" b="1" dirty="0">
                <a:solidFill>
                  <a:srgbClr val="15233F"/>
                </a:solidFill>
                <a:latin typeface="Times New Roman" pitchFamily="18" charset="0"/>
                <a:ea typeface="Times New Roman" pitchFamily="18" charset="-122"/>
                <a:cs typeface="Times New Roman" pitchFamily="18" charset="-120"/>
              </a:rPr>
              <a:t>Test · 13 người</a:t>
            </a:r>
            <a:endParaRPr lang="en-US" sz="1400" dirty="0"/>
          </a:p>
        </p:txBody>
      </p:sp>
      <p:sp>
        <p:nvSpPr>
          <p:cNvPr id="8" name="Text 6"/>
          <p:cNvSpPr/>
          <p:nvPr/>
        </p:nvSpPr>
        <p:spPr>
          <a:xfrm>
            <a:off x="812785" y="2402272"/>
            <a:ext cx="5493945"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Giữ đúng split test chính thức. 37 504 cửa sổ, mỗi cửa sổ 18 bước × 21 điểm × 2 toạ độ.</a:t>
            </a:r>
            <a:endParaRPr lang="en-US" sz="1200" dirty="0"/>
          </a:p>
        </p:txBody>
      </p:sp>
      <p:sp>
        <p:nvSpPr>
          <p:cNvPr id="9" name="Shape 7"/>
          <p:cNvSpPr/>
          <p:nvPr/>
        </p:nvSpPr>
        <p:spPr>
          <a:xfrm>
            <a:off x="812785" y="2915270"/>
            <a:ext cx="5333927" cy="1544799"/>
          </a:xfrm>
          <a:prstGeom prst="rect">
            <a:avLst/>
          </a:prstGeom>
          <a:solidFill>
            <a:srgbClr val="FDFCF9"/>
          </a:solidFill>
          <a:ln/>
        </p:spPr>
      </p:sp>
      <p:sp>
        <p:nvSpPr>
          <p:cNvPr id="10" name="Shape 8"/>
          <p:cNvSpPr/>
          <p:nvPr/>
        </p:nvSpPr>
        <p:spPr>
          <a:xfrm>
            <a:off x="6143538" y="2915270"/>
            <a:ext cx="0" cy="1544799"/>
          </a:xfrm>
          <a:prstGeom prst="line">
            <a:avLst/>
          </a:prstGeom>
          <a:noFill/>
          <a:ln w="6350">
            <a:solidFill>
              <a:srgbClr val="DCD8CE"/>
            </a:solidFill>
            <a:prstDash val="solid"/>
          </a:ln>
        </p:spPr>
      </p:sp>
      <p:sp>
        <p:nvSpPr>
          <p:cNvPr id="11" name="Shape 9"/>
          <p:cNvSpPr/>
          <p:nvPr/>
        </p:nvSpPr>
        <p:spPr>
          <a:xfrm>
            <a:off x="812785" y="4456895"/>
            <a:ext cx="5333927" cy="0"/>
          </a:xfrm>
          <a:prstGeom prst="line">
            <a:avLst/>
          </a:prstGeom>
          <a:noFill/>
          <a:ln w="6350">
            <a:solidFill>
              <a:srgbClr val="DCD8CE"/>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193" y="2924678"/>
          <a:ext cx="5319816" cy="1530689"/>
        </p:xfrm>
        <a:graphic>
          <a:graphicData uri="http://schemas.openxmlformats.org/drawingml/2006/table">
            <a:tbl>
              <a:tblPr/>
              <a:tblGrid>
                <a:gridCol w="2127926">
                  <a:extLst>
                    <a:ext uri="{9D8B030D-6E8A-4147-A177-3AD203B41FA5}">
                      <a16:colId xmlns:a16="http://schemas.microsoft.com/office/drawing/2014/main" val="20000"/>
                    </a:ext>
                  </a:extLst>
                </a:gridCol>
                <a:gridCol w="957567">
                  <a:extLst>
                    <a:ext uri="{9D8B030D-6E8A-4147-A177-3AD203B41FA5}">
                      <a16:colId xmlns:a16="http://schemas.microsoft.com/office/drawing/2014/main" val="20001"/>
                    </a:ext>
                  </a:extLst>
                </a:gridCol>
                <a:gridCol w="1276756">
                  <a:extLst>
                    <a:ext uri="{9D8B030D-6E8A-4147-A177-3AD203B41FA5}">
                      <a16:colId xmlns:a16="http://schemas.microsoft.com/office/drawing/2014/main" val="20002"/>
                    </a:ext>
                  </a:extLst>
                </a:gridCol>
                <a:gridCol w="957567">
                  <a:extLst>
                    <a:ext uri="{9D8B030D-6E8A-4147-A177-3AD203B41FA5}">
                      <a16:colId xmlns:a16="http://schemas.microsoft.com/office/drawing/2014/main" val="20003"/>
                    </a:ext>
                  </a:extLst>
                </a:gridCol>
              </a:tblGrid>
              <a:tr h="542690">
                <a:tc>
                  <a:txBody>
                    <a:bodyPr/>
                    <a:lstStyle/>
                    <a:p>
                      <a:pPr marL="0" indent="0">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Tập</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gn="r">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Số cửa sổ</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gn="r">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Tỉ lệ “không cử chỉ”</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gn="r">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Mỗi lớp đích</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extLst>
                  <a:ext uri="{0D108BD9-81ED-4DB2-BD59-A6C34878D82A}">
                    <a16:rowId xmlns:a16="http://schemas.microsoft.com/office/drawing/2014/main" val="10000"/>
                  </a:ext>
                </a:extLst>
              </a:tr>
              <a:tr h="329333">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Train (sau lấy mẫu con)</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3 326</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50%</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~415</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1"/>
                  </a:ext>
                </a:extLst>
              </a:tr>
              <a:tr h="329333">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Val (phân bố tự nhiên)</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11 038</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96,5%</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~96</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2"/>
                  </a:ext>
                </a:extLst>
              </a:tr>
              <a:tr h="329333">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Test (phân bố tự nhiên)</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23 140</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97,2%</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~160</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3" name="Shape 10"/>
          <p:cNvSpPr/>
          <p:nvPr/>
        </p:nvSpPr>
        <p:spPr>
          <a:xfrm>
            <a:off x="812785" y="4561638"/>
            <a:ext cx="5333927" cy="660209"/>
          </a:xfrm>
          <a:prstGeom prst="rect">
            <a:avLst/>
          </a:prstGeom>
          <a:solidFill>
            <a:srgbClr val="FDFCF9"/>
          </a:solidFill>
          <a:ln/>
        </p:spPr>
      </p:sp>
      <p:sp>
        <p:nvSpPr>
          <p:cNvPr id="14" name="Shape 11"/>
          <p:cNvSpPr/>
          <p:nvPr/>
        </p:nvSpPr>
        <p:spPr>
          <a:xfrm>
            <a:off x="831835" y="4561638"/>
            <a:ext cx="0" cy="660209"/>
          </a:xfrm>
          <a:prstGeom prst="line">
            <a:avLst/>
          </a:prstGeom>
          <a:noFill/>
          <a:ln w="38100">
            <a:solidFill>
              <a:srgbClr val="2A5A9B"/>
            </a:solidFill>
            <a:prstDash val="solid"/>
          </a:ln>
        </p:spPr>
      </p:sp>
      <p:sp>
        <p:nvSpPr>
          <p:cNvPr id="15" name="Text 12"/>
          <p:cNvSpPr/>
          <p:nvPr/>
        </p:nvSpPr>
        <p:spPr>
          <a:xfrm>
            <a:off x="1002771" y="4663207"/>
            <a:ext cx="5141333"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Lấy mẫu con lớp nền, chỉ ở train</a:t>
            </a:r>
            <a:endParaRPr lang="en-US" sz="1400" dirty="0"/>
          </a:p>
        </p:txBody>
      </p:sp>
      <p:sp>
        <p:nvSpPr>
          <p:cNvPr id="16" name="Text 13"/>
          <p:cNvSpPr/>
          <p:nvPr/>
        </p:nvSpPr>
        <p:spPr>
          <a:xfrm>
            <a:off x="1002771" y="4914565"/>
            <a:ext cx="51413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49 652 → 1 663 cửa sổ, chia đều cho 10 nhãn gốc theo kiểu “rót nước”</a:t>
            </a:r>
            <a:endParaRPr lang="en-US" sz="1200" dirty="0"/>
          </a:p>
        </p:txBody>
      </p:sp>
      <p:sp>
        <p:nvSpPr>
          <p:cNvPr id="17" name="Text 14"/>
          <p:cNvSpPr/>
          <p:nvPr/>
        </p:nvSpPr>
        <p:spPr>
          <a:xfrm>
            <a:off x="6553068" y="1610140"/>
            <a:ext cx="4970856"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Tăng cường · chỉ trên train, tạo mới mỗi epoch</a:t>
            </a:r>
            <a:endParaRPr lang="en-US" sz="1400" dirty="0"/>
          </a:p>
        </p:txBody>
      </p:sp>
      <p:sp>
        <p:nvSpPr>
          <p:cNvPr id="18" name="Shape 15"/>
          <p:cNvSpPr/>
          <p:nvPr/>
        </p:nvSpPr>
        <p:spPr>
          <a:xfrm>
            <a:off x="6553068" y="1924993"/>
            <a:ext cx="4826074" cy="1428824"/>
          </a:xfrm>
          <a:prstGeom prst="rect">
            <a:avLst/>
          </a:prstGeom>
          <a:solidFill>
            <a:srgbClr val="FDFCF9"/>
          </a:solidFill>
          <a:ln/>
        </p:spPr>
      </p:sp>
      <p:sp>
        <p:nvSpPr>
          <p:cNvPr id="19" name="Shape 16"/>
          <p:cNvSpPr/>
          <p:nvPr/>
        </p:nvSpPr>
        <p:spPr>
          <a:xfrm>
            <a:off x="11375967" y="1924993"/>
            <a:ext cx="0" cy="1428824"/>
          </a:xfrm>
          <a:prstGeom prst="line">
            <a:avLst/>
          </a:prstGeom>
          <a:noFill/>
          <a:ln w="6350">
            <a:solidFill>
              <a:srgbClr val="DCD8CE"/>
            </a:solidFill>
            <a:prstDash val="solid"/>
          </a:ln>
        </p:spPr>
      </p:sp>
      <p:sp>
        <p:nvSpPr>
          <p:cNvPr id="20" name="Shape 17"/>
          <p:cNvSpPr/>
          <p:nvPr/>
        </p:nvSpPr>
        <p:spPr>
          <a:xfrm>
            <a:off x="6553068" y="3350641"/>
            <a:ext cx="4826074" cy="0"/>
          </a:xfrm>
          <a:prstGeom prst="line">
            <a:avLst/>
          </a:prstGeom>
          <a:noFill/>
          <a:ln w="6350">
            <a:solidFill>
              <a:srgbClr val="DCD8CE"/>
            </a:solidFill>
            <a:prstDash val="solid"/>
          </a:ln>
        </p:spPr>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562476" y="1934400"/>
          <a:ext cx="4811962" cy="1414713"/>
        </p:xfrm>
        <a:graphic>
          <a:graphicData uri="http://schemas.openxmlformats.org/drawingml/2006/table">
            <a:tbl>
              <a:tblPr/>
              <a:tblGrid>
                <a:gridCol w="2790938">
                  <a:extLst>
                    <a:ext uri="{9D8B030D-6E8A-4147-A177-3AD203B41FA5}">
                      <a16:colId xmlns:a16="http://schemas.microsoft.com/office/drawing/2014/main" val="20000"/>
                    </a:ext>
                  </a:extLst>
                </a:gridCol>
                <a:gridCol w="2021024">
                  <a:extLst>
                    <a:ext uri="{9D8B030D-6E8A-4147-A177-3AD203B41FA5}">
                      <a16:colId xmlns:a16="http://schemas.microsoft.com/office/drawing/2014/main" val="20001"/>
                    </a:ext>
                  </a:extLst>
                </a:gridCol>
              </a:tblGrid>
              <a:tr h="329333">
                <a:tc>
                  <a:txBody>
                    <a:bodyPr/>
                    <a:lstStyle/>
                    <a:p>
                      <a:pPr marL="0" indent="0">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Phép biến đổi</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Nhãn</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extLst>
                  <a:ext uri="{0D108BD9-81ED-4DB2-BD59-A6C34878D82A}">
                    <a16:rowId xmlns:a16="http://schemas.microsoft.com/office/drawing/2014/main" val="10000"/>
                  </a:ext>
                </a:extLst>
              </a:tr>
              <a:tr h="542690">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Lật ngang</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0B5AB"/>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0B5AB"/>
                      </a:solidFill>
                      <a:prstDash val="solid"/>
                      <a:round/>
                      <a:headEnd type="none" w="med" len="med"/>
                      <a:tailEnd type="none" w="med" len="med"/>
                    </a:lnB>
                    <a:solidFill>
                      <a:srgbClr val="F1E3D6"/>
                    </a:solidFill>
                  </a:tcPr>
                </a:tc>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Đổi vuốt trái ↔ vuốt phải; giữ nguyên nhãn zoom</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0B5AB"/>
                      </a:solidFill>
                      <a:prstDash val="solid"/>
                      <a:round/>
                      <a:headEnd type="none" w="med" len="med"/>
                      <a:tailEnd type="none" w="med" len="med"/>
                    </a:lnL>
                    <a:lnR w="12700" cap="flat" cmpd="sng" algn="ctr">
                      <a:solidFill>
                        <a:srgbClr val="C0B5AB"/>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0B5AB"/>
                      </a:solidFill>
                      <a:prstDash val="solid"/>
                      <a:round/>
                      <a:headEnd type="none" w="med" len="med"/>
                      <a:tailEnd type="none" w="med" len="med"/>
                    </a:lnB>
                    <a:solidFill>
                      <a:srgbClr val="F1E3D6"/>
                    </a:solidFill>
                  </a:tcPr>
                </a:tc>
                <a:extLst>
                  <a:ext uri="{0D108BD9-81ED-4DB2-BD59-A6C34878D82A}">
                    <a16:rowId xmlns:a16="http://schemas.microsoft.com/office/drawing/2014/main" val="10001"/>
                  </a:ext>
                </a:extLst>
              </a:tr>
              <a:tr h="542690">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Xoay ±10°, co giãn đổi dần, co giãn thời gian 0,8–1,2×, nhiễu Gauss, xoá 1–3 bước</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5AB"/>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Giữ nguyên</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5AB"/>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2" name="Shape 18"/>
          <p:cNvSpPr/>
          <p:nvPr/>
        </p:nvSpPr>
        <p:spPr>
          <a:xfrm>
            <a:off x="6553068" y="3455386"/>
            <a:ext cx="4826074" cy="1117424"/>
          </a:xfrm>
          <a:prstGeom prst="rect">
            <a:avLst/>
          </a:prstGeom>
          <a:solidFill>
            <a:srgbClr val="FDFCF9"/>
          </a:solidFill>
          <a:ln/>
        </p:spPr>
      </p:sp>
      <p:sp>
        <p:nvSpPr>
          <p:cNvPr id="23" name="Shape 19"/>
          <p:cNvSpPr/>
          <p:nvPr/>
        </p:nvSpPr>
        <p:spPr>
          <a:xfrm>
            <a:off x="6572118" y="3455386"/>
            <a:ext cx="0" cy="1117424"/>
          </a:xfrm>
          <a:prstGeom prst="line">
            <a:avLst/>
          </a:prstGeom>
          <a:noFill/>
          <a:ln w="38100">
            <a:solidFill>
              <a:srgbClr val="A84E16"/>
            </a:solidFill>
            <a:prstDash val="solid"/>
          </a:ln>
        </p:spPr>
      </p:sp>
      <p:sp>
        <p:nvSpPr>
          <p:cNvPr id="24" name="Text 20"/>
          <p:cNvSpPr/>
          <p:nvPr/>
        </p:nvSpPr>
        <p:spPr>
          <a:xfrm>
            <a:off x="6743054" y="3556955"/>
            <a:ext cx="4618244"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233F"/>
                </a:solidFill>
                <a:latin typeface="Times New Roman" pitchFamily="18" charset="0"/>
                <a:ea typeface="Times New Roman" pitchFamily="18" charset="-122"/>
                <a:cs typeface="Times New Roman" pitchFamily="18" charset="-120"/>
              </a:rPr>
              <a:t>Độ lệch chuẩn nhiễu, đo trên tay nghỉ</a:t>
            </a:r>
            <a:endParaRPr lang="en-US" sz="1200" dirty="0"/>
          </a:p>
        </p:txBody>
      </p:sp>
      <p:sp>
        <p:nvSpPr>
          <p:cNvPr id="25" name="Text 21"/>
          <p:cNvSpPr/>
          <p:nvPr/>
        </p:nvSpPr>
        <p:spPr>
          <a:xfrm>
            <a:off x="6743054" y="3808388"/>
            <a:ext cx="4618244" cy="444471"/>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A84E16"/>
                </a:solidFill>
                <a:latin typeface="Times New Roman" pitchFamily="18" charset="0"/>
                <a:ea typeface="Times New Roman" pitchFamily="18" charset="-122"/>
                <a:cs typeface="Times New Roman" pitchFamily="18" charset="-120"/>
              </a:rPr>
              <a:t>0,0159</a:t>
            </a:r>
            <a:endParaRPr lang="en-US" sz="3000" dirty="0"/>
          </a:p>
        </p:txBody>
      </p:sp>
      <p:sp>
        <p:nvSpPr>
          <p:cNvPr id="26" name="Text 22"/>
          <p:cNvSpPr/>
          <p:nvPr/>
        </p:nvSpPr>
        <p:spPr>
          <a:xfrm>
            <a:off x="6743054" y="4265526"/>
            <a:ext cx="4618244"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lòng bàn tay · khớp ước lượng độc lập 0,0162</a:t>
            </a:r>
            <a:endParaRPr lang="en-US" sz="1200" dirty="0"/>
          </a:p>
        </p:txBody>
      </p:sp>
      <p:sp>
        <p:nvSpPr>
          <p:cNvPr id="27" name="Text 23"/>
          <p:cNvSpPr/>
          <p:nvPr/>
        </p:nvSpPr>
        <p:spPr>
          <a:xfrm>
            <a:off x="812785" y="6238218"/>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5F6878"/>
                </a:solidFill>
                <a:latin typeface="Times New Roman" pitchFamily="18" charset="0"/>
                <a:ea typeface="Times New Roman" pitchFamily="18" charset="-122"/>
                <a:cs typeface="Times New Roman" pitchFamily="18" charset="-120"/>
              </a:rPr>
              <a:t>tiến</a:t>
            </a:r>
            <a:r>
              <a:rPr lang="en-US" sz="1200" dirty="0">
                <a:solidFill>
                  <a:srgbClr val="5F6878"/>
                </a:solidFill>
                <a:latin typeface="Times New Roman" pitchFamily="18" charset="0"/>
                <a:ea typeface="Times New Roman" pitchFamily="18" charset="-122"/>
                <a:cs typeface="Times New Roman" pitchFamily="18" charset="-120"/>
              </a:rPr>
              <a:t> </a:t>
            </a:r>
            <a:r>
              <a:rPr lang="en-US" sz="1200" dirty="0" err="1" smtClean="0">
                <a:solidFill>
                  <a:srgbClr val="5F6878"/>
                </a:solidFill>
                <a:latin typeface="Times New Roman" pitchFamily="18" charset="0"/>
                <a:ea typeface="Times New Roman" pitchFamily="18" charset="-122"/>
                <a:cs typeface="Times New Roman" pitchFamily="18" charset="-120"/>
              </a:rPr>
              <a:t>độ</a:t>
            </a:r>
            <a:endParaRPr lang="en-US" sz="1200" dirty="0"/>
          </a:p>
        </p:txBody>
      </p:sp>
      <p:sp>
        <p:nvSpPr>
          <p:cNvPr id="28" name="Text 24"/>
          <p:cNvSpPr/>
          <p:nvPr/>
        </p:nvSpPr>
        <p:spPr>
          <a:xfrm>
            <a:off x="10871230" y="6238218"/>
            <a:ext cx="507912"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10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5" y="711144"/>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6"/>
                </a:solidFill>
                <a:latin typeface="Times New Roman" pitchFamily="18" charset="0"/>
                <a:ea typeface="Times New Roman" pitchFamily="18" charset="-122"/>
                <a:cs typeface="Times New Roman" pitchFamily="18" charset="-120"/>
              </a:rPr>
              <a:t>MÔ HÌNH VÀ KẾT QUẢ</a:t>
            </a:r>
            <a:endParaRPr lang="en-US" sz="1200" dirty="0"/>
          </a:p>
        </p:txBody>
      </p:sp>
      <p:sp>
        <p:nvSpPr>
          <p:cNvPr id="3" name="Text 1"/>
          <p:cNvSpPr>
            <a:spLocks noGrp="1"/>
          </p:cNvSpPr>
          <p:nvPr>
            <p:ph type="title"/>
          </p:nvPr>
        </p:nvSpPr>
        <p:spPr>
          <a:xfrm>
            <a:off x="812785" y="987927"/>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5233F"/>
                </a:solidFill>
                <a:latin typeface="Times New Roman" pitchFamily="18" charset="0"/>
                <a:ea typeface="Times New Roman" pitchFamily="18" charset="-122"/>
                <a:cs typeface="Times New Roman" pitchFamily="18" charset="-120"/>
              </a:rPr>
              <a:t>Cổng kiểm tra đặc trưng</a:t>
            </a:r>
            <a:endParaRPr lang="en-US" sz="3000" dirty="0"/>
          </a:p>
        </p:txBody>
      </p:sp>
      <p:sp>
        <p:nvSpPr>
          <p:cNvPr id="4" name="Shape 2"/>
          <p:cNvSpPr/>
          <p:nvPr/>
        </p:nvSpPr>
        <p:spPr>
          <a:xfrm>
            <a:off x="819135" y="1616490"/>
            <a:ext cx="3797227" cy="3191845"/>
          </a:xfrm>
          <a:prstGeom prst="roundRect">
            <a:avLst>
              <a:gd name="adj" fmla="val 2188"/>
            </a:avLst>
          </a:prstGeom>
          <a:solidFill>
            <a:srgbClr val="ECEAE3"/>
          </a:solidFill>
          <a:ln w="12700">
            <a:solidFill>
              <a:srgbClr val="9AA4B5"/>
            </a:solidFill>
            <a:prstDash val="dash"/>
          </a:ln>
        </p:spPr>
      </p:sp>
      <p:pic>
        <p:nvPicPr>
          <p:cNvPr id="5" name="Image 0" descr="Chart"/>
          <p:cNvPicPr>
            <a:picLocks noChangeAspect="1"/>
          </p:cNvPicPr>
          <p:nvPr/>
        </p:nvPicPr>
        <p:blipFill>
          <a:blip r:embed="rId3"/>
          <a:srcRect/>
          <a:stretch/>
        </p:blipFill>
        <p:spPr>
          <a:xfrm>
            <a:off x="2514571" y="2439095"/>
            <a:ext cx="406356" cy="406356"/>
          </a:xfrm>
          <a:prstGeom prst="rect">
            <a:avLst/>
          </a:prstGeom>
        </p:spPr>
      </p:pic>
      <p:sp>
        <p:nvSpPr>
          <p:cNvPr id="6" name="Text 3"/>
          <p:cNvSpPr/>
          <p:nvPr/>
        </p:nvSpPr>
        <p:spPr>
          <a:xfrm>
            <a:off x="825485" y="2934308"/>
            <a:ext cx="3784527" cy="274255"/>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5233F"/>
                </a:solidFill>
                <a:latin typeface="Times New Roman" pitchFamily="18" charset="0"/>
                <a:ea typeface="Times New Roman" pitchFamily="18" charset="-122"/>
                <a:cs typeface="Times New Roman" pitchFamily="18" charset="-120"/>
              </a:rPr>
              <a:t>[Chèn hình: ba boxplot theo lớp, trên train]</a:t>
            </a:r>
            <a:endParaRPr lang="en-US" sz="1400" dirty="0"/>
          </a:p>
        </p:txBody>
      </p:sp>
      <p:sp>
        <p:nvSpPr>
          <p:cNvPr id="7" name="Text 4"/>
          <p:cNvSpPr/>
          <p:nvPr/>
        </p:nvSpPr>
        <p:spPr>
          <a:xfrm>
            <a:off x="974562" y="3272017"/>
            <a:ext cx="3486375" cy="436827"/>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Thay đổi độ mở cái–trỏ · dời ngang cổ tay · tốc độ ngang đỉnh</a:t>
            </a:r>
            <a:endParaRPr lang="en-US" sz="1200" dirty="0"/>
          </a:p>
        </p:txBody>
      </p:sp>
      <p:sp>
        <p:nvSpPr>
          <p:cNvPr id="8" name="Text 5"/>
          <p:cNvSpPr/>
          <p:nvPr/>
        </p:nvSpPr>
        <p:spPr>
          <a:xfrm>
            <a:off x="1549753" y="3772303"/>
            <a:ext cx="2335918" cy="23875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results/phase4/boxplots/run_03/</a:t>
            </a:r>
            <a:endParaRPr lang="en-US" sz="1200" dirty="0"/>
          </a:p>
        </p:txBody>
      </p:sp>
      <p:sp>
        <p:nvSpPr>
          <p:cNvPr id="9" name="Shape 6"/>
          <p:cNvSpPr/>
          <p:nvPr/>
        </p:nvSpPr>
        <p:spPr>
          <a:xfrm>
            <a:off x="4978283" y="1610140"/>
            <a:ext cx="6400860" cy="2424907"/>
          </a:xfrm>
          <a:prstGeom prst="rect">
            <a:avLst/>
          </a:prstGeom>
          <a:solidFill>
            <a:srgbClr val="FDFCF9"/>
          </a:solidFill>
          <a:ln/>
        </p:spPr>
      </p:sp>
      <p:sp>
        <p:nvSpPr>
          <p:cNvPr id="10" name="Shape 7"/>
          <p:cNvSpPr/>
          <p:nvPr/>
        </p:nvSpPr>
        <p:spPr>
          <a:xfrm>
            <a:off x="11375968" y="1610140"/>
            <a:ext cx="0" cy="2424907"/>
          </a:xfrm>
          <a:prstGeom prst="line">
            <a:avLst/>
          </a:prstGeom>
          <a:noFill/>
          <a:ln w="6350">
            <a:solidFill>
              <a:srgbClr val="DCD8CE"/>
            </a:solidFill>
            <a:prstDash val="solid"/>
          </a:ln>
        </p:spPr>
      </p:sp>
      <p:sp>
        <p:nvSpPr>
          <p:cNvPr id="11" name="Shape 8"/>
          <p:cNvSpPr/>
          <p:nvPr/>
        </p:nvSpPr>
        <p:spPr>
          <a:xfrm>
            <a:off x="4978283" y="4031872"/>
            <a:ext cx="6400860" cy="0"/>
          </a:xfrm>
          <a:prstGeom prst="line">
            <a:avLst/>
          </a:prstGeom>
          <a:noFill/>
          <a:ln w="6350">
            <a:solidFill>
              <a:srgbClr val="DCD8CE"/>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987690" y="1619548"/>
          <a:ext cx="6386748" cy="2411783"/>
        </p:xfrm>
        <a:graphic>
          <a:graphicData uri="http://schemas.openxmlformats.org/drawingml/2006/table">
            <a:tbl>
              <a:tblPr/>
              <a:tblGrid>
                <a:gridCol w="2554699">
                  <a:extLst>
                    <a:ext uri="{9D8B030D-6E8A-4147-A177-3AD203B41FA5}">
                      <a16:colId xmlns:a16="http://schemas.microsoft.com/office/drawing/2014/main" val="20000"/>
                    </a:ext>
                  </a:extLst>
                </a:gridCol>
                <a:gridCol w="2554699">
                  <a:extLst>
                    <a:ext uri="{9D8B030D-6E8A-4147-A177-3AD203B41FA5}">
                      <a16:colId xmlns:a16="http://schemas.microsoft.com/office/drawing/2014/main" val="20001"/>
                    </a:ext>
                  </a:extLst>
                </a:gridCol>
                <a:gridCol w="1277350">
                  <a:extLst>
                    <a:ext uri="{9D8B030D-6E8A-4147-A177-3AD203B41FA5}">
                      <a16:colId xmlns:a16="http://schemas.microsoft.com/office/drawing/2014/main" val="20002"/>
                    </a:ext>
                  </a:extLst>
                </a:gridCol>
              </a:tblGrid>
              <a:tr h="382617">
                <a:tc>
                  <a:txBody>
                    <a:bodyPr/>
                    <a:lstStyle/>
                    <a:p>
                      <a:pPr marL="0" indent="0">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Điều kiện</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Số đo</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Kết quả</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extLst>
                  <a:ext uri="{0D108BD9-81ED-4DB2-BD59-A6C34878D82A}">
                    <a16:rowId xmlns:a16="http://schemas.microsoft.com/office/drawing/2014/main" val="10000"/>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Zoom in nằm hẳn bên dương</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phân vị 25 = +0,70</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2A5A9B"/>
                          </a:solidFill>
                          <a:latin typeface="Times New Roman" pitchFamily="18" charset="0"/>
                          <a:ea typeface="Times New Roman" pitchFamily="18" charset="-122"/>
                          <a:cs typeface="Times New Roman" pitchFamily="18" charset="-120"/>
                        </a:rPr>
                        <a:t>Đạt</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1"/>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Zoom out nằm hẳn bên âm</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phân vị 75 = −0,58</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2A5A9B"/>
                          </a:solidFill>
                          <a:latin typeface="Times New Roman" pitchFamily="18" charset="0"/>
                          <a:ea typeface="Times New Roman" pitchFamily="18" charset="-122"/>
                          <a:cs typeface="Times New Roman" pitchFamily="18" charset="-120"/>
                        </a:rPr>
                        <a:t>Đạt</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2"/>
                  </a:ext>
                </a:extLst>
              </a:tr>
              <a:tr h="631472">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Hai lớp vuốt nằm ở hai phía của 0</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[+0,13; +1,35] và [−1,12; −0,31]</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2A5A9B"/>
                          </a:solidFill>
                          <a:latin typeface="Times New Roman" pitchFamily="18" charset="0"/>
                          <a:ea typeface="Times New Roman" pitchFamily="18" charset="-122"/>
                          <a:cs typeface="Times New Roman" pitchFamily="18" charset="-120"/>
                        </a:rPr>
                        <a:t>Đạt</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3"/>
                  </a:ext>
                </a:extLst>
              </a:tr>
              <a:tr h="631472">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Hai lớp vuốt cao hơn hẳn “không cử chỉ”</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0B5A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5AB"/>
                      </a:solidFill>
                      <a:prstDash val="solid"/>
                      <a:round/>
                      <a:headEnd type="none" w="med" len="med"/>
                      <a:tailEnd type="none" w="med" len="med"/>
                    </a:lnB>
                    <a:solidFill>
                      <a:srgbClr val="F1E3D6"/>
                    </a:solidFill>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phân vị 25 là 3,59 và 3,70, so với phân vị 75 là 3,30</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0B5AB"/>
                      </a:solidFill>
                      <a:prstDash val="solid"/>
                      <a:round/>
                      <a:headEnd type="none" w="med" len="med"/>
                      <a:tailEnd type="none" w="med" len="med"/>
                    </a:lnL>
                    <a:lnR w="12700" cap="flat" cmpd="sng" algn="ctr">
                      <a:solidFill>
                        <a:srgbClr val="C0B5A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5AB"/>
                      </a:solidFill>
                      <a:prstDash val="solid"/>
                      <a:round/>
                      <a:headEnd type="none" w="med" len="med"/>
                      <a:tailEnd type="none" w="med" len="med"/>
                    </a:lnB>
                    <a:solidFill>
                      <a:srgbClr val="F1E3D6"/>
                    </a:solidFill>
                  </a:tcPr>
                </a:tc>
                <a:tc>
                  <a:txBody>
                    <a:bodyPr/>
                    <a:lstStyle/>
                    <a:p>
                      <a:pPr marL="0" indent="0">
                        <a:lnSpc>
                          <a:spcPts val="1960"/>
                        </a:lnSpc>
                        <a:buNone/>
                      </a:pPr>
                      <a:r>
                        <a:rPr lang="en-US" sz="1400" dirty="0">
                          <a:solidFill>
                            <a:srgbClr val="A84E16"/>
                          </a:solidFill>
                          <a:latin typeface="Times New Roman" pitchFamily="18" charset="0"/>
                          <a:ea typeface="Times New Roman" pitchFamily="18" charset="-122"/>
                          <a:cs typeface="Times New Roman" pitchFamily="18" charset="-120"/>
                        </a:rPr>
                        <a:t>Đạt, sát nút</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0B5AB"/>
                      </a:solidFill>
                      <a:prstDash val="solid"/>
                      <a:round/>
                      <a:headEnd type="none" w="med" len="med"/>
                      <a:tailEnd type="none" w="med" len="med"/>
                    </a:lnL>
                    <a:lnR w="12700" cap="flat" cmpd="sng" algn="ctr">
                      <a:solidFill>
                        <a:srgbClr val="C0B5A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5AB"/>
                      </a:solidFill>
                      <a:prstDash val="solid"/>
                      <a:round/>
                      <a:headEnd type="none" w="med" len="med"/>
                      <a:tailEnd type="none" w="med" len="med"/>
                    </a:lnB>
                    <a:solidFill>
                      <a:srgbClr val="F1E3D6"/>
                    </a:solidFill>
                  </a:tcPr>
                </a:tc>
                <a:extLst>
                  <a:ext uri="{0D108BD9-81ED-4DB2-BD59-A6C34878D82A}">
                    <a16:rowId xmlns:a16="http://schemas.microsoft.com/office/drawing/2014/main" val="10004"/>
                  </a:ext>
                </a:extLst>
              </a:tr>
            </a:tbl>
          </a:graphicData>
        </a:graphic>
      </p:graphicFrame>
      <p:sp>
        <p:nvSpPr>
          <p:cNvPr id="13" name="Text 9"/>
          <p:cNvSpPr/>
          <p:nvPr/>
        </p:nvSpPr>
        <p:spPr>
          <a:xfrm>
            <a:off x="4978283" y="4187403"/>
            <a:ext cx="6400860" cy="627283"/>
          </a:xfrm>
          <a:prstGeom prst="roundRect">
            <a:avLst>
              <a:gd name="adj" fmla="val 10123"/>
            </a:avLst>
          </a:prstGeom>
          <a:solidFill>
            <a:srgbClr val="15233F"/>
          </a:solidFill>
          <a:ln/>
        </p:spPr>
        <p:txBody>
          <a:bodyPr wrap="square" lIns="184543" tIns="146501" rIns="4705" bIns="121043" rtlCol="0" anchor="t">
            <a:normAutofit/>
          </a:bodyPr>
          <a:lstStyle/>
          <a:p>
            <a:pPr marL="0" indent="0" algn="l">
              <a:lnSpc>
                <a:spcPts val="2340"/>
              </a:lnSpc>
              <a:buNone/>
            </a:pPr>
            <a:r>
              <a:rPr lang="en-US" sz="1800" i="1" dirty="0">
                <a:solidFill>
                  <a:srgbClr val="F2EFE8"/>
                </a:solidFill>
                <a:latin typeface="Times New Roman" pitchFamily="18" charset="0"/>
                <a:ea typeface="Times New Roman" pitchFamily="18" charset="-122"/>
                <a:cs typeface="Times New Roman" pitchFamily="18" charset="-120"/>
              </a:rPr>
              <a:t>“Không mô hình nào cứu được đặc trưng không tách lớp”</a:t>
            </a:r>
            <a:endParaRPr lang="en-US" sz="1800" dirty="0"/>
          </a:p>
        </p:txBody>
      </p:sp>
      <p:sp>
        <p:nvSpPr>
          <p:cNvPr id="14" name="Text 10"/>
          <p:cNvSpPr/>
          <p:nvPr/>
        </p:nvSpPr>
        <p:spPr>
          <a:xfrm>
            <a:off x="812785" y="6238218"/>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5F6878"/>
                </a:solidFill>
                <a:latin typeface="Times New Roman" pitchFamily="18" charset="0"/>
                <a:ea typeface="Times New Roman" pitchFamily="18" charset="-122"/>
                <a:cs typeface="Times New Roman" pitchFamily="18" charset="-120"/>
              </a:rPr>
              <a:t>tiến</a:t>
            </a:r>
            <a:r>
              <a:rPr lang="en-US" sz="1200" dirty="0">
                <a:solidFill>
                  <a:srgbClr val="5F6878"/>
                </a:solidFill>
                <a:latin typeface="Times New Roman" pitchFamily="18" charset="0"/>
                <a:ea typeface="Times New Roman" pitchFamily="18" charset="-122"/>
                <a:cs typeface="Times New Roman" pitchFamily="18" charset="-120"/>
              </a:rPr>
              <a:t> </a:t>
            </a:r>
            <a:r>
              <a:rPr lang="en-US" sz="1200" dirty="0" err="1" smtClean="0">
                <a:solidFill>
                  <a:srgbClr val="5F6878"/>
                </a:solidFill>
                <a:latin typeface="Times New Roman" pitchFamily="18" charset="0"/>
                <a:ea typeface="Times New Roman" pitchFamily="18" charset="-122"/>
                <a:cs typeface="Times New Roman" pitchFamily="18" charset="-120"/>
              </a:rPr>
              <a:t>độ</a:t>
            </a:r>
            <a:endParaRPr lang="en-US" sz="1200" dirty="0"/>
          </a:p>
        </p:txBody>
      </p:sp>
      <p:sp>
        <p:nvSpPr>
          <p:cNvPr id="15" name="Text 11"/>
          <p:cNvSpPr/>
          <p:nvPr/>
        </p:nvSpPr>
        <p:spPr>
          <a:xfrm>
            <a:off x="10871230" y="6238218"/>
            <a:ext cx="507912"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11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5" y="711138"/>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6"/>
                </a:solidFill>
                <a:latin typeface="Times New Roman" pitchFamily="18" charset="0"/>
                <a:ea typeface="Times New Roman" pitchFamily="18" charset="-122"/>
                <a:cs typeface="Times New Roman" pitchFamily="18" charset="-120"/>
              </a:rPr>
              <a:t>MÔ HÌNH VÀ KẾT QUẢ</a:t>
            </a:r>
            <a:endParaRPr lang="en-US" sz="1200" dirty="0"/>
          </a:p>
        </p:txBody>
      </p:sp>
      <p:sp>
        <p:nvSpPr>
          <p:cNvPr id="3" name="Text 1"/>
          <p:cNvSpPr>
            <a:spLocks noGrp="1"/>
          </p:cNvSpPr>
          <p:nvPr>
            <p:ph type="title"/>
          </p:nvPr>
        </p:nvSpPr>
        <p:spPr>
          <a:xfrm>
            <a:off x="812785" y="987921"/>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5233F"/>
                </a:solidFill>
                <a:latin typeface="Times New Roman" pitchFamily="18" charset="0"/>
                <a:ea typeface="Times New Roman" pitchFamily="18" charset="-122"/>
                <a:cs typeface="Times New Roman" pitchFamily="18" charset="-120"/>
              </a:rPr>
              <a:t>Mô hình luật ngưỡng</a:t>
            </a:r>
            <a:endParaRPr lang="en-US" sz="3000" dirty="0"/>
          </a:p>
        </p:txBody>
      </p:sp>
      <p:sp>
        <p:nvSpPr>
          <p:cNvPr id="4" name="Text 2"/>
          <p:cNvSpPr/>
          <p:nvPr/>
        </p:nvSpPr>
        <p:spPr>
          <a:xfrm>
            <a:off x="812785" y="1610134"/>
            <a:ext cx="5232401"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Ngưỡng hiệu chuẩn tự động, chỉ trên train</a:t>
            </a:r>
            <a:endParaRPr lang="en-US" sz="1400" dirty="0"/>
          </a:p>
        </p:txBody>
      </p:sp>
      <p:sp>
        <p:nvSpPr>
          <p:cNvPr id="5" name="Text 3"/>
          <p:cNvSpPr/>
          <p:nvPr/>
        </p:nvSpPr>
        <p:spPr>
          <a:xfrm>
            <a:off x="812785" y="1924993"/>
            <a:ext cx="5232401"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Trung điểm giữa phân vị 90 của nhóm phải ở dưới và phân vị 10 của nhóm phải ở trên</a:t>
            </a:r>
            <a:endParaRPr lang="en-US" sz="1200" dirty="0"/>
          </a:p>
        </p:txBody>
      </p:sp>
      <p:sp>
        <p:nvSpPr>
          <p:cNvPr id="6" name="Shape 4"/>
          <p:cNvSpPr/>
          <p:nvPr/>
        </p:nvSpPr>
        <p:spPr>
          <a:xfrm>
            <a:off x="812785" y="2437985"/>
            <a:ext cx="5080001" cy="1544579"/>
          </a:xfrm>
          <a:prstGeom prst="rect">
            <a:avLst/>
          </a:prstGeom>
          <a:solidFill>
            <a:srgbClr val="FDFCF9"/>
          </a:solidFill>
          <a:ln/>
        </p:spPr>
      </p:sp>
      <p:sp>
        <p:nvSpPr>
          <p:cNvPr id="7" name="Shape 5"/>
          <p:cNvSpPr/>
          <p:nvPr/>
        </p:nvSpPr>
        <p:spPr>
          <a:xfrm>
            <a:off x="5889611" y="2437985"/>
            <a:ext cx="0" cy="1544579"/>
          </a:xfrm>
          <a:prstGeom prst="line">
            <a:avLst/>
          </a:prstGeom>
          <a:noFill/>
          <a:ln w="6350">
            <a:solidFill>
              <a:srgbClr val="DCD8CE"/>
            </a:solidFill>
            <a:prstDash val="solid"/>
          </a:ln>
        </p:spPr>
      </p:sp>
      <p:sp>
        <p:nvSpPr>
          <p:cNvPr id="8" name="Shape 6"/>
          <p:cNvSpPr/>
          <p:nvPr/>
        </p:nvSpPr>
        <p:spPr>
          <a:xfrm>
            <a:off x="812785" y="3979388"/>
            <a:ext cx="5080001" cy="0"/>
          </a:xfrm>
          <a:prstGeom prst="line">
            <a:avLst/>
          </a:prstGeom>
          <a:noFill/>
          <a:ln w="6350">
            <a:solidFill>
              <a:srgbClr val="DCD8CE"/>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193" y="2447392"/>
          <a:ext cx="5065890" cy="1530468"/>
        </p:xfrm>
        <a:graphic>
          <a:graphicData uri="http://schemas.openxmlformats.org/drawingml/2006/table">
            <a:tbl>
              <a:tblPr/>
              <a:tblGrid>
                <a:gridCol w="2532945">
                  <a:extLst>
                    <a:ext uri="{9D8B030D-6E8A-4147-A177-3AD203B41FA5}">
                      <a16:colId xmlns:a16="http://schemas.microsoft.com/office/drawing/2014/main" val="20000"/>
                    </a:ext>
                  </a:extLst>
                </a:gridCol>
                <a:gridCol w="2532945">
                  <a:extLst>
                    <a:ext uri="{9D8B030D-6E8A-4147-A177-3AD203B41FA5}">
                      <a16:colId xmlns:a16="http://schemas.microsoft.com/office/drawing/2014/main" val="20001"/>
                    </a:ext>
                  </a:extLst>
                </a:gridCol>
              </a:tblGrid>
              <a:tr h="382617">
                <a:tc>
                  <a:txBody>
                    <a:bodyPr/>
                    <a:lstStyle/>
                    <a:p>
                      <a:pPr marL="0" indent="0">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Đặc trưng</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Ngưỡng</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extLst>
                  <a:ext uri="{0D108BD9-81ED-4DB2-BD59-A6C34878D82A}">
                    <a16:rowId xmlns:a16="http://schemas.microsoft.com/office/drawing/2014/main" val="10000"/>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Tốc độ ngang đỉnh</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4,026 lòng bàn tay/giây</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1"/>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Dời ngang</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0,1025 lòng bàn tay</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2"/>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Thay đổi độ mở cái–trỏ</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0,7209 lòng bàn tay</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Shape 7"/>
          <p:cNvSpPr/>
          <p:nvPr/>
        </p:nvSpPr>
        <p:spPr>
          <a:xfrm>
            <a:off x="812785" y="4084135"/>
            <a:ext cx="5080001" cy="685638"/>
          </a:xfrm>
          <a:prstGeom prst="rect">
            <a:avLst/>
          </a:prstGeom>
          <a:solidFill>
            <a:srgbClr val="FDFCF9"/>
          </a:solidFill>
          <a:ln/>
        </p:spPr>
      </p:sp>
      <p:sp>
        <p:nvSpPr>
          <p:cNvPr id="11" name="Shape 8"/>
          <p:cNvSpPr/>
          <p:nvPr/>
        </p:nvSpPr>
        <p:spPr>
          <a:xfrm>
            <a:off x="831835" y="4084135"/>
            <a:ext cx="0" cy="685638"/>
          </a:xfrm>
          <a:prstGeom prst="line">
            <a:avLst/>
          </a:prstGeom>
          <a:noFill/>
          <a:ln w="38100">
            <a:solidFill>
              <a:srgbClr val="A84E16"/>
            </a:solidFill>
            <a:prstDash val="solid"/>
          </a:ln>
        </p:spPr>
      </p:sp>
      <p:sp>
        <p:nvSpPr>
          <p:cNvPr id="12" name="Text 9"/>
          <p:cNvSpPr/>
          <p:nvPr/>
        </p:nvSpPr>
        <p:spPr>
          <a:xfrm>
            <a:off x="1002771" y="4198423"/>
            <a:ext cx="4879789"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Độ tin cậy: không phải xác suất</a:t>
            </a:r>
            <a:endParaRPr lang="en-US" sz="1400" dirty="0"/>
          </a:p>
        </p:txBody>
      </p:sp>
      <p:sp>
        <p:nvSpPr>
          <p:cNvPr id="13" name="Text 10"/>
          <p:cNvSpPr/>
          <p:nvPr/>
        </p:nvSpPr>
        <p:spPr>
          <a:xfrm>
            <a:off x="1002771" y="4449775"/>
            <a:ext cx="4879789"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Chỉ là heuristic, tăng theo mức vượt ngưỡng của điều kiện yếu nhất</a:t>
            </a:r>
            <a:endParaRPr lang="en-US" sz="1200" dirty="0"/>
          </a:p>
        </p:txBody>
      </p:sp>
      <p:sp>
        <p:nvSpPr>
          <p:cNvPr id="14" name="Text 11"/>
          <p:cNvSpPr/>
          <p:nvPr/>
        </p:nvSpPr>
        <p:spPr>
          <a:xfrm>
            <a:off x="6299142" y="1610134"/>
            <a:ext cx="5232401"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Thứ tự luật</a:t>
            </a:r>
            <a:endParaRPr lang="en-US" sz="1400" dirty="0"/>
          </a:p>
        </p:txBody>
      </p:sp>
      <p:sp>
        <p:nvSpPr>
          <p:cNvPr id="15" name="Shape 12"/>
          <p:cNvSpPr/>
          <p:nvPr/>
        </p:nvSpPr>
        <p:spPr>
          <a:xfrm>
            <a:off x="6299142" y="1899562"/>
            <a:ext cx="5080001" cy="441781"/>
          </a:xfrm>
          <a:prstGeom prst="rect">
            <a:avLst/>
          </a:prstGeom>
          <a:solidFill>
            <a:srgbClr val="FDFCF9"/>
          </a:solidFill>
          <a:ln/>
        </p:spPr>
      </p:sp>
      <p:sp>
        <p:nvSpPr>
          <p:cNvPr id="16" name="Text 13"/>
          <p:cNvSpPr/>
          <p:nvPr/>
        </p:nvSpPr>
        <p:spPr>
          <a:xfrm>
            <a:off x="6426069" y="1988418"/>
            <a:ext cx="253927" cy="264069"/>
          </a:xfrm>
          <a:custGeom>
            <a:avLst/>
            <a:gdLst/>
            <a:ahLst/>
            <a:cxnLst/>
            <a:rect l="l" t="t" r="r" b="b"/>
            <a:pathLst>
              <a:path w="253927" h="264069">
                <a:moveTo>
                  <a:pt x="126963" y="0"/>
                </a:moveTo>
                <a:lnTo>
                  <a:pt x="126963" y="0"/>
                </a:lnTo>
                <a:arcTo wR="126963" hR="126963" stAng="16200000" swAng="5400000"/>
                <a:lnTo>
                  <a:pt x="253927" y="137106"/>
                </a:lnTo>
                <a:arcTo wR="126963" hR="126963" stAng="0" swAng="5400000"/>
                <a:lnTo>
                  <a:pt x="126963" y="264069"/>
                </a:lnTo>
                <a:arcTo wR="126963" hR="126963" stAng="5400000" swAng="5400000"/>
                <a:lnTo>
                  <a:pt x="0" y="126963"/>
                </a:lnTo>
                <a:arcTo wR="126963" hR="126963" stAng="10800000" swAng="5400000"/>
                <a:close/>
              </a:path>
            </a:pathLst>
          </a:custGeom>
          <a:solidFill>
            <a:srgbClr val="15233F"/>
          </a:solidFill>
          <a:ln/>
        </p:spPr>
        <p:txBody>
          <a:bodyPr wrap="square" lIns="0" tIns="25400" rIns="0" bIns="0" rtlCol="0" anchor="t">
            <a:normAutofit/>
          </a:bodyPr>
          <a:lstStyle/>
          <a:p>
            <a:pPr marL="0" indent="0" algn="ctr">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1</a:t>
            </a:r>
            <a:endParaRPr lang="en-US" sz="1200" dirty="0"/>
          </a:p>
        </p:txBody>
      </p:sp>
      <p:sp>
        <p:nvSpPr>
          <p:cNvPr id="17" name="Text 14"/>
          <p:cNvSpPr/>
          <p:nvPr/>
        </p:nvSpPr>
        <p:spPr>
          <a:xfrm>
            <a:off x="6781566" y="2000467"/>
            <a:ext cx="4604770" cy="26536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B4558"/>
                </a:solidFill>
                <a:latin typeface="Times New Roman" pitchFamily="18" charset="0"/>
                <a:ea typeface="Times New Roman" pitchFamily="18" charset="-122"/>
                <a:cs typeface="Times New Roman" pitchFamily="18" charset="-120"/>
              </a:rPr>
              <a:t>Thiếu tay → không cử chỉ</a:t>
            </a:r>
            <a:endParaRPr lang="en-US" sz="1400" dirty="0"/>
          </a:p>
        </p:txBody>
      </p:sp>
      <p:sp>
        <p:nvSpPr>
          <p:cNvPr id="18" name="Shape 15"/>
          <p:cNvSpPr/>
          <p:nvPr/>
        </p:nvSpPr>
        <p:spPr>
          <a:xfrm>
            <a:off x="6299142" y="2417483"/>
            <a:ext cx="5080001" cy="657637"/>
          </a:xfrm>
          <a:prstGeom prst="rect">
            <a:avLst/>
          </a:prstGeom>
          <a:solidFill>
            <a:srgbClr val="FDFCF9"/>
          </a:solidFill>
          <a:ln/>
        </p:spPr>
      </p:sp>
      <p:sp>
        <p:nvSpPr>
          <p:cNvPr id="19" name="Text 16"/>
          <p:cNvSpPr/>
          <p:nvPr/>
        </p:nvSpPr>
        <p:spPr>
          <a:xfrm>
            <a:off x="6426069" y="2614228"/>
            <a:ext cx="253927" cy="264069"/>
          </a:xfrm>
          <a:custGeom>
            <a:avLst/>
            <a:gdLst/>
            <a:ahLst/>
            <a:cxnLst/>
            <a:rect l="l" t="t" r="r" b="b"/>
            <a:pathLst>
              <a:path w="253927" h="264069">
                <a:moveTo>
                  <a:pt x="126963" y="0"/>
                </a:moveTo>
                <a:lnTo>
                  <a:pt x="126963" y="0"/>
                </a:lnTo>
                <a:arcTo wR="126963" hR="126963" stAng="16200000" swAng="5400000"/>
                <a:lnTo>
                  <a:pt x="253927" y="137106"/>
                </a:lnTo>
                <a:arcTo wR="126963" hR="126963" stAng="0" swAng="5400000"/>
                <a:lnTo>
                  <a:pt x="126963" y="264069"/>
                </a:lnTo>
                <a:arcTo wR="126963" hR="126963" stAng="5400000" swAng="5400000"/>
                <a:lnTo>
                  <a:pt x="0" y="126963"/>
                </a:lnTo>
                <a:arcTo wR="126963" hR="126963" stAng="10800000" swAng="5400000"/>
                <a:close/>
              </a:path>
            </a:pathLst>
          </a:custGeom>
          <a:solidFill>
            <a:srgbClr val="15233F"/>
          </a:solidFill>
          <a:ln/>
        </p:spPr>
        <p:txBody>
          <a:bodyPr wrap="square" lIns="0" tIns="25400" rIns="0" bIns="0" rtlCol="0" anchor="t">
            <a:normAutofit/>
          </a:bodyPr>
          <a:lstStyle/>
          <a:p>
            <a:pPr marL="0" indent="0" algn="ctr">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2</a:t>
            </a:r>
            <a:endParaRPr lang="en-US" sz="1200" dirty="0"/>
          </a:p>
        </p:txBody>
      </p:sp>
      <p:sp>
        <p:nvSpPr>
          <p:cNvPr id="20" name="Text 17"/>
          <p:cNvSpPr/>
          <p:nvPr/>
        </p:nvSpPr>
        <p:spPr>
          <a:xfrm>
            <a:off x="6781566" y="2506340"/>
            <a:ext cx="4604770" cy="505325"/>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B4558"/>
                </a:solidFill>
                <a:latin typeface="Times New Roman" pitchFamily="18" charset="0"/>
                <a:ea typeface="Times New Roman" pitchFamily="18" charset="-122"/>
                <a:cs typeface="Times New Roman" pitchFamily="18" charset="-120"/>
              </a:rPr>
              <a:t>Tốc độ ngang </a:t>
            </a:r>
            <a:r>
              <a:rPr lang="en-US" sz="1400" b="1" dirty="0">
                <a:solidFill>
                  <a:srgbClr val="3B4558"/>
                </a:solidFill>
                <a:latin typeface="Times New Roman" pitchFamily="18" charset="0"/>
                <a:ea typeface="Times New Roman" pitchFamily="18" charset="-122"/>
                <a:cs typeface="Times New Roman" pitchFamily="18" charset="-120"/>
              </a:rPr>
              <a:t>và</a:t>
            </a:r>
            <a:r>
              <a:rPr lang="en-US" sz="1400" dirty="0">
                <a:solidFill>
                  <a:srgbClr val="3B4558"/>
                </a:solidFill>
                <a:latin typeface="Times New Roman" pitchFamily="18" charset="0"/>
                <a:ea typeface="Times New Roman" pitchFamily="18" charset="-122"/>
                <a:cs typeface="Times New Roman" pitchFamily="18" charset="-120"/>
              </a:rPr>
              <a:t> dời ngang cùng vượt ngưỡng → </a:t>
            </a:r>
            <a:r>
              <a:rPr lang="en-US" sz="1400" b="1" dirty="0">
                <a:solidFill>
                  <a:srgbClr val="3B4558"/>
                </a:solidFill>
                <a:latin typeface="Times New Roman" pitchFamily="18" charset="0"/>
                <a:ea typeface="Times New Roman" pitchFamily="18" charset="-122"/>
                <a:cs typeface="Times New Roman" pitchFamily="18" charset="-120"/>
              </a:rPr>
              <a:t>vuốt</a:t>
            </a:r>
            <a:r>
              <a:rPr lang="en-US" sz="1400" dirty="0">
                <a:solidFill>
                  <a:srgbClr val="3B4558"/>
                </a:solidFill>
                <a:latin typeface="Times New Roman" pitchFamily="18" charset="0"/>
                <a:ea typeface="Times New Roman" pitchFamily="18" charset="-122"/>
                <a:cs typeface="Times New Roman" pitchFamily="18" charset="-120"/>
              </a:rPr>
              <a:t>; hướng theo dấu dời ngang so với hằng số đã đo</a:t>
            </a:r>
            <a:endParaRPr lang="en-US" sz="1400" dirty="0"/>
          </a:p>
        </p:txBody>
      </p:sp>
      <p:sp>
        <p:nvSpPr>
          <p:cNvPr id="21" name="Shape 18"/>
          <p:cNvSpPr/>
          <p:nvPr/>
        </p:nvSpPr>
        <p:spPr>
          <a:xfrm>
            <a:off x="6299142" y="3151262"/>
            <a:ext cx="5080001" cy="657637"/>
          </a:xfrm>
          <a:prstGeom prst="rect">
            <a:avLst/>
          </a:prstGeom>
          <a:solidFill>
            <a:srgbClr val="FDFCF9"/>
          </a:solidFill>
          <a:ln/>
        </p:spPr>
      </p:sp>
      <p:sp>
        <p:nvSpPr>
          <p:cNvPr id="22" name="Text 19"/>
          <p:cNvSpPr/>
          <p:nvPr/>
        </p:nvSpPr>
        <p:spPr>
          <a:xfrm>
            <a:off x="6426069" y="3348006"/>
            <a:ext cx="253927" cy="264069"/>
          </a:xfrm>
          <a:custGeom>
            <a:avLst/>
            <a:gdLst/>
            <a:ahLst/>
            <a:cxnLst/>
            <a:rect l="l" t="t" r="r" b="b"/>
            <a:pathLst>
              <a:path w="253927" h="264069">
                <a:moveTo>
                  <a:pt x="126963" y="0"/>
                </a:moveTo>
                <a:lnTo>
                  <a:pt x="126963" y="0"/>
                </a:lnTo>
                <a:arcTo wR="126963" hR="126963" stAng="16200000" swAng="5400000"/>
                <a:lnTo>
                  <a:pt x="253927" y="137106"/>
                </a:lnTo>
                <a:arcTo wR="126963" hR="126963" stAng="0" swAng="5400000"/>
                <a:lnTo>
                  <a:pt x="126963" y="264069"/>
                </a:lnTo>
                <a:arcTo wR="126963" hR="126963" stAng="5400000" swAng="5400000"/>
                <a:lnTo>
                  <a:pt x="0" y="126963"/>
                </a:lnTo>
                <a:arcTo wR="126963" hR="126963" stAng="10800000" swAng="5400000"/>
                <a:close/>
              </a:path>
            </a:pathLst>
          </a:custGeom>
          <a:solidFill>
            <a:srgbClr val="15233F"/>
          </a:solidFill>
          <a:ln/>
        </p:spPr>
        <p:txBody>
          <a:bodyPr wrap="square" lIns="0" tIns="25400" rIns="0" bIns="0" rtlCol="0" anchor="t">
            <a:normAutofit/>
          </a:bodyPr>
          <a:lstStyle/>
          <a:p>
            <a:pPr marL="0" indent="0" algn="ctr">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3</a:t>
            </a:r>
            <a:endParaRPr lang="en-US" sz="1200" dirty="0"/>
          </a:p>
        </p:txBody>
      </p:sp>
      <p:sp>
        <p:nvSpPr>
          <p:cNvPr id="23" name="Text 20"/>
          <p:cNvSpPr/>
          <p:nvPr/>
        </p:nvSpPr>
        <p:spPr>
          <a:xfrm>
            <a:off x="6781566" y="3240119"/>
            <a:ext cx="4604770" cy="505325"/>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B4558"/>
                </a:solidFill>
                <a:latin typeface="Times New Roman" pitchFamily="18" charset="0"/>
                <a:ea typeface="Times New Roman" pitchFamily="18" charset="-122"/>
                <a:cs typeface="Times New Roman" pitchFamily="18" charset="-120"/>
              </a:rPr>
              <a:t>Độ mở cái–trỏ tăng hoặc giảm vượt ngưỡng → </a:t>
            </a:r>
            <a:r>
              <a:rPr lang="en-US" sz="1400" b="1" dirty="0">
                <a:solidFill>
                  <a:srgbClr val="3B4558"/>
                </a:solidFill>
                <a:latin typeface="Times New Roman" pitchFamily="18" charset="0"/>
                <a:ea typeface="Times New Roman" pitchFamily="18" charset="-122"/>
                <a:cs typeface="Times New Roman" pitchFamily="18" charset="-120"/>
              </a:rPr>
              <a:t>zoom in</a:t>
            </a:r>
            <a:r>
              <a:rPr lang="en-US" sz="1400" dirty="0">
                <a:solidFill>
                  <a:srgbClr val="3B4558"/>
                </a:solidFill>
                <a:latin typeface="Times New Roman" pitchFamily="18" charset="0"/>
                <a:ea typeface="Times New Roman" pitchFamily="18" charset="-122"/>
                <a:cs typeface="Times New Roman" pitchFamily="18" charset="-120"/>
              </a:rPr>
              <a:t> hoặc </a:t>
            </a:r>
            <a:r>
              <a:rPr lang="en-US" sz="1400" b="1" dirty="0">
                <a:solidFill>
                  <a:srgbClr val="3B4558"/>
                </a:solidFill>
                <a:latin typeface="Times New Roman" pitchFamily="18" charset="0"/>
                <a:ea typeface="Times New Roman" pitchFamily="18" charset="-122"/>
                <a:cs typeface="Times New Roman" pitchFamily="18" charset="-120"/>
              </a:rPr>
              <a:t>zoom out</a:t>
            </a:r>
            <a:endParaRPr lang="en-US" sz="1400" dirty="0"/>
          </a:p>
        </p:txBody>
      </p:sp>
      <p:sp>
        <p:nvSpPr>
          <p:cNvPr id="24" name="Shape 21"/>
          <p:cNvSpPr/>
          <p:nvPr/>
        </p:nvSpPr>
        <p:spPr>
          <a:xfrm>
            <a:off x="6299142" y="3885040"/>
            <a:ext cx="5080001" cy="441781"/>
          </a:xfrm>
          <a:prstGeom prst="rect">
            <a:avLst/>
          </a:prstGeom>
          <a:solidFill>
            <a:srgbClr val="FDFCF9"/>
          </a:solidFill>
          <a:ln/>
        </p:spPr>
      </p:sp>
      <p:sp>
        <p:nvSpPr>
          <p:cNvPr id="25" name="Text 22"/>
          <p:cNvSpPr/>
          <p:nvPr/>
        </p:nvSpPr>
        <p:spPr>
          <a:xfrm>
            <a:off x="6426069" y="3973891"/>
            <a:ext cx="253927" cy="264069"/>
          </a:xfrm>
          <a:custGeom>
            <a:avLst/>
            <a:gdLst/>
            <a:ahLst/>
            <a:cxnLst/>
            <a:rect l="l" t="t" r="r" b="b"/>
            <a:pathLst>
              <a:path w="253927" h="264069">
                <a:moveTo>
                  <a:pt x="126963" y="0"/>
                </a:moveTo>
                <a:lnTo>
                  <a:pt x="126963" y="0"/>
                </a:lnTo>
                <a:arcTo wR="126963" hR="126963" stAng="16200000" swAng="5400000"/>
                <a:lnTo>
                  <a:pt x="253927" y="137106"/>
                </a:lnTo>
                <a:arcTo wR="126963" hR="126963" stAng="0" swAng="5400000"/>
                <a:lnTo>
                  <a:pt x="126963" y="264069"/>
                </a:lnTo>
                <a:arcTo wR="126963" hR="126963" stAng="5400000" swAng="5400000"/>
                <a:lnTo>
                  <a:pt x="0" y="126963"/>
                </a:lnTo>
                <a:arcTo wR="126963" hR="126963" stAng="10800000" swAng="5400000"/>
                <a:close/>
              </a:path>
            </a:pathLst>
          </a:custGeom>
          <a:solidFill>
            <a:srgbClr val="15233F"/>
          </a:solidFill>
          <a:ln/>
        </p:spPr>
        <p:txBody>
          <a:bodyPr wrap="square" lIns="0" tIns="25400" rIns="0" bIns="0" rtlCol="0" anchor="t">
            <a:normAutofit/>
          </a:bodyPr>
          <a:lstStyle/>
          <a:p>
            <a:pPr marL="0" indent="0" algn="ctr">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4</a:t>
            </a:r>
            <a:endParaRPr lang="en-US" sz="1200" dirty="0"/>
          </a:p>
        </p:txBody>
      </p:sp>
      <p:sp>
        <p:nvSpPr>
          <p:cNvPr id="26" name="Text 23"/>
          <p:cNvSpPr/>
          <p:nvPr/>
        </p:nvSpPr>
        <p:spPr>
          <a:xfrm>
            <a:off x="6781566" y="3985946"/>
            <a:ext cx="4604770" cy="26536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B4558"/>
                </a:solidFill>
                <a:latin typeface="Times New Roman" pitchFamily="18" charset="0"/>
                <a:ea typeface="Times New Roman" pitchFamily="18" charset="-122"/>
                <a:cs typeface="Times New Roman" pitchFamily="18" charset="-120"/>
              </a:rPr>
              <a:t>Còn lại → không cử chỉ</a:t>
            </a:r>
            <a:endParaRPr lang="en-US" sz="1400" dirty="0"/>
          </a:p>
        </p:txBody>
      </p:sp>
      <p:sp>
        <p:nvSpPr>
          <p:cNvPr id="27" name="Shape 24"/>
          <p:cNvSpPr/>
          <p:nvPr/>
        </p:nvSpPr>
        <p:spPr>
          <a:xfrm>
            <a:off x="6299142" y="4402962"/>
            <a:ext cx="5080001" cy="685638"/>
          </a:xfrm>
          <a:prstGeom prst="rect">
            <a:avLst/>
          </a:prstGeom>
          <a:solidFill>
            <a:srgbClr val="FDFCF9"/>
          </a:solidFill>
          <a:ln/>
        </p:spPr>
      </p:sp>
      <p:sp>
        <p:nvSpPr>
          <p:cNvPr id="28" name="Shape 25"/>
          <p:cNvSpPr/>
          <p:nvPr/>
        </p:nvSpPr>
        <p:spPr>
          <a:xfrm>
            <a:off x="6318192" y="4402962"/>
            <a:ext cx="0" cy="685638"/>
          </a:xfrm>
          <a:prstGeom prst="line">
            <a:avLst/>
          </a:prstGeom>
          <a:noFill/>
          <a:ln w="38100">
            <a:solidFill>
              <a:srgbClr val="2A5A9B"/>
            </a:solidFill>
            <a:prstDash val="solid"/>
          </a:ln>
        </p:spPr>
      </p:sp>
      <p:sp>
        <p:nvSpPr>
          <p:cNvPr id="29" name="Text 26"/>
          <p:cNvSpPr/>
          <p:nvPr/>
        </p:nvSpPr>
        <p:spPr>
          <a:xfrm>
            <a:off x="6489128" y="4517244"/>
            <a:ext cx="4879789"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Vì sao vuốt được xét trước zoom?</a:t>
            </a:r>
            <a:endParaRPr lang="en-US" sz="1400" dirty="0"/>
          </a:p>
        </p:txBody>
      </p:sp>
      <p:sp>
        <p:nvSpPr>
          <p:cNvPr id="30" name="Text 27"/>
          <p:cNvSpPr/>
          <p:nvPr/>
        </p:nvSpPr>
        <p:spPr>
          <a:xfrm>
            <a:off x="6489128" y="4768602"/>
            <a:ext cx="4879789"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Cú hất của IPN mở bàn tay ra, làm độ mở cái–trỏ cũng đổi theo</a:t>
            </a:r>
            <a:endParaRPr lang="en-US" sz="1200" dirty="0"/>
          </a:p>
        </p:txBody>
      </p:sp>
      <p:sp>
        <p:nvSpPr>
          <p:cNvPr id="31" name="Text 28"/>
          <p:cNvSpPr/>
          <p:nvPr/>
        </p:nvSpPr>
        <p:spPr>
          <a:xfrm>
            <a:off x="812785" y="6238211"/>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5F6878"/>
                </a:solidFill>
                <a:latin typeface="Times New Roman" pitchFamily="18" charset="0"/>
                <a:ea typeface="Times New Roman" pitchFamily="18" charset="-122"/>
                <a:cs typeface="Times New Roman" pitchFamily="18" charset="-120"/>
              </a:rPr>
              <a:t>tiến</a:t>
            </a:r>
            <a:r>
              <a:rPr lang="en-US" sz="1200" dirty="0">
                <a:solidFill>
                  <a:srgbClr val="5F6878"/>
                </a:solidFill>
                <a:latin typeface="Times New Roman" pitchFamily="18" charset="0"/>
                <a:ea typeface="Times New Roman" pitchFamily="18" charset="-122"/>
                <a:cs typeface="Times New Roman" pitchFamily="18" charset="-120"/>
              </a:rPr>
              <a:t> </a:t>
            </a:r>
            <a:r>
              <a:rPr lang="en-US" sz="1200" dirty="0" err="1" smtClean="0">
                <a:solidFill>
                  <a:srgbClr val="5F6878"/>
                </a:solidFill>
                <a:latin typeface="Times New Roman" pitchFamily="18" charset="0"/>
                <a:ea typeface="Times New Roman" pitchFamily="18" charset="-122"/>
                <a:cs typeface="Times New Roman" pitchFamily="18" charset="-120"/>
              </a:rPr>
              <a:t>độ</a:t>
            </a:r>
            <a:endParaRPr lang="en-US" sz="1200" dirty="0"/>
          </a:p>
        </p:txBody>
      </p:sp>
      <p:sp>
        <p:nvSpPr>
          <p:cNvPr id="32" name="Text 29"/>
          <p:cNvSpPr/>
          <p:nvPr/>
        </p:nvSpPr>
        <p:spPr>
          <a:xfrm>
            <a:off x="10871230" y="6238211"/>
            <a:ext cx="507912"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12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5" y="711144"/>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6"/>
                </a:solidFill>
                <a:latin typeface="Times New Roman" pitchFamily="18" charset="0"/>
                <a:ea typeface="Times New Roman" pitchFamily="18" charset="-122"/>
                <a:cs typeface="Times New Roman" pitchFamily="18" charset="-120"/>
              </a:rPr>
              <a:t>MÔ HÌNH VÀ KẾT QUẢ</a:t>
            </a:r>
            <a:endParaRPr lang="en-US" sz="1200" dirty="0"/>
          </a:p>
        </p:txBody>
      </p:sp>
      <p:sp>
        <p:nvSpPr>
          <p:cNvPr id="3" name="Text 1"/>
          <p:cNvSpPr>
            <a:spLocks noGrp="1"/>
          </p:cNvSpPr>
          <p:nvPr>
            <p:ph type="title"/>
          </p:nvPr>
        </p:nvSpPr>
        <p:spPr>
          <a:xfrm>
            <a:off x="812785" y="987927"/>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5233F"/>
                </a:solidFill>
                <a:latin typeface="Times New Roman" pitchFamily="18" charset="0"/>
                <a:ea typeface="Times New Roman" pitchFamily="18" charset="-122"/>
                <a:cs typeface="Times New Roman" pitchFamily="18" charset="-120"/>
              </a:rPr>
              <a:t>Kết quả trên tập val</a:t>
            </a:r>
            <a:endParaRPr lang="en-US" sz="3000" dirty="0"/>
          </a:p>
        </p:txBody>
      </p:sp>
      <p:sp>
        <p:nvSpPr>
          <p:cNvPr id="4" name="Shape 2"/>
          <p:cNvSpPr/>
          <p:nvPr/>
        </p:nvSpPr>
        <p:spPr>
          <a:xfrm>
            <a:off x="812785" y="1610134"/>
            <a:ext cx="6349927" cy="2309813"/>
          </a:xfrm>
          <a:prstGeom prst="rect">
            <a:avLst/>
          </a:prstGeom>
          <a:solidFill>
            <a:srgbClr val="FDFCF9"/>
          </a:solidFill>
          <a:ln/>
        </p:spPr>
      </p:sp>
      <p:sp>
        <p:nvSpPr>
          <p:cNvPr id="5" name="Shape 3"/>
          <p:cNvSpPr/>
          <p:nvPr/>
        </p:nvSpPr>
        <p:spPr>
          <a:xfrm>
            <a:off x="7159538" y="1610134"/>
            <a:ext cx="0" cy="2309813"/>
          </a:xfrm>
          <a:prstGeom prst="line">
            <a:avLst/>
          </a:prstGeom>
          <a:noFill/>
          <a:ln w="6350">
            <a:solidFill>
              <a:srgbClr val="DCD8CE"/>
            </a:solidFill>
            <a:prstDash val="solid"/>
          </a:ln>
        </p:spPr>
      </p:sp>
      <p:sp>
        <p:nvSpPr>
          <p:cNvPr id="6" name="Shape 4"/>
          <p:cNvSpPr/>
          <p:nvPr/>
        </p:nvSpPr>
        <p:spPr>
          <a:xfrm>
            <a:off x="812785" y="3916772"/>
            <a:ext cx="6349927" cy="0"/>
          </a:xfrm>
          <a:prstGeom prst="line">
            <a:avLst/>
          </a:prstGeom>
          <a:noFill/>
          <a:ln w="6350">
            <a:solidFill>
              <a:srgbClr val="DCD8CE"/>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193" y="1619542"/>
          <a:ext cx="6335815" cy="2295702"/>
        </p:xfrm>
        <a:graphic>
          <a:graphicData uri="http://schemas.openxmlformats.org/drawingml/2006/table">
            <a:tbl>
              <a:tblPr/>
              <a:tblGrid>
                <a:gridCol w="2344252">
                  <a:extLst>
                    <a:ext uri="{9D8B030D-6E8A-4147-A177-3AD203B41FA5}">
                      <a16:colId xmlns:a16="http://schemas.microsoft.com/office/drawing/2014/main" val="20000"/>
                    </a:ext>
                  </a:extLst>
                </a:gridCol>
                <a:gridCol w="1330521">
                  <a:extLst>
                    <a:ext uri="{9D8B030D-6E8A-4147-A177-3AD203B41FA5}">
                      <a16:colId xmlns:a16="http://schemas.microsoft.com/office/drawing/2014/main" val="20001"/>
                    </a:ext>
                  </a:extLst>
                </a:gridCol>
                <a:gridCol w="1330521">
                  <a:extLst>
                    <a:ext uri="{9D8B030D-6E8A-4147-A177-3AD203B41FA5}">
                      <a16:colId xmlns:a16="http://schemas.microsoft.com/office/drawing/2014/main" val="20002"/>
                    </a:ext>
                  </a:extLst>
                </a:gridCol>
                <a:gridCol w="1330521">
                  <a:extLst>
                    <a:ext uri="{9D8B030D-6E8A-4147-A177-3AD203B41FA5}">
                      <a16:colId xmlns:a16="http://schemas.microsoft.com/office/drawing/2014/main" val="20003"/>
                    </a:ext>
                  </a:extLst>
                </a:gridCol>
              </a:tblGrid>
              <a:tr h="382617">
                <a:tc>
                  <a:txBody>
                    <a:bodyPr/>
                    <a:lstStyle/>
                    <a:p>
                      <a:pPr marL="0" indent="0">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Lớp</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gn="r">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Precision</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gn="r">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Recall</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gn="r">
                        <a:lnSpc>
                          <a:spcPts val="1960"/>
                        </a:lnSpc>
                        <a:buNone/>
                      </a:pPr>
                      <a:r>
                        <a:rPr lang="en-US" sz="1400" b="1" dirty="0">
                          <a:solidFill>
                            <a:srgbClr val="F2EFE8"/>
                          </a:solidFill>
                          <a:latin typeface="Times New Roman" pitchFamily="18" charset="0"/>
                          <a:ea typeface="Times New Roman" pitchFamily="18" charset="-122"/>
                          <a:cs typeface="Times New Roman" pitchFamily="18" charset="-120"/>
                        </a:rPr>
                        <a:t>F1</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extLst>
                  <a:ext uri="{0D108BD9-81ED-4DB2-BD59-A6C34878D82A}">
                    <a16:rowId xmlns:a16="http://schemas.microsoft.com/office/drawing/2014/main" val="10000"/>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Không cử chỉ</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0,984</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0,560</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0,714</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1"/>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Vuốt trái</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0,030</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0,577</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0,056</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2"/>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Vuốt phải</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0,023</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0,438</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0,043</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3"/>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Zoom in</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0,097</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0,543</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0,164</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4"/>
                  </a:ext>
                </a:extLst>
              </a:tr>
              <a:tr h="382617">
                <a:tc>
                  <a:txBody>
                    <a:bodyPr/>
                    <a:lstStyle/>
                    <a:p>
                      <a:pPr marL="0" indent="0">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Zoom out</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0,103</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0,617</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r">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0,176</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5"/>
          <p:cNvSpPr/>
          <p:nvPr/>
        </p:nvSpPr>
        <p:spPr>
          <a:xfrm>
            <a:off x="812785" y="4072303"/>
            <a:ext cx="6540425"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233F"/>
                </a:solidFill>
                <a:latin typeface="Times New Roman" pitchFamily="18" charset="0"/>
                <a:ea typeface="Times New Roman" pitchFamily="18" charset="-122"/>
                <a:cs typeface="Times New Roman" pitchFamily="18" charset="-120"/>
              </a:rPr>
              <a:t>Từ ma trận nhầm lẫn</a:t>
            </a:r>
            <a:endParaRPr lang="en-US" sz="1200" dirty="0"/>
          </a:p>
        </p:txBody>
      </p:sp>
      <p:sp>
        <p:nvSpPr>
          <p:cNvPr id="9" name="Shape 6"/>
          <p:cNvSpPr/>
          <p:nvPr/>
        </p:nvSpPr>
        <p:spPr>
          <a:xfrm>
            <a:off x="812785" y="4438017"/>
            <a:ext cx="3098786" cy="1082587"/>
          </a:xfrm>
          <a:prstGeom prst="rect">
            <a:avLst/>
          </a:prstGeom>
          <a:solidFill>
            <a:srgbClr val="FDFCF9"/>
          </a:solidFill>
          <a:ln/>
        </p:spPr>
      </p:sp>
      <p:sp>
        <p:nvSpPr>
          <p:cNvPr id="10" name="Shape 7"/>
          <p:cNvSpPr/>
          <p:nvPr/>
        </p:nvSpPr>
        <p:spPr>
          <a:xfrm>
            <a:off x="812785" y="4450717"/>
            <a:ext cx="3098786" cy="0"/>
          </a:xfrm>
          <a:prstGeom prst="line">
            <a:avLst/>
          </a:prstGeom>
          <a:noFill/>
          <a:ln w="25400">
            <a:solidFill>
              <a:srgbClr val="A84E16"/>
            </a:solidFill>
            <a:prstDash val="solid"/>
          </a:ln>
        </p:spPr>
      </p:sp>
      <p:sp>
        <p:nvSpPr>
          <p:cNvPr id="11" name="Text 8"/>
          <p:cNvSpPr/>
          <p:nvPr/>
        </p:nvSpPr>
        <p:spPr>
          <a:xfrm>
            <a:off x="965141" y="4575820"/>
            <a:ext cx="2877896"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A84E16"/>
                </a:solidFill>
                <a:latin typeface="Times New Roman" pitchFamily="18" charset="0"/>
                <a:ea typeface="Times New Roman" pitchFamily="18" charset="-122"/>
                <a:cs typeface="Times New Roman" pitchFamily="18" charset="-120"/>
              </a:rPr>
              <a:t>44%</a:t>
            </a:r>
            <a:endParaRPr lang="en-US" sz="3000" dirty="0"/>
          </a:p>
        </p:txBody>
      </p:sp>
      <p:sp>
        <p:nvSpPr>
          <p:cNvPr id="12" name="Text 9"/>
          <p:cNvSpPr/>
          <p:nvPr/>
        </p:nvSpPr>
        <p:spPr>
          <a:xfrm>
            <a:off x="965141" y="4994895"/>
            <a:ext cx="287789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cửa sổ “không cử chỉ” bị báo thành cử chỉ; khoảng 80% số đó thành vuốt</a:t>
            </a:r>
            <a:endParaRPr lang="en-US" sz="1200" dirty="0"/>
          </a:p>
        </p:txBody>
      </p:sp>
      <p:sp>
        <p:nvSpPr>
          <p:cNvPr id="13" name="Shape 10"/>
          <p:cNvSpPr/>
          <p:nvPr/>
        </p:nvSpPr>
        <p:spPr>
          <a:xfrm>
            <a:off x="4063927" y="4438017"/>
            <a:ext cx="3098786" cy="1082587"/>
          </a:xfrm>
          <a:prstGeom prst="rect">
            <a:avLst/>
          </a:prstGeom>
          <a:solidFill>
            <a:srgbClr val="FDFCF9"/>
          </a:solidFill>
          <a:ln/>
        </p:spPr>
      </p:sp>
      <p:sp>
        <p:nvSpPr>
          <p:cNvPr id="14" name="Shape 11"/>
          <p:cNvSpPr/>
          <p:nvPr/>
        </p:nvSpPr>
        <p:spPr>
          <a:xfrm>
            <a:off x="4063927" y="4450717"/>
            <a:ext cx="3098786" cy="0"/>
          </a:xfrm>
          <a:prstGeom prst="line">
            <a:avLst/>
          </a:prstGeom>
          <a:noFill/>
          <a:ln w="25400">
            <a:solidFill>
              <a:srgbClr val="2A5A9B"/>
            </a:solidFill>
            <a:prstDash val="solid"/>
          </a:ln>
        </p:spPr>
      </p:sp>
      <p:sp>
        <p:nvSpPr>
          <p:cNvPr id="15" name="Text 12"/>
          <p:cNvSpPr/>
          <p:nvPr/>
        </p:nvSpPr>
        <p:spPr>
          <a:xfrm>
            <a:off x="4216283" y="4575820"/>
            <a:ext cx="2877896"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2A5A9B"/>
                </a:solidFill>
                <a:latin typeface="Times New Roman" pitchFamily="18" charset="0"/>
                <a:ea typeface="Times New Roman" pitchFamily="18" charset="-122"/>
                <a:cs typeface="Times New Roman" pitchFamily="18" charset="-120"/>
              </a:rPr>
              <a:t>2 và 9</a:t>
            </a:r>
            <a:endParaRPr lang="en-US" sz="3000" dirty="0"/>
          </a:p>
        </p:txBody>
      </p:sp>
      <p:sp>
        <p:nvSpPr>
          <p:cNvPr id="16" name="Text 13"/>
          <p:cNvSpPr/>
          <p:nvPr/>
        </p:nvSpPr>
        <p:spPr>
          <a:xfrm>
            <a:off x="4216283" y="4994895"/>
            <a:ext cx="287789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cửa sổ nhầm hướng vuốt (trái → phải, phải → trái): rất ít</a:t>
            </a:r>
            <a:endParaRPr lang="en-US" sz="1200" dirty="0"/>
          </a:p>
        </p:txBody>
      </p:sp>
      <p:sp>
        <p:nvSpPr>
          <p:cNvPr id="17" name="Text 14"/>
          <p:cNvSpPr/>
          <p:nvPr/>
        </p:nvSpPr>
        <p:spPr>
          <a:xfrm>
            <a:off x="7569069" y="1610134"/>
            <a:ext cx="3924376"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Macro-F1 trên val</a:t>
            </a:r>
            <a:endParaRPr lang="en-US" sz="1400" dirty="0"/>
          </a:p>
        </p:txBody>
      </p:sp>
      <p:sp>
        <p:nvSpPr>
          <p:cNvPr id="18" name="Text 15"/>
          <p:cNvSpPr/>
          <p:nvPr/>
        </p:nvSpPr>
        <p:spPr>
          <a:xfrm>
            <a:off x="7569069" y="1924993"/>
            <a:ext cx="3924376"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233F"/>
                </a:solidFill>
                <a:latin typeface="Times New Roman" pitchFamily="18" charset="0"/>
                <a:ea typeface="Times New Roman" pitchFamily="18" charset="-122"/>
                <a:cs typeface="Times New Roman" pitchFamily="18" charset="-120"/>
              </a:rPr>
              <a:t>Mô hình luật</a:t>
            </a:r>
            <a:endParaRPr lang="en-US" sz="1200" dirty="0"/>
          </a:p>
        </p:txBody>
      </p:sp>
      <p:sp>
        <p:nvSpPr>
          <p:cNvPr id="19" name="Shape 16"/>
          <p:cNvSpPr/>
          <p:nvPr/>
        </p:nvSpPr>
        <p:spPr>
          <a:xfrm>
            <a:off x="7569069" y="2176419"/>
            <a:ext cx="2343106" cy="253927"/>
          </a:xfrm>
          <a:prstGeom prst="roundRect">
            <a:avLst>
              <a:gd name="adj" fmla="val 10003"/>
            </a:avLst>
          </a:prstGeom>
          <a:solidFill>
            <a:srgbClr val="A84E16"/>
          </a:solidFill>
          <a:ln/>
        </p:spPr>
      </p:sp>
      <p:sp>
        <p:nvSpPr>
          <p:cNvPr id="20" name="Text 17"/>
          <p:cNvSpPr/>
          <p:nvPr/>
        </p:nvSpPr>
        <p:spPr>
          <a:xfrm>
            <a:off x="10001031" y="2178918"/>
            <a:ext cx="586670"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E16"/>
                </a:solidFill>
                <a:latin typeface="Times New Roman" pitchFamily="18" charset="0"/>
                <a:ea typeface="Times New Roman" pitchFamily="18" charset="-122"/>
                <a:cs typeface="Times New Roman" pitchFamily="18" charset="-120"/>
              </a:rPr>
              <a:t>0,2305</a:t>
            </a:r>
            <a:endParaRPr lang="en-US" sz="1400" dirty="0"/>
          </a:p>
        </p:txBody>
      </p:sp>
      <p:sp>
        <p:nvSpPr>
          <p:cNvPr id="21" name="Text 18"/>
          <p:cNvSpPr/>
          <p:nvPr/>
        </p:nvSpPr>
        <p:spPr>
          <a:xfrm>
            <a:off x="7569069" y="2531914"/>
            <a:ext cx="392437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Luôn đoán “không cử chỉ”</a:t>
            </a:r>
            <a:endParaRPr lang="en-US" sz="1200" dirty="0"/>
          </a:p>
        </p:txBody>
      </p:sp>
      <p:sp>
        <p:nvSpPr>
          <p:cNvPr id="22" name="Shape 19"/>
          <p:cNvSpPr/>
          <p:nvPr/>
        </p:nvSpPr>
        <p:spPr>
          <a:xfrm>
            <a:off x="7569069" y="2783346"/>
            <a:ext cx="1993856" cy="253927"/>
          </a:xfrm>
          <a:prstGeom prst="roundRect">
            <a:avLst>
              <a:gd name="adj" fmla="val 10003"/>
            </a:avLst>
          </a:prstGeom>
          <a:solidFill>
            <a:srgbClr val="9AA4B5"/>
          </a:solidFill>
          <a:ln/>
        </p:spPr>
      </p:sp>
      <p:sp>
        <p:nvSpPr>
          <p:cNvPr id="23" name="Text 20"/>
          <p:cNvSpPr/>
          <p:nvPr/>
        </p:nvSpPr>
        <p:spPr>
          <a:xfrm>
            <a:off x="9651781" y="2785845"/>
            <a:ext cx="586670"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0,1964</a:t>
            </a:r>
            <a:endParaRPr lang="en-US" sz="1400" dirty="0"/>
          </a:p>
        </p:txBody>
      </p:sp>
      <p:sp>
        <p:nvSpPr>
          <p:cNvPr id="24" name="Text 21"/>
          <p:cNvSpPr/>
          <p:nvPr/>
        </p:nvSpPr>
        <p:spPr>
          <a:xfrm>
            <a:off x="7569069" y="3138841"/>
            <a:ext cx="392437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Đoán ngẫu nhiên</a:t>
            </a:r>
            <a:endParaRPr lang="en-US" sz="1200" dirty="0"/>
          </a:p>
        </p:txBody>
      </p:sp>
      <p:sp>
        <p:nvSpPr>
          <p:cNvPr id="25" name="Shape 22"/>
          <p:cNvSpPr/>
          <p:nvPr/>
        </p:nvSpPr>
        <p:spPr>
          <a:xfrm>
            <a:off x="7569069" y="3390267"/>
            <a:ext cx="806391" cy="253927"/>
          </a:xfrm>
          <a:prstGeom prst="roundRect">
            <a:avLst>
              <a:gd name="adj" fmla="val 10003"/>
            </a:avLst>
          </a:prstGeom>
          <a:solidFill>
            <a:srgbClr val="9AA4B5"/>
          </a:solidFill>
          <a:ln/>
        </p:spPr>
      </p:sp>
      <p:sp>
        <p:nvSpPr>
          <p:cNvPr id="26" name="Text 23"/>
          <p:cNvSpPr/>
          <p:nvPr/>
        </p:nvSpPr>
        <p:spPr>
          <a:xfrm>
            <a:off x="8464316" y="3392767"/>
            <a:ext cx="586670"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58"/>
                </a:solidFill>
                <a:latin typeface="Times New Roman" pitchFamily="18" charset="0"/>
                <a:ea typeface="Times New Roman" pitchFamily="18" charset="-122"/>
                <a:cs typeface="Times New Roman" pitchFamily="18" charset="-120"/>
              </a:rPr>
              <a:t>0,0796</a:t>
            </a:r>
            <a:endParaRPr lang="en-US" sz="1400" dirty="0"/>
          </a:p>
        </p:txBody>
      </p:sp>
      <p:sp>
        <p:nvSpPr>
          <p:cNvPr id="27" name="Text 24"/>
          <p:cNvSpPr/>
          <p:nvPr/>
        </p:nvSpPr>
        <p:spPr>
          <a:xfrm>
            <a:off x="7569069" y="3745768"/>
            <a:ext cx="392437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F6878"/>
                </a:solidFill>
                <a:latin typeface="Times New Roman" pitchFamily="18" charset="0"/>
                <a:ea typeface="Times New Roman" pitchFamily="18" charset="-122"/>
                <a:cs typeface="Times New Roman" pitchFamily="18" charset="-120"/>
              </a:rPr>
              <a:t>Không dùng độ chính xác: val có 96,5% cửa sổ nền, nên luôn đoán “không cử chỉ” cũng đạt 96,5%.</a:t>
            </a:r>
            <a:endParaRPr lang="en-US" sz="1200" dirty="0"/>
          </a:p>
        </p:txBody>
      </p:sp>
      <p:sp>
        <p:nvSpPr>
          <p:cNvPr id="28" name="Text 25"/>
          <p:cNvSpPr/>
          <p:nvPr/>
        </p:nvSpPr>
        <p:spPr>
          <a:xfrm>
            <a:off x="7569069" y="4258766"/>
            <a:ext cx="3810074" cy="708495"/>
          </a:xfrm>
          <a:prstGeom prst="roundRect">
            <a:avLst>
              <a:gd name="adj" fmla="val 8963"/>
            </a:avLst>
          </a:prstGeom>
          <a:solidFill>
            <a:srgbClr val="15233F"/>
          </a:solidFill>
          <a:ln/>
        </p:spPr>
        <p:txBody>
          <a:bodyPr wrap="square" lIns="133757" tIns="95701" rIns="28597" bIns="70272" rtlCol="0" anchor="t">
            <a:normAutofit/>
          </a:bodyPr>
          <a:lstStyle/>
          <a:p>
            <a:pPr marL="0" indent="0" algn="l">
              <a:lnSpc>
                <a:spcPts val="1890"/>
              </a:lnSpc>
              <a:buNone/>
            </a:pPr>
            <a:r>
              <a:rPr lang="en-US" sz="1400" dirty="0">
                <a:solidFill>
                  <a:srgbClr val="F2EFE8"/>
                </a:solidFill>
                <a:latin typeface="Times New Roman" pitchFamily="18" charset="0"/>
                <a:ea typeface="Times New Roman" pitchFamily="18" charset="-122"/>
                <a:cs typeface="Times New Roman" pitchFamily="18" charset="-120"/>
              </a:rPr>
              <a:t>Vượt cả hai đường cơ sở, đạt tiêu chí Phase 5, nhưng vẫn là kết quả yếu.</a:t>
            </a:r>
            <a:endParaRPr lang="en-US" sz="1400" dirty="0"/>
          </a:p>
        </p:txBody>
      </p:sp>
      <p:sp>
        <p:nvSpPr>
          <p:cNvPr id="29" name="Text 26"/>
          <p:cNvSpPr/>
          <p:nvPr/>
        </p:nvSpPr>
        <p:spPr>
          <a:xfrm>
            <a:off x="812785" y="6238218"/>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5F6878"/>
                </a:solidFill>
                <a:latin typeface="Times New Roman" pitchFamily="18" charset="0"/>
                <a:ea typeface="Times New Roman" pitchFamily="18" charset="-122"/>
                <a:cs typeface="Times New Roman" pitchFamily="18" charset="-120"/>
              </a:rPr>
              <a:t>tiến</a:t>
            </a:r>
            <a:r>
              <a:rPr lang="en-US" sz="1200" dirty="0">
                <a:solidFill>
                  <a:srgbClr val="5F6878"/>
                </a:solidFill>
                <a:latin typeface="Times New Roman" pitchFamily="18" charset="0"/>
                <a:ea typeface="Times New Roman" pitchFamily="18" charset="-122"/>
                <a:cs typeface="Times New Roman" pitchFamily="18" charset="-120"/>
              </a:rPr>
              <a:t> </a:t>
            </a:r>
            <a:r>
              <a:rPr lang="en-US" sz="1200" dirty="0" err="1" smtClean="0">
                <a:solidFill>
                  <a:srgbClr val="5F6878"/>
                </a:solidFill>
                <a:latin typeface="Times New Roman" pitchFamily="18" charset="0"/>
                <a:ea typeface="Times New Roman" pitchFamily="18" charset="-122"/>
                <a:cs typeface="Times New Roman" pitchFamily="18" charset="-120"/>
              </a:rPr>
              <a:t>độ</a:t>
            </a:r>
            <a:endParaRPr lang="en-US" sz="1200" dirty="0"/>
          </a:p>
        </p:txBody>
      </p:sp>
      <p:sp>
        <p:nvSpPr>
          <p:cNvPr id="30" name="Text 27"/>
          <p:cNvSpPr/>
          <p:nvPr/>
        </p:nvSpPr>
        <p:spPr>
          <a:xfrm>
            <a:off x="10871230" y="6238218"/>
            <a:ext cx="507912"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13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5" y="711144"/>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6"/>
                </a:solidFill>
                <a:latin typeface="Times New Roman" pitchFamily="18" charset="0"/>
                <a:ea typeface="Times New Roman" pitchFamily="18" charset="-122"/>
                <a:cs typeface="Times New Roman" pitchFamily="18" charset="-120"/>
              </a:rPr>
              <a:t>MÔ HÌNH VÀ KẾT QUẢ</a:t>
            </a:r>
            <a:endParaRPr lang="en-US" sz="1200" dirty="0"/>
          </a:p>
        </p:txBody>
      </p:sp>
      <p:sp>
        <p:nvSpPr>
          <p:cNvPr id="3" name="Text 1"/>
          <p:cNvSpPr>
            <a:spLocks noGrp="1"/>
          </p:cNvSpPr>
          <p:nvPr>
            <p:ph type="title"/>
          </p:nvPr>
        </p:nvSpPr>
        <p:spPr>
          <a:xfrm>
            <a:off x="812785" y="987927"/>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5233F"/>
                </a:solidFill>
                <a:latin typeface="Times New Roman" pitchFamily="18" charset="0"/>
                <a:ea typeface="Times New Roman" pitchFamily="18" charset="-122"/>
                <a:cs typeface="Times New Roman" pitchFamily="18" charset="-120"/>
              </a:rPr>
              <a:t>Demo thời gian thực v0</a:t>
            </a:r>
            <a:endParaRPr lang="en-US" sz="3000" dirty="0"/>
          </a:p>
        </p:txBody>
      </p:sp>
      <p:sp>
        <p:nvSpPr>
          <p:cNvPr id="4" name="Shape 2"/>
          <p:cNvSpPr/>
          <p:nvPr/>
        </p:nvSpPr>
        <p:spPr>
          <a:xfrm>
            <a:off x="819135" y="1616484"/>
            <a:ext cx="2362303" cy="1153892"/>
          </a:xfrm>
          <a:prstGeom prst="roundRect">
            <a:avLst>
              <a:gd name="adj" fmla="val 4953"/>
            </a:avLst>
          </a:prstGeom>
          <a:solidFill>
            <a:srgbClr val="FDFCF9"/>
          </a:solidFill>
          <a:ln w="12700">
            <a:solidFill>
              <a:srgbClr val="15233F"/>
            </a:solidFill>
            <a:prstDash val="solid"/>
          </a:ln>
        </p:spPr>
      </p:sp>
      <p:sp>
        <p:nvSpPr>
          <p:cNvPr id="5" name="Text 3"/>
          <p:cNvSpPr/>
          <p:nvPr/>
        </p:nvSpPr>
        <p:spPr>
          <a:xfrm>
            <a:off x="949119" y="1721123"/>
            <a:ext cx="2165405"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E16"/>
                </a:solidFill>
                <a:latin typeface="Times New Roman" pitchFamily="18" charset="0"/>
                <a:ea typeface="Times New Roman" pitchFamily="18" charset="-122"/>
                <a:cs typeface="Times New Roman" pitchFamily="18" charset="-120"/>
              </a:rPr>
              <a:t>1</a:t>
            </a:r>
            <a:endParaRPr lang="en-US" sz="1200" dirty="0"/>
          </a:p>
        </p:txBody>
      </p:sp>
      <p:sp>
        <p:nvSpPr>
          <p:cNvPr id="6" name="Text 4"/>
          <p:cNvSpPr/>
          <p:nvPr/>
        </p:nvSpPr>
        <p:spPr>
          <a:xfrm>
            <a:off x="949119" y="1972543"/>
            <a:ext cx="2165405" cy="25646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5233F"/>
                </a:solidFill>
                <a:latin typeface="Times New Roman" pitchFamily="18" charset="0"/>
                <a:ea typeface="Times New Roman" pitchFamily="18" charset="-122"/>
                <a:cs typeface="Times New Roman" pitchFamily="18" charset="-120"/>
              </a:rPr>
              <a:t>Webcam → điểm mốc</a:t>
            </a:r>
            <a:endParaRPr lang="en-US" sz="1400" dirty="0"/>
          </a:p>
        </p:txBody>
      </p:sp>
      <p:pic>
        <p:nvPicPr>
          <p:cNvPr id="7" name="Image 0" descr="arrow-right"/>
          <p:cNvPicPr>
            <a:picLocks noChangeAspect="1"/>
          </p:cNvPicPr>
          <p:nvPr/>
        </p:nvPicPr>
        <p:blipFill>
          <a:blip r:embed="rId3"/>
          <a:srcRect/>
          <a:stretch/>
        </p:blipFill>
        <p:spPr>
          <a:xfrm>
            <a:off x="3251215" y="2136291"/>
            <a:ext cx="228571" cy="114285"/>
          </a:xfrm>
          <a:prstGeom prst="rect">
            <a:avLst/>
          </a:prstGeom>
        </p:spPr>
      </p:pic>
      <p:sp>
        <p:nvSpPr>
          <p:cNvPr id="8" name="Shape 5"/>
          <p:cNvSpPr/>
          <p:nvPr/>
        </p:nvSpPr>
        <p:spPr>
          <a:xfrm>
            <a:off x="3549562" y="1616484"/>
            <a:ext cx="2362377" cy="1153892"/>
          </a:xfrm>
          <a:prstGeom prst="roundRect">
            <a:avLst>
              <a:gd name="adj" fmla="val 4953"/>
            </a:avLst>
          </a:prstGeom>
          <a:solidFill>
            <a:srgbClr val="FDFCF9"/>
          </a:solidFill>
          <a:ln w="12700">
            <a:solidFill>
              <a:srgbClr val="15233F"/>
            </a:solidFill>
            <a:prstDash val="solid"/>
          </a:ln>
        </p:spPr>
      </p:sp>
      <p:sp>
        <p:nvSpPr>
          <p:cNvPr id="9" name="Text 6"/>
          <p:cNvSpPr/>
          <p:nvPr/>
        </p:nvSpPr>
        <p:spPr>
          <a:xfrm>
            <a:off x="3679546" y="1721123"/>
            <a:ext cx="2165481"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E16"/>
                </a:solidFill>
                <a:latin typeface="Times New Roman" pitchFamily="18" charset="0"/>
                <a:ea typeface="Times New Roman" pitchFamily="18" charset="-122"/>
                <a:cs typeface="Times New Roman" pitchFamily="18" charset="-120"/>
              </a:rPr>
              <a:t>2</a:t>
            </a:r>
            <a:endParaRPr lang="en-US" sz="1200" dirty="0"/>
          </a:p>
        </p:txBody>
      </p:sp>
      <p:sp>
        <p:nvSpPr>
          <p:cNvPr id="10" name="Text 7"/>
          <p:cNvSpPr/>
          <p:nvPr/>
        </p:nvSpPr>
        <p:spPr>
          <a:xfrm>
            <a:off x="3679546" y="1972543"/>
            <a:ext cx="2165481" cy="48753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5233F"/>
                </a:solidFill>
                <a:latin typeface="Times New Roman" pitchFamily="18" charset="0"/>
                <a:ea typeface="Times New Roman" pitchFamily="18" charset="-122"/>
                <a:cs typeface="Times New Roman" pitchFamily="18" charset="-120"/>
              </a:rPr>
              <a:t>Bộ đệm giữ 1,7 giây gần nhất, </a:t>
            </a:r>
            <a:r>
              <a:rPr lang="en-US" sz="1400" b="1" dirty="0">
                <a:solidFill>
                  <a:srgbClr val="15233F"/>
                </a:solidFill>
                <a:latin typeface="Times New Roman" pitchFamily="18" charset="0"/>
                <a:ea typeface="Times New Roman" pitchFamily="18" charset="-122"/>
                <a:cs typeface="Times New Roman" pitchFamily="18" charset="-120"/>
              </a:rPr>
              <a:t>tính theo thời gian</a:t>
            </a:r>
            <a:endParaRPr lang="en-US" sz="1400" dirty="0"/>
          </a:p>
        </p:txBody>
      </p:sp>
      <p:pic>
        <p:nvPicPr>
          <p:cNvPr id="11" name="Image 1" descr="arrow-right"/>
          <p:cNvPicPr>
            <a:picLocks noChangeAspect="1"/>
          </p:cNvPicPr>
          <p:nvPr/>
        </p:nvPicPr>
        <p:blipFill>
          <a:blip r:embed="rId3"/>
          <a:srcRect/>
          <a:stretch/>
        </p:blipFill>
        <p:spPr>
          <a:xfrm>
            <a:off x="5981716" y="2136291"/>
            <a:ext cx="228571" cy="114285"/>
          </a:xfrm>
          <a:prstGeom prst="rect">
            <a:avLst/>
          </a:prstGeom>
        </p:spPr>
      </p:pic>
      <p:sp>
        <p:nvSpPr>
          <p:cNvPr id="12" name="Shape 8"/>
          <p:cNvSpPr/>
          <p:nvPr/>
        </p:nvSpPr>
        <p:spPr>
          <a:xfrm>
            <a:off x="6280063" y="1616484"/>
            <a:ext cx="2362303" cy="1153892"/>
          </a:xfrm>
          <a:prstGeom prst="roundRect">
            <a:avLst>
              <a:gd name="adj" fmla="val 4953"/>
            </a:avLst>
          </a:prstGeom>
          <a:solidFill>
            <a:srgbClr val="FDFCF9"/>
          </a:solidFill>
          <a:ln w="12700">
            <a:solidFill>
              <a:srgbClr val="15233F"/>
            </a:solidFill>
            <a:prstDash val="solid"/>
          </a:ln>
        </p:spPr>
      </p:sp>
      <p:sp>
        <p:nvSpPr>
          <p:cNvPr id="13" name="Text 9"/>
          <p:cNvSpPr/>
          <p:nvPr/>
        </p:nvSpPr>
        <p:spPr>
          <a:xfrm>
            <a:off x="6410047" y="1721123"/>
            <a:ext cx="2165405"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E16"/>
                </a:solidFill>
                <a:latin typeface="Times New Roman" pitchFamily="18" charset="0"/>
                <a:ea typeface="Times New Roman" pitchFamily="18" charset="-122"/>
                <a:cs typeface="Times New Roman" pitchFamily="18" charset="-120"/>
              </a:rPr>
              <a:t>3</a:t>
            </a:r>
            <a:endParaRPr lang="en-US" sz="1200" dirty="0"/>
          </a:p>
        </p:txBody>
      </p:sp>
      <p:sp>
        <p:nvSpPr>
          <p:cNvPr id="14" name="Text 10"/>
          <p:cNvSpPr/>
          <p:nvPr/>
        </p:nvSpPr>
        <p:spPr>
          <a:xfrm>
            <a:off x="6410047" y="1972543"/>
            <a:ext cx="2165405" cy="718608"/>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5233F"/>
                </a:solidFill>
                <a:latin typeface="Times New Roman" pitchFamily="18" charset="0"/>
                <a:ea typeface="Times New Roman" pitchFamily="18" charset="-122"/>
                <a:cs typeface="Times New Roman" pitchFamily="18" charset="-120"/>
              </a:rPr>
              <a:t>Mỗi 0,2 giây, lấy 18 bước cuối qua cùng pipeline với IPN</a:t>
            </a:r>
            <a:endParaRPr lang="en-US" sz="1400" dirty="0"/>
          </a:p>
        </p:txBody>
      </p:sp>
      <p:pic>
        <p:nvPicPr>
          <p:cNvPr id="15" name="Image 2" descr="arrow-right"/>
          <p:cNvPicPr>
            <a:picLocks noChangeAspect="1"/>
          </p:cNvPicPr>
          <p:nvPr/>
        </p:nvPicPr>
        <p:blipFill>
          <a:blip r:embed="rId3"/>
          <a:srcRect/>
          <a:stretch/>
        </p:blipFill>
        <p:spPr>
          <a:xfrm>
            <a:off x="8712143" y="2136291"/>
            <a:ext cx="228571" cy="114285"/>
          </a:xfrm>
          <a:prstGeom prst="rect">
            <a:avLst/>
          </a:prstGeom>
        </p:spPr>
      </p:pic>
      <p:sp>
        <p:nvSpPr>
          <p:cNvPr id="16" name="Shape 11"/>
          <p:cNvSpPr/>
          <p:nvPr/>
        </p:nvSpPr>
        <p:spPr>
          <a:xfrm>
            <a:off x="9010490" y="1616484"/>
            <a:ext cx="2362303" cy="1153892"/>
          </a:xfrm>
          <a:prstGeom prst="roundRect">
            <a:avLst>
              <a:gd name="adj" fmla="val 4953"/>
            </a:avLst>
          </a:prstGeom>
          <a:solidFill>
            <a:srgbClr val="FDFCF9"/>
          </a:solidFill>
          <a:ln w="12700">
            <a:solidFill>
              <a:srgbClr val="15233F"/>
            </a:solidFill>
            <a:prstDash val="solid"/>
          </a:ln>
        </p:spPr>
      </p:sp>
      <p:sp>
        <p:nvSpPr>
          <p:cNvPr id="17" name="Text 12"/>
          <p:cNvSpPr/>
          <p:nvPr/>
        </p:nvSpPr>
        <p:spPr>
          <a:xfrm>
            <a:off x="9140473" y="1721123"/>
            <a:ext cx="2165405"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E16"/>
                </a:solidFill>
                <a:latin typeface="Times New Roman" pitchFamily="18" charset="0"/>
                <a:ea typeface="Times New Roman" pitchFamily="18" charset="-122"/>
                <a:cs typeface="Times New Roman" pitchFamily="18" charset="-120"/>
              </a:rPr>
              <a:t>4</a:t>
            </a:r>
            <a:endParaRPr lang="en-US" sz="1200" dirty="0"/>
          </a:p>
        </p:txBody>
      </p:sp>
      <p:sp>
        <p:nvSpPr>
          <p:cNvPr id="18" name="Text 13"/>
          <p:cNvSpPr/>
          <p:nvPr/>
        </p:nvSpPr>
        <p:spPr>
          <a:xfrm>
            <a:off x="9140473" y="1972543"/>
            <a:ext cx="2165405" cy="48753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5233F"/>
                </a:solidFill>
                <a:latin typeface="Times New Roman" pitchFamily="18" charset="0"/>
                <a:ea typeface="Times New Roman" pitchFamily="18" charset="-122"/>
                <a:cs typeface="Times New Roman" pitchFamily="18" charset="-120"/>
              </a:rPr>
              <a:t>Chuẩn hoá → đặc trưng → luật</a:t>
            </a:r>
            <a:endParaRPr lang="en-US" sz="1400" dirty="0"/>
          </a:p>
        </p:txBody>
      </p:sp>
      <p:sp>
        <p:nvSpPr>
          <p:cNvPr id="19" name="Text 14"/>
          <p:cNvSpPr/>
          <p:nvPr/>
        </p:nvSpPr>
        <p:spPr>
          <a:xfrm>
            <a:off x="812785" y="2878299"/>
            <a:ext cx="10883348" cy="238757"/>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F6878"/>
                </a:solidFill>
                <a:latin typeface="Times New Roman" pitchFamily="18" charset="0"/>
                <a:ea typeface="Times New Roman" pitchFamily="18" charset="-122"/>
                <a:cs typeface="Times New Roman" pitchFamily="18" charset="-120"/>
              </a:rPr>
              <a:t>Mọi xử lý nằm trong thư viện dùng chung. Chương trình demo chỉ nối camera, màn hình và file log.</a:t>
            </a:r>
            <a:endParaRPr lang="en-US" sz="1200" dirty="0"/>
          </a:p>
        </p:txBody>
      </p:sp>
      <p:sp>
        <p:nvSpPr>
          <p:cNvPr id="20" name="Shape 15"/>
          <p:cNvSpPr/>
          <p:nvPr/>
        </p:nvSpPr>
        <p:spPr>
          <a:xfrm>
            <a:off x="812785" y="3294794"/>
            <a:ext cx="3420549" cy="1364295"/>
          </a:xfrm>
          <a:prstGeom prst="rect">
            <a:avLst/>
          </a:prstGeom>
          <a:solidFill>
            <a:srgbClr val="FDFCF9"/>
          </a:solidFill>
          <a:ln/>
        </p:spPr>
      </p:sp>
      <p:sp>
        <p:nvSpPr>
          <p:cNvPr id="21" name="Shape 16"/>
          <p:cNvSpPr/>
          <p:nvPr/>
        </p:nvSpPr>
        <p:spPr>
          <a:xfrm>
            <a:off x="812785" y="3307494"/>
            <a:ext cx="3420549" cy="0"/>
          </a:xfrm>
          <a:prstGeom prst="line">
            <a:avLst/>
          </a:prstGeom>
          <a:noFill/>
          <a:ln w="25400">
            <a:solidFill>
              <a:srgbClr val="2A5A9B"/>
            </a:solidFill>
            <a:prstDash val="solid"/>
          </a:ln>
        </p:spPr>
      </p:sp>
      <p:sp>
        <p:nvSpPr>
          <p:cNvPr id="22" name="Text 17"/>
          <p:cNvSpPr/>
          <p:nvPr/>
        </p:nvSpPr>
        <p:spPr>
          <a:xfrm>
            <a:off x="965141" y="3445247"/>
            <a:ext cx="3209312"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Màn hình hiển thị</a:t>
            </a:r>
            <a:endParaRPr lang="en-US" sz="1400" dirty="0"/>
          </a:p>
        </p:txBody>
      </p:sp>
      <p:sp>
        <p:nvSpPr>
          <p:cNvPr id="23" name="Text 18"/>
          <p:cNvSpPr/>
          <p:nvPr/>
        </p:nvSpPr>
        <p:spPr>
          <a:xfrm>
            <a:off x="1076647" y="3709318"/>
            <a:ext cx="3090186" cy="848254"/>
          </a:xfrm>
          <a:prstGeom prst="rect">
            <a:avLst/>
          </a:prstGeom>
          <a:noFill/>
          <a:ln/>
        </p:spPr>
        <p:txBody>
          <a:bodyPr wrap="square" lIns="0" tIns="0" rIns="0" bIns="0" rtlCol="0" anchor="t">
            <a:normAutofit/>
          </a:bodyPr>
          <a:lstStyle/>
          <a:p>
            <a:pPr marL="142494" indent="-142494" algn="l">
              <a:lnSpc>
                <a:spcPts val="162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Ảnh lật gương, vẽ khung xương bàn tay</a:t>
            </a:r>
            <a:endParaRPr lang="en-US" sz="1200" dirty="0"/>
          </a:p>
          <a:p>
            <a:pPr marL="142494" indent="-142494" algn="l">
              <a:lnSpc>
                <a:spcPts val="162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Nhãn chữ lớn kèm độ tin cậy, hoặc “–” khi không có cửa sổ hợp lệ</a:t>
            </a:r>
            <a:endParaRPr lang="en-US" sz="1200" dirty="0"/>
          </a:p>
          <a:p>
            <a:pPr marL="142494" indent="-142494" algn="l">
              <a:lnSpc>
                <a:spcPts val="162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Tỉ lệ có tay, FPS</a:t>
            </a:r>
            <a:endParaRPr lang="en-US" sz="1200" dirty="0"/>
          </a:p>
        </p:txBody>
      </p:sp>
      <p:sp>
        <p:nvSpPr>
          <p:cNvPr id="24" name="Shape 19"/>
          <p:cNvSpPr/>
          <p:nvPr/>
        </p:nvSpPr>
        <p:spPr>
          <a:xfrm>
            <a:off x="4385690" y="3294794"/>
            <a:ext cx="3420549" cy="1364295"/>
          </a:xfrm>
          <a:prstGeom prst="rect">
            <a:avLst/>
          </a:prstGeom>
          <a:solidFill>
            <a:srgbClr val="FDFCF9"/>
          </a:solidFill>
          <a:ln/>
        </p:spPr>
      </p:sp>
      <p:sp>
        <p:nvSpPr>
          <p:cNvPr id="25" name="Shape 20"/>
          <p:cNvSpPr/>
          <p:nvPr/>
        </p:nvSpPr>
        <p:spPr>
          <a:xfrm>
            <a:off x="4385690" y="3307494"/>
            <a:ext cx="3420549" cy="0"/>
          </a:xfrm>
          <a:prstGeom prst="line">
            <a:avLst/>
          </a:prstGeom>
          <a:noFill/>
          <a:ln w="25400">
            <a:solidFill>
              <a:srgbClr val="A84E16"/>
            </a:solidFill>
            <a:prstDash val="solid"/>
          </a:ln>
        </p:spPr>
      </p:sp>
      <p:sp>
        <p:nvSpPr>
          <p:cNvPr id="26" name="Text 21"/>
          <p:cNvSpPr/>
          <p:nvPr/>
        </p:nvSpPr>
        <p:spPr>
          <a:xfrm>
            <a:off x="4538046" y="3445247"/>
            <a:ext cx="3209312"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Chế độ luyện tập</a:t>
            </a:r>
            <a:endParaRPr lang="en-US" sz="1400" dirty="0"/>
          </a:p>
        </p:txBody>
      </p:sp>
      <p:sp>
        <p:nvSpPr>
          <p:cNvPr id="27" name="Text 22"/>
          <p:cNvSpPr/>
          <p:nvPr/>
        </p:nvSpPr>
        <p:spPr>
          <a:xfrm>
            <a:off x="4649552" y="3709318"/>
            <a:ext cx="3090186" cy="848254"/>
          </a:xfrm>
          <a:prstGeom prst="rect">
            <a:avLst/>
          </a:prstGeom>
          <a:noFill/>
          <a:ln/>
        </p:spPr>
        <p:txBody>
          <a:bodyPr wrap="square" lIns="0" tIns="0" rIns="0" bIns="0" rtlCol="0" anchor="t">
            <a:normAutofit/>
          </a:bodyPr>
          <a:lstStyle/>
          <a:p>
            <a:pPr marL="142494" indent="-142494" algn="l">
              <a:lnSpc>
                <a:spcPts val="162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So ba đặc trưng của cửa sổ vừa làm với khoảng 25–75% của lớp tương ứng trên IPN</a:t>
            </a:r>
            <a:endParaRPr lang="en-US" sz="1200" dirty="0"/>
          </a:p>
          <a:p>
            <a:pPr marL="142494" indent="-142494" algn="l">
              <a:lnSpc>
                <a:spcPts val="162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Xanh là đạt, đỏ là lệch</a:t>
            </a:r>
            <a:endParaRPr lang="en-US" sz="1200" dirty="0"/>
          </a:p>
          <a:p>
            <a:pPr marL="142494" indent="-142494" algn="l">
              <a:lnSpc>
                <a:spcPts val="162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Chọn cử chỉ đang luyện bằng phím 1–4</a:t>
            </a:r>
            <a:endParaRPr lang="en-US" sz="1200" dirty="0"/>
          </a:p>
        </p:txBody>
      </p:sp>
      <p:sp>
        <p:nvSpPr>
          <p:cNvPr id="28" name="Shape 23"/>
          <p:cNvSpPr/>
          <p:nvPr/>
        </p:nvSpPr>
        <p:spPr>
          <a:xfrm>
            <a:off x="7958594" y="3294794"/>
            <a:ext cx="3420549" cy="1364295"/>
          </a:xfrm>
          <a:prstGeom prst="rect">
            <a:avLst/>
          </a:prstGeom>
          <a:solidFill>
            <a:srgbClr val="FDFCF9"/>
          </a:solidFill>
          <a:ln/>
        </p:spPr>
      </p:sp>
      <p:sp>
        <p:nvSpPr>
          <p:cNvPr id="29" name="Shape 24"/>
          <p:cNvSpPr/>
          <p:nvPr/>
        </p:nvSpPr>
        <p:spPr>
          <a:xfrm>
            <a:off x="7958594" y="3307494"/>
            <a:ext cx="3420549" cy="0"/>
          </a:xfrm>
          <a:prstGeom prst="line">
            <a:avLst/>
          </a:prstGeom>
          <a:noFill/>
          <a:ln w="25400">
            <a:solidFill>
              <a:srgbClr val="2A5A9B"/>
            </a:solidFill>
            <a:prstDash val="solid"/>
          </a:ln>
        </p:spPr>
      </p:sp>
      <p:sp>
        <p:nvSpPr>
          <p:cNvPr id="30" name="Text 25"/>
          <p:cNvSpPr/>
          <p:nvPr/>
        </p:nvSpPr>
        <p:spPr>
          <a:xfrm>
            <a:off x="8110950" y="3445247"/>
            <a:ext cx="3209312"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Log</a:t>
            </a:r>
            <a:endParaRPr lang="en-US" sz="1400" dirty="0"/>
          </a:p>
        </p:txBody>
      </p:sp>
      <p:sp>
        <p:nvSpPr>
          <p:cNvPr id="31" name="Text 26"/>
          <p:cNvSpPr/>
          <p:nvPr/>
        </p:nvSpPr>
        <p:spPr>
          <a:xfrm>
            <a:off x="8222456" y="3709318"/>
            <a:ext cx="3090186" cy="848254"/>
          </a:xfrm>
          <a:prstGeom prst="rect">
            <a:avLst/>
          </a:prstGeom>
          <a:noFill/>
          <a:ln/>
        </p:spPr>
        <p:txBody>
          <a:bodyPr wrap="square" lIns="0" tIns="0" rIns="0" bIns="0" rtlCol="0" anchor="t">
            <a:normAutofit/>
          </a:bodyPr>
          <a:lstStyle/>
          <a:p>
            <a:pPr marL="142494" indent="-142494" algn="l">
              <a:lnSpc>
                <a:spcPts val="162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Mỗi dự đoán một dòng</a:t>
            </a:r>
            <a:endParaRPr lang="en-US" sz="1200" dirty="0"/>
          </a:p>
          <a:p>
            <a:pPr marL="142494" indent="-142494" algn="l">
              <a:lnSpc>
                <a:spcPts val="162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Khi thoát, đếm số “đợt báo”</a:t>
            </a:r>
            <a:endParaRPr lang="en-US" sz="1200" dirty="0"/>
          </a:p>
          <a:p>
            <a:pPr marL="142494" indent="-142494" algn="l">
              <a:lnSpc>
                <a:spcPts val="162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Đã chạy thử trên video IPN tập val: đúng nhịp 0,2 giây, log ghi đủ cột</a:t>
            </a:r>
            <a:endParaRPr lang="en-US" sz="1200" dirty="0"/>
          </a:p>
        </p:txBody>
      </p:sp>
      <p:sp>
        <p:nvSpPr>
          <p:cNvPr id="32" name="Text 27"/>
          <p:cNvSpPr/>
          <p:nvPr/>
        </p:nvSpPr>
        <p:spPr>
          <a:xfrm>
            <a:off x="812785" y="6238218"/>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5F6878"/>
                </a:solidFill>
                <a:latin typeface="Times New Roman" pitchFamily="18" charset="0"/>
                <a:ea typeface="Times New Roman" pitchFamily="18" charset="-122"/>
                <a:cs typeface="Times New Roman" pitchFamily="18" charset="-120"/>
              </a:rPr>
              <a:t>tiến</a:t>
            </a:r>
            <a:r>
              <a:rPr lang="en-US" sz="1200" dirty="0">
                <a:solidFill>
                  <a:srgbClr val="5F6878"/>
                </a:solidFill>
                <a:latin typeface="Times New Roman" pitchFamily="18" charset="0"/>
                <a:ea typeface="Times New Roman" pitchFamily="18" charset="-122"/>
                <a:cs typeface="Times New Roman" pitchFamily="18" charset="-120"/>
              </a:rPr>
              <a:t> </a:t>
            </a:r>
            <a:r>
              <a:rPr lang="en-US" sz="1200" dirty="0" err="1" smtClean="0">
                <a:solidFill>
                  <a:srgbClr val="5F6878"/>
                </a:solidFill>
                <a:latin typeface="Times New Roman" pitchFamily="18" charset="0"/>
                <a:ea typeface="Times New Roman" pitchFamily="18" charset="-122"/>
                <a:cs typeface="Times New Roman" pitchFamily="18" charset="-120"/>
              </a:rPr>
              <a:t>độ</a:t>
            </a:r>
            <a:endParaRPr lang="en-US" sz="1200" dirty="0"/>
          </a:p>
        </p:txBody>
      </p:sp>
      <p:sp>
        <p:nvSpPr>
          <p:cNvPr id="33" name="Text 28"/>
          <p:cNvSpPr/>
          <p:nvPr/>
        </p:nvSpPr>
        <p:spPr>
          <a:xfrm>
            <a:off x="10871230" y="6238218"/>
            <a:ext cx="507912"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14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5" y="711150"/>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6"/>
                </a:solidFill>
                <a:latin typeface="Times New Roman" pitchFamily="18" charset="0"/>
                <a:ea typeface="Times New Roman" pitchFamily="18" charset="-122"/>
                <a:cs typeface="Times New Roman" pitchFamily="18" charset="-120"/>
              </a:rPr>
              <a:t>HẠN CHẾ VÀ KẾ HOẠCH</a:t>
            </a:r>
            <a:endParaRPr lang="en-US" sz="1200" dirty="0"/>
          </a:p>
        </p:txBody>
      </p:sp>
      <p:sp>
        <p:nvSpPr>
          <p:cNvPr id="3" name="Text 1"/>
          <p:cNvSpPr>
            <a:spLocks noGrp="1"/>
          </p:cNvSpPr>
          <p:nvPr>
            <p:ph type="title"/>
          </p:nvPr>
        </p:nvSpPr>
        <p:spPr>
          <a:xfrm>
            <a:off x="812785" y="987933"/>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5233F"/>
                </a:solidFill>
                <a:latin typeface="Times New Roman" pitchFamily="18" charset="0"/>
                <a:ea typeface="Times New Roman" pitchFamily="18" charset="-122"/>
                <a:cs typeface="Times New Roman" pitchFamily="18" charset="-120"/>
              </a:rPr>
              <a:t>Hạn chế và kế hoạch tiếp theo</a:t>
            </a:r>
            <a:endParaRPr lang="en-US" sz="3000" dirty="0"/>
          </a:p>
        </p:txBody>
      </p:sp>
      <p:sp>
        <p:nvSpPr>
          <p:cNvPr id="4" name="Text 2"/>
          <p:cNvSpPr/>
          <p:nvPr/>
        </p:nvSpPr>
        <p:spPr>
          <a:xfrm>
            <a:off x="812785" y="1610147"/>
            <a:ext cx="3924225"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Hạn chế hiện tại</a:t>
            </a:r>
            <a:endParaRPr lang="en-US" sz="1400" dirty="0"/>
          </a:p>
        </p:txBody>
      </p:sp>
      <p:sp>
        <p:nvSpPr>
          <p:cNvPr id="5" name="Text 3"/>
          <p:cNvSpPr/>
          <p:nvPr/>
        </p:nvSpPr>
        <p:spPr>
          <a:xfrm>
            <a:off x="924291" y="1924993"/>
            <a:ext cx="3805099" cy="1732257"/>
          </a:xfrm>
          <a:prstGeom prst="rect">
            <a:avLst/>
          </a:prstGeom>
          <a:noFill/>
          <a:ln/>
        </p:spPr>
        <p:txBody>
          <a:bodyPr wrap="square" lIns="0" tIns="0" rIns="0" bIns="0" rtlCol="0" anchor="t">
            <a:normAutofit/>
          </a:bodyPr>
          <a:lstStyle/>
          <a:p>
            <a:pPr marL="142494" indent="-142494" algn="l">
              <a:lnSpc>
                <a:spcPts val="168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Báo nhầm cao: 44% cửa sổ nền; tốc độ ngang đỉnh là đặc trưng yếu nhất</a:t>
            </a:r>
            <a:endParaRPr lang="en-US" sz="1200" dirty="0"/>
          </a:p>
          <a:p>
            <a:pPr marL="142494" indent="-142494" algn="l">
              <a:lnSpc>
                <a:spcPts val="168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Train nhỏ: khoảng 415 cửa sổ dương mỗi lớp</a:t>
            </a:r>
            <a:endParaRPr lang="en-US" sz="1200" dirty="0"/>
          </a:p>
          <a:p>
            <a:pPr marL="142494" indent="-142494" algn="l">
              <a:lnSpc>
                <a:spcPts val="168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Nhãn dương phụ thuộc độ lớn chuyển động</a:t>
            </a:r>
            <a:endParaRPr lang="en-US" sz="1200" dirty="0"/>
          </a:p>
          <a:p>
            <a:pPr marL="142494" indent="-142494" algn="l">
              <a:lnSpc>
                <a:spcPts val="168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Còn ngoại lai do điểm mốc nhảy giữa cửa sổ</a:t>
            </a:r>
            <a:endParaRPr lang="en-US" sz="1200" dirty="0"/>
          </a:p>
          <a:p>
            <a:pPr marL="142494" indent="-142494" algn="l">
              <a:lnSpc>
                <a:spcPts val="168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Mới xét tay phải</a:t>
            </a:r>
            <a:endParaRPr lang="en-US" sz="1200" dirty="0"/>
          </a:p>
          <a:p>
            <a:pPr marL="142494" indent="-142494" algn="l">
              <a:lnSpc>
                <a:spcPts val="1680"/>
              </a:lnSpc>
              <a:buSzPct val="100000"/>
              <a:buChar char="•"/>
            </a:pPr>
            <a:r>
              <a:rPr lang="en-US" sz="1200" dirty="0">
                <a:solidFill>
                  <a:srgbClr val="3B4558"/>
                </a:solidFill>
                <a:latin typeface="Times New Roman" pitchFamily="18" charset="0"/>
                <a:ea typeface="Times New Roman" pitchFamily="18" charset="-122"/>
                <a:cs typeface="Times New Roman" pitchFamily="18" charset="-120"/>
              </a:rPr>
              <a:t>Tập test còn 44 video của 12 người, sau khi loại video lệch nhãn</a:t>
            </a:r>
            <a:endParaRPr lang="en-US" sz="1200" dirty="0"/>
          </a:p>
        </p:txBody>
      </p:sp>
      <p:sp>
        <p:nvSpPr>
          <p:cNvPr id="6" name="Shape 4"/>
          <p:cNvSpPr/>
          <p:nvPr/>
        </p:nvSpPr>
        <p:spPr>
          <a:xfrm>
            <a:off x="812785" y="3733428"/>
            <a:ext cx="3809927" cy="891352"/>
          </a:xfrm>
          <a:prstGeom prst="rect">
            <a:avLst/>
          </a:prstGeom>
          <a:solidFill>
            <a:srgbClr val="FDFCF9"/>
          </a:solidFill>
          <a:ln/>
        </p:spPr>
      </p:sp>
      <p:sp>
        <p:nvSpPr>
          <p:cNvPr id="7" name="Shape 5"/>
          <p:cNvSpPr/>
          <p:nvPr/>
        </p:nvSpPr>
        <p:spPr>
          <a:xfrm>
            <a:off x="831835" y="3733428"/>
            <a:ext cx="0" cy="891352"/>
          </a:xfrm>
          <a:prstGeom prst="line">
            <a:avLst/>
          </a:prstGeom>
          <a:noFill/>
          <a:ln w="38100">
            <a:solidFill>
              <a:srgbClr val="A84E16"/>
            </a:solidFill>
            <a:prstDash val="solid"/>
          </a:ln>
        </p:spPr>
      </p:sp>
      <p:sp>
        <p:nvSpPr>
          <p:cNvPr id="8" name="Text 6"/>
          <p:cNvSpPr/>
          <p:nvPr/>
        </p:nvSpPr>
        <p:spPr>
          <a:xfrm>
            <a:off x="1002771" y="3847703"/>
            <a:ext cx="3571613"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A84E16"/>
                </a:solidFill>
                <a:latin typeface="Times New Roman" pitchFamily="18" charset="0"/>
                <a:ea typeface="Times New Roman" pitchFamily="18" charset="-122"/>
                <a:cs typeface="Times New Roman" pitchFamily="18" charset="-120"/>
              </a:rPr>
              <a:t>Chưa thử trực tiếp trên webcam</a:t>
            </a:r>
            <a:endParaRPr lang="en-US" sz="1400" dirty="0"/>
          </a:p>
        </p:txBody>
      </p:sp>
      <p:sp>
        <p:nvSpPr>
          <p:cNvPr id="9" name="Text 7"/>
          <p:cNvSpPr/>
          <p:nvPr/>
        </p:nvSpPr>
        <p:spPr>
          <a:xfrm>
            <a:off x="1002771" y="4099061"/>
            <a:ext cx="3571613"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558"/>
                </a:solidFill>
                <a:latin typeface="Times New Roman" pitchFamily="18" charset="0"/>
                <a:ea typeface="Times New Roman" pitchFamily="18" charset="-122"/>
                <a:cs typeface="Times New Roman" pitchFamily="18" charset="-120"/>
              </a:rPr>
              <a:t>5 hạng mục của Phase 5. Nếu hướng bị ngược: đổi một hằng số và chạy lại phép đo, không sửa code.</a:t>
            </a:r>
            <a:endParaRPr lang="en-US" sz="1200" dirty="0"/>
          </a:p>
        </p:txBody>
      </p:sp>
      <p:sp>
        <p:nvSpPr>
          <p:cNvPr id="10" name="Text 8"/>
          <p:cNvSpPr/>
          <p:nvPr/>
        </p:nvSpPr>
        <p:spPr>
          <a:xfrm>
            <a:off x="5029068" y="1610147"/>
            <a:ext cx="6540577"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5233F"/>
                </a:solidFill>
                <a:latin typeface="Times New Roman" pitchFamily="18" charset="0"/>
                <a:ea typeface="Times New Roman" pitchFamily="18" charset="-122"/>
                <a:cs typeface="Times New Roman" pitchFamily="18" charset="-120"/>
              </a:rPr>
              <a:t>Kế hoạch</a:t>
            </a:r>
            <a:endParaRPr lang="en-US" sz="1400" dirty="0"/>
          </a:p>
        </p:txBody>
      </p:sp>
      <p:sp>
        <p:nvSpPr>
          <p:cNvPr id="11" name="Shape 9"/>
          <p:cNvSpPr/>
          <p:nvPr/>
        </p:nvSpPr>
        <p:spPr>
          <a:xfrm>
            <a:off x="5029068" y="1924993"/>
            <a:ext cx="6350074" cy="3191463"/>
          </a:xfrm>
          <a:prstGeom prst="rect">
            <a:avLst/>
          </a:prstGeom>
          <a:solidFill>
            <a:srgbClr val="FDFCF9"/>
          </a:solidFill>
          <a:ln/>
        </p:spPr>
      </p:sp>
      <p:sp>
        <p:nvSpPr>
          <p:cNvPr id="12" name="Shape 10"/>
          <p:cNvSpPr/>
          <p:nvPr/>
        </p:nvSpPr>
        <p:spPr>
          <a:xfrm>
            <a:off x="11375968" y="1924993"/>
            <a:ext cx="0" cy="3191463"/>
          </a:xfrm>
          <a:prstGeom prst="line">
            <a:avLst/>
          </a:prstGeom>
          <a:noFill/>
          <a:ln w="6350">
            <a:solidFill>
              <a:srgbClr val="DCD8CE"/>
            </a:solidFill>
            <a:prstDash val="solid"/>
          </a:ln>
        </p:spPr>
      </p:sp>
      <p:sp>
        <p:nvSpPr>
          <p:cNvPr id="13" name="Shape 11"/>
          <p:cNvSpPr/>
          <p:nvPr/>
        </p:nvSpPr>
        <p:spPr>
          <a:xfrm>
            <a:off x="5029068" y="5113281"/>
            <a:ext cx="6350074" cy="0"/>
          </a:xfrm>
          <a:prstGeom prst="line">
            <a:avLst/>
          </a:prstGeom>
          <a:noFill/>
          <a:ln w="6350">
            <a:solidFill>
              <a:srgbClr val="DCD8CE"/>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38476" y="1934400"/>
          <a:ext cx="6335964" cy="3177354"/>
        </p:xfrm>
        <a:graphic>
          <a:graphicData uri="http://schemas.openxmlformats.org/drawingml/2006/table">
            <a:tbl>
              <a:tblPr/>
              <a:tblGrid>
                <a:gridCol w="1077114">
                  <a:extLst>
                    <a:ext uri="{9D8B030D-6E8A-4147-A177-3AD203B41FA5}">
                      <a16:colId xmlns:a16="http://schemas.microsoft.com/office/drawing/2014/main" val="20000"/>
                    </a:ext>
                  </a:extLst>
                </a:gridCol>
                <a:gridCol w="5258850">
                  <a:extLst>
                    <a:ext uri="{9D8B030D-6E8A-4147-A177-3AD203B41FA5}">
                      <a16:colId xmlns:a16="http://schemas.microsoft.com/office/drawing/2014/main" val="20001"/>
                    </a:ext>
                  </a:extLst>
                </a:gridCol>
              </a:tblGrid>
              <a:tr h="329333">
                <a:tc>
                  <a:txBody>
                    <a:bodyPr/>
                    <a:lstStyle/>
                    <a:p>
                      <a:pPr marL="0" indent="0">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Phase</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tc>
                  <a:txBody>
                    <a:bodyPr/>
                    <a:lstStyle/>
                    <a:p>
                      <a:pPr marL="0" indent="0">
                        <a:lnSpc>
                          <a:spcPts val="1680"/>
                        </a:lnSpc>
                        <a:buNone/>
                      </a:pPr>
                      <a:r>
                        <a:rPr lang="en-US" sz="1200" b="1" dirty="0">
                          <a:solidFill>
                            <a:srgbClr val="F2EFE8"/>
                          </a:solidFill>
                          <a:latin typeface="Times New Roman" pitchFamily="18" charset="0"/>
                          <a:ea typeface="Times New Roman" pitchFamily="18" charset="-122"/>
                          <a:cs typeface="Times New Roman" pitchFamily="18" charset="-120"/>
                        </a:rPr>
                        <a:t>Nội dung</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52035"/>
                      </a:solidFill>
                      <a:prstDash val="solid"/>
                      <a:round/>
                      <a:headEnd type="none" w="med" len="med"/>
                      <a:tailEnd type="none" w="med" len="med"/>
                    </a:lnB>
                    <a:solidFill>
                      <a:srgbClr val="15233F"/>
                    </a:solidFill>
                  </a:tcPr>
                </a:tc>
                <a:extLst>
                  <a:ext uri="{0D108BD9-81ED-4DB2-BD59-A6C34878D82A}">
                    <a16:rowId xmlns:a16="http://schemas.microsoft.com/office/drawing/2014/main" val="10000"/>
                  </a:ext>
                </a:extLst>
              </a:tr>
              <a:tr h="542690">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5 (còn lại)</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0B5AB"/>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0B5AB"/>
                      </a:solidFill>
                      <a:prstDash val="solid"/>
                      <a:round/>
                      <a:headEnd type="none" w="med" len="med"/>
                      <a:tailEnd type="none" w="med" len="med"/>
                    </a:lnB>
                    <a:solidFill>
                      <a:srgbClr val="F1E3D6"/>
                    </a:solidFill>
                  </a:tcPr>
                </a:tc>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Thử trên webcam: hướng vuốt; mỗi cử chỉ đúng ≥ 7/10 lần; đếm báo nhầm trong 2 phút gõ phím</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0B5AB"/>
                      </a:solidFill>
                      <a:prstDash val="solid"/>
                      <a:round/>
                      <a:headEnd type="none" w="med" len="med"/>
                      <a:tailEnd type="none" w="med" len="med"/>
                    </a:lnL>
                    <a:lnR w="12700" cap="flat" cmpd="sng" algn="ctr">
                      <a:solidFill>
                        <a:srgbClr val="C0B5AB"/>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0B5AB"/>
                      </a:solidFill>
                      <a:prstDash val="solid"/>
                      <a:round/>
                      <a:headEnd type="none" w="med" len="med"/>
                      <a:tailEnd type="none" w="med" len="med"/>
                    </a:lnB>
                    <a:solidFill>
                      <a:srgbClr val="F1E3D6"/>
                    </a:solidFill>
                  </a:tcPr>
                </a:tc>
                <a:extLst>
                  <a:ext uri="{0D108BD9-81ED-4DB2-BD59-A6C34878D82A}">
                    <a16:rowId xmlns:a16="http://schemas.microsoft.com/office/drawing/2014/main" val="10001"/>
                  </a:ext>
                </a:extLst>
              </a:tr>
              <a:tr h="329333">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6</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5AB"/>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Rừng ngẫu nhiên; quyết định có cần tự quay dữ liệu</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5AB"/>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2"/>
                  </a:ext>
                </a:extLst>
              </a:tr>
              <a:tr h="329333">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7</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LSTM một chiều trên chuỗi 42 chiều</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3"/>
                  </a:ext>
                </a:extLst>
              </a:tr>
              <a:tr h="329333">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8</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Đánh giá hai mức (cửa sổ và sự kiện) và 7 bảng khảo sát</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4"/>
                  </a:ext>
                </a:extLst>
              </a:tr>
              <a:tr h="329333">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9</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Máy trạng thái: mỗi cử chỉ đúng một lệnh</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5"/>
                  </a:ext>
                </a:extLst>
              </a:tr>
              <a:tr h="329333">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10</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Demo phát phím tắt thật; đo FPS, độ trễ, số lần báo nhầm mỗi phút</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6"/>
                  </a:ext>
                </a:extLst>
              </a:tr>
              <a:tr h="329333">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11</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(Tuỳ chọn) Dữ liệu tự quay</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7"/>
                  </a:ext>
                </a:extLst>
              </a:tr>
              <a:tr h="329333">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12</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3B4558"/>
                          </a:solidFill>
                          <a:latin typeface="Times New Roman" pitchFamily="18" charset="0"/>
                          <a:ea typeface="Times New Roman" pitchFamily="18" charset="-122"/>
                          <a:cs typeface="Times New Roman" pitchFamily="18" charset="-120"/>
                        </a:rPr>
                        <a:t>Tái lập toàn bộ từ đầu</a:t>
                      </a:r>
                      <a:endParaRPr lang="en-US" sz="1200" dirty="0">
                        <a:latin typeface="Times New Roman" charset="0"/>
                        <a:ea typeface="Times New Roman" charset="0"/>
                        <a:cs typeface="Times New Roman"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5" name="Text 12"/>
          <p:cNvSpPr/>
          <p:nvPr/>
        </p:nvSpPr>
        <p:spPr>
          <a:xfrm>
            <a:off x="812785" y="6238218"/>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5F6878"/>
                </a:solidFill>
                <a:latin typeface="Times New Roman" pitchFamily="18" charset="0"/>
                <a:ea typeface="Times New Roman" pitchFamily="18" charset="-122"/>
                <a:cs typeface="Times New Roman" pitchFamily="18" charset="-120"/>
              </a:rPr>
              <a:t>tiến</a:t>
            </a:r>
            <a:r>
              <a:rPr lang="en-US" sz="1200" dirty="0">
                <a:solidFill>
                  <a:srgbClr val="5F6878"/>
                </a:solidFill>
                <a:latin typeface="Times New Roman" pitchFamily="18" charset="0"/>
                <a:ea typeface="Times New Roman" pitchFamily="18" charset="-122"/>
                <a:cs typeface="Times New Roman" pitchFamily="18" charset="-120"/>
              </a:rPr>
              <a:t> </a:t>
            </a:r>
            <a:r>
              <a:rPr lang="en-US" sz="1200" dirty="0" err="1" smtClean="0">
                <a:solidFill>
                  <a:srgbClr val="5F6878"/>
                </a:solidFill>
                <a:latin typeface="Times New Roman" pitchFamily="18" charset="0"/>
                <a:ea typeface="Times New Roman" pitchFamily="18" charset="-122"/>
                <a:cs typeface="Times New Roman" pitchFamily="18" charset="-120"/>
              </a:rPr>
              <a:t>độ</a:t>
            </a:r>
            <a:endParaRPr lang="en-US" sz="1200" dirty="0"/>
          </a:p>
        </p:txBody>
      </p:sp>
      <p:sp>
        <p:nvSpPr>
          <p:cNvPr id="16" name="Text 13"/>
          <p:cNvSpPr/>
          <p:nvPr/>
        </p:nvSpPr>
        <p:spPr>
          <a:xfrm>
            <a:off x="10871230" y="6238218"/>
            <a:ext cx="507912"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Times New Roman" pitchFamily="18" charset="0"/>
                <a:ea typeface="Times New Roman" pitchFamily="18" charset="-122"/>
                <a:cs typeface="Times New Roman" pitchFamily="18" charset="-120"/>
              </a:rPr>
              <a:t>15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15233F"/>
        </a:solidFill>
        <a:effectLst/>
      </p:bgPr>
    </p:bg>
    <p:spTree>
      <p:nvGrpSpPr>
        <p:cNvPr id="1" name=""/>
        <p:cNvGrpSpPr/>
        <p:nvPr/>
      </p:nvGrpSpPr>
      <p:grpSpPr>
        <a:xfrm>
          <a:off x="0" y="0"/>
          <a:ext cx="0" cy="0"/>
          <a:chOff x="0" y="0"/>
          <a:chExt cx="0" cy="0"/>
        </a:xfrm>
      </p:grpSpPr>
      <p:sp>
        <p:nvSpPr>
          <p:cNvPr id="2" name="Text 0"/>
          <p:cNvSpPr/>
          <p:nvPr/>
        </p:nvSpPr>
        <p:spPr>
          <a:xfrm>
            <a:off x="812785" y="711150"/>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5C"/>
                </a:solidFill>
                <a:latin typeface="Times New Roman" pitchFamily="18" charset="0"/>
                <a:ea typeface="Times New Roman" pitchFamily="18" charset="-122"/>
                <a:cs typeface="Times New Roman" pitchFamily="18" charset="-120"/>
              </a:rPr>
              <a:t>KẾT LUẬN</a:t>
            </a:r>
            <a:endParaRPr lang="en-US" sz="1200" dirty="0"/>
          </a:p>
        </p:txBody>
      </p:sp>
      <p:sp>
        <p:nvSpPr>
          <p:cNvPr id="3" name="Text 1"/>
          <p:cNvSpPr>
            <a:spLocks noGrp="1"/>
          </p:cNvSpPr>
          <p:nvPr>
            <p:ph type="title"/>
          </p:nvPr>
        </p:nvSpPr>
        <p:spPr>
          <a:xfrm>
            <a:off x="812785" y="987933"/>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2EFE8"/>
                </a:solidFill>
                <a:latin typeface="Times New Roman" pitchFamily="18" charset="0"/>
                <a:ea typeface="Times New Roman" pitchFamily="18" charset="-122"/>
                <a:cs typeface="Times New Roman" pitchFamily="18" charset="-120"/>
              </a:rPr>
              <a:t>Ba điều đã làm được</a:t>
            </a:r>
            <a:endParaRPr lang="en-US" sz="3000" dirty="0"/>
          </a:p>
        </p:txBody>
      </p:sp>
      <p:sp>
        <p:nvSpPr>
          <p:cNvPr id="4" name="Shape 2"/>
          <p:cNvSpPr/>
          <p:nvPr/>
        </p:nvSpPr>
        <p:spPr>
          <a:xfrm>
            <a:off x="812785" y="1660922"/>
            <a:ext cx="3386667" cy="2163557"/>
          </a:xfrm>
          <a:prstGeom prst="roundRect">
            <a:avLst>
              <a:gd name="adj" fmla="val 3522"/>
            </a:avLst>
          </a:prstGeom>
          <a:solidFill>
            <a:srgbClr val="22345A"/>
          </a:solidFill>
          <a:ln/>
        </p:spPr>
      </p:sp>
      <p:sp>
        <p:nvSpPr>
          <p:cNvPr id="5" name="Text 3"/>
          <p:cNvSpPr/>
          <p:nvPr/>
        </p:nvSpPr>
        <p:spPr>
          <a:xfrm>
            <a:off x="1041356" y="1864072"/>
            <a:ext cx="3017412"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F0A05C"/>
                </a:solidFill>
                <a:latin typeface="Times New Roman" pitchFamily="18" charset="0"/>
                <a:ea typeface="Times New Roman" pitchFamily="18" charset="-122"/>
                <a:cs typeface="Times New Roman" pitchFamily="18" charset="-120"/>
              </a:rPr>
              <a:t>1</a:t>
            </a:r>
            <a:endParaRPr lang="en-US" sz="3000" dirty="0"/>
          </a:p>
        </p:txBody>
      </p:sp>
      <p:sp>
        <p:nvSpPr>
          <p:cNvPr id="6" name="Text 4"/>
          <p:cNvSpPr/>
          <p:nvPr/>
        </p:nvSpPr>
        <p:spPr>
          <a:xfrm>
            <a:off x="1041356" y="2346635"/>
            <a:ext cx="3017412" cy="238684"/>
          </a:xfrm>
          <a:prstGeom prst="rect">
            <a:avLst/>
          </a:prstGeom>
          <a:noFill/>
          <a:ln/>
        </p:spPr>
        <p:txBody>
          <a:bodyPr wrap="square" lIns="0" tIns="0" rIns="0" bIns="0" rtlCol="0" anchor="t">
            <a:normAutofit/>
          </a:bodyPr>
          <a:lstStyle/>
          <a:p>
            <a:pPr marL="0" indent="0" algn="l">
              <a:lnSpc>
                <a:spcPts val="1680"/>
              </a:lnSpc>
              <a:buNone/>
            </a:pPr>
            <a:r>
              <a:rPr lang="en-US" sz="1400" b="1" dirty="0" err="1" smtClean="0">
                <a:solidFill>
                  <a:srgbClr val="F2EFE8"/>
                </a:solidFill>
                <a:latin typeface="Times New Roman" pitchFamily="18" charset="0"/>
                <a:ea typeface="Times New Roman" pitchFamily="18" charset="-122"/>
                <a:cs typeface="Times New Roman" pitchFamily="18" charset="-120"/>
              </a:rPr>
              <a:t>Một</a:t>
            </a:r>
            <a:r>
              <a:rPr lang="en-US" sz="1400" b="1" dirty="0">
                <a:solidFill>
                  <a:srgbClr val="F2EFE8"/>
                </a:solidFill>
                <a:latin typeface="Times New Roman" pitchFamily="18" charset="0"/>
                <a:ea typeface="Times New Roman" pitchFamily="18" charset="-122"/>
                <a:cs typeface="Times New Roman" pitchFamily="18" charset="-120"/>
              </a:rPr>
              <a:t> </a:t>
            </a:r>
            <a:r>
              <a:rPr lang="en-US" sz="1400" b="1" dirty="0" smtClean="0">
                <a:solidFill>
                  <a:srgbClr val="F2EFE8"/>
                </a:solidFill>
                <a:latin typeface="Times New Roman" pitchFamily="18" charset="0"/>
                <a:ea typeface="Times New Roman" pitchFamily="18" charset="-122"/>
                <a:cs typeface="Times New Roman" pitchFamily="18" charset="-120"/>
              </a:rPr>
              <a:t>pipeline</a:t>
            </a:r>
            <a:r>
              <a:rPr lang="en-US" sz="1400" b="1" dirty="0" smtClean="0">
                <a:solidFill>
                  <a:srgbClr val="F2EFE8"/>
                </a:solidFill>
                <a:latin typeface="Times New Roman" pitchFamily="18" charset="0"/>
                <a:ea typeface="Times New Roman" pitchFamily="18" charset="-122"/>
                <a:cs typeface="Times New Roman" pitchFamily="18" charset="-120"/>
              </a:rPr>
              <a:t> </a:t>
            </a:r>
            <a:r>
              <a:rPr lang="en-US" sz="1400" b="1" dirty="0">
                <a:solidFill>
                  <a:srgbClr val="F2EFE8"/>
                </a:solidFill>
                <a:latin typeface="Times New Roman" pitchFamily="18" charset="0"/>
                <a:ea typeface="Times New Roman" pitchFamily="18" charset="-122"/>
                <a:cs typeface="Times New Roman" pitchFamily="18" charset="-120"/>
              </a:rPr>
              <a:t>duy nhất</a:t>
            </a:r>
            <a:endParaRPr lang="en-US" sz="1400" dirty="0"/>
          </a:p>
        </p:txBody>
      </p:sp>
      <p:sp>
        <p:nvSpPr>
          <p:cNvPr id="7" name="Text 5"/>
          <p:cNvSpPr/>
          <p:nvPr/>
        </p:nvSpPr>
        <p:spPr>
          <a:xfrm>
            <a:off x="1041356" y="2661493"/>
            <a:ext cx="3017412" cy="52311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CDB"/>
                </a:solidFill>
                <a:latin typeface="Times New Roman" pitchFamily="18" charset="0"/>
                <a:ea typeface="Times New Roman" pitchFamily="18" charset="-122"/>
                <a:cs typeface="Times New Roman" pitchFamily="18" charset="-120"/>
              </a:rPr>
              <a:t>Nhân quả, có kiểm thử, chạy được đầu-cuối từ webcam hoặc video tới nhãn</a:t>
            </a:r>
            <a:endParaRPr lang="en-US" sz="1400" dirty="0"/>
          </a:p>
        </p:txBody>
      </p:sp>
      <p:sp>
        <p:nvSpPr>
          <p:cNvPr id="8" name="Shape 6"/>
          <p:cNvSpPr/>
          <p:nvPr/>
        </p:nvSpPr>
        <p:spPr>
          <a:xfrm>
            <a:off x="4402594" y="1660922"/>
            <a:ext cx="3386667" cy="2163557"/>
          </a:xfrm>
          <a:prstGeom prst="roundRect">
            <a:avLst>
              <a:gd name="adj" fmla="val 3522"/>
            </a:avLst>
          </a:prstGeom>
          <a:solidFill>
            <a:srgbClr val="22345A"/>
          </a:solidFill>
          <a:ln/>
        </p:spPr>
      </p:sp>
      <p:sp>
        <p:nvSpPr>
          <p:cNvPr id="9" name="Text 7"/>
          <p:cNvSpPr/>
          <p:nvPr/>
        </p:nvSpPr>
        <p:spPr>
          <a:xfrm>
            <a:off x="4631164" y="1864072"/>
            <a:ext cx="3017412"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F0A05C"/>
                </a:solidFill>
                <a:latin typeface="Times New Roman" pitchFamily="18" charset="0"/>
                <a:ea typeface="Times New Roman" pitchFamily="18" charset="-122"/>
                <a:cs typeface="Times New Roman" pitchFamily="18" charset="-120"/>
              </a:rPr>
              <a:t>2</a:t>
            </a:r>
            <a:endParaRPr lang="en-US" sz="3000" dirty="0"/>
          </a:p>
        </p:txBody>
      </p:sp>
      <p:sp>
        <p:nvSpPr>
          <p:cNvPr id="10" name="Text 8"/>
          <p:cNvSpPr/>
          <p:nvPr/>
        </p:nvSpPr>
        <p:spPr>
          <a:xfrm>
            <a:off x="4631164" y="2346635"/>
            <a:ext cx="3017412" cy="451967"/>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EFE8"/>
                </a:solidFill>
                <a:latin typeface="Times New Roman" pitchFamily="18" charset="0"/>
                <a:ea typeface="Times New Roman" pitchFamily="18" charset="-122"/>
                <a:cs typeface="Times New Roman" pitchFamily="18" charset="-120"/>
              </a:rPr>
              <a:t>Dữ liệu IPN được làm sạch và hiểu bằng số</a:t>
            </a:r>
            <a:endParaRPr lang="en-US" sz="1400" dirty="0"/>
          </a:p>
        </p:txBody>
      </p:sp>
      <p:sp>
        <p:nvSpPr>
          <p:cNvPr id="11" name="Text 9"/>
          <p:cNvSpPr/>
          <p:nvPr/>
        </p:nvSpPr>
        <p:spPr>
          <a:xfrm>
            <a:off x="4631164" y="2874776"/>
            <a:ext cx="3017412" cy="77196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CDB"/>
                </a:solidFill>
                <a:latin typeface="Times New Roman" pitchFamily="18" charset="0"/>
                <a:ea typeface="Times New Roman" pitchFamily="18" charset="-122"/>
                <a:cs typeface="Times New Roman" pitchFamily="18" charset="-120"/>
              </a:rPr>
              <a:t>Sửa lệch frame, đo quy ước hướng, gán nhãn theo động tác chính, chia tập theo người</a:t>
            </a:r>
            <a:endParaRPr lang="en-US" sz="1400" dirty="0"/>
          </a:p>
        </p:txBody>
      </p:sp>
      <p:sp>
        <p:nvSpPr>
          <p:cNvPr id="12" name="Shape 10"/>
          <p:cNvSpPr/>
          <p:nvPr/>
        </p:nvSpPr>
        <p:spPr>
          <a:xfrm>
            <a:off x="7992402" y="1660922"/>
            <a:ext cx="3386667" cy="2163557"/>
          </a:xfrm>
          <a:prstGeom prst="roundRect">
            <a:avLst>
              <a:gd name="adj" fmla="val 3522"/>
            </a:avLst>
          </a:prstGeom>
          <a:solidFill>
            <a:srgbClr val="22345A"/>
          </a:solidFill>
          <a:ln/>
        </p:spPr>
      </p:sp>
      <p:sp>
        <p:nvSpPr>
          <p:cNvPr id="13" name="Text 11"/>
          <p:cNvSpPr/>
          <p:nvPr/>
        </p:nvSpPr>
        <p:spPr>
          <a:xfrm>
            <a:off x="8220973" y="1864072"/>
            <a:ext cx="3017412"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F0A05C"/>
                </a:solidFill>
                <a:latin typeface="Times New Roman" pitchFamily="18" charset="0"/>
                <a:ea typeface="Times New Roman" pitchFamily="18" charset="-122"/>
                <a:cs typeface="Times New Roman" pitchFamily="18" charset="-120"/>
              </a:rPr>
              <a:t>3</a:t>
            </a:r>
            <a:endParaRPr lang="en-US" sz="3000" dirty="0"/>
          </a:p>
        </p:txBody>
      </p:sp>
      <p:sp>
        <p:nvSpPr>
          <p:cNvPr id="14" name="Text 12"/>
          <p:cNvSpPr/>
          <p:nvPr/>
        </p:nvSpPr>
        <p:spPr>
          <a:xfrm>
            <a:off x="8220973" y="2346635"/>
            <a:ext cx="3017412"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EFE8"/>
                </a:solidFill>
                <a:latin typeface="Times New Roman" pitchFamily="18" charset="0"/>
                <a:ea typeface="Times New Roman" pitchFamily="18" charset="-122"/>
                <a:cs typeface="Times New Roman" pitchFamily="18" charset="-120"/>
              </a:rPr>
              <a:t>Một đường cơ sở trung thực</a:t>
            </a:r>
            <a:endParaRPr lang="en-US" sz="1400" dirty="0"/>
          </a:p>
        </p:txBody>
      </p:sp>
      <p:sp>
        <p:nvSpPr>
          <p:cNvPr id="15" name="Text 13"/>
          <p:cNvSpPr/>
          <p:nvPr/>
        </p:nvSpPr>
        <p:spPr>
          <a:xfrm>
            <a:off x="8220973" y="2661493"/>
            <a:ext cx="3017412" cy="52311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CDB"/>
                </a:solidFill>
                <a:latin typeface="Times New Roman" pitchFamily="18" charset="0"/>
                <a:ea typeface="Times New Roman" pitchFamily="18" charset="-122"/>
                <a:cs typeface="Times New Roman" pitchFamily="18" charset="-120"/>
              </a:rPr>
              <a:t>Mô hình luật vượt hai đường cơ sở, và điểm yếu (báo nhầm) đã được định vị</a:t>
            </a:r>
            <a:endParaRPr lang="en-US" sz="1400" dirty="0"/>
          </a:p>
        </p:txBody>
      </p:sp>
      <p:sp>
        <p:nvSpPr>
          <p:cNvPr id="16" name="Text 14"/>
          <p:cNvSpPr/>
          <p:nvPr/>
        </p:nvSpPr>
        <p:spPr>
          <a:xfrm>
            <a:off x="812785" y="5522007"/>
            <a:ext cx="10883348" cy="345399"/>
          </a:xfrm>
          <a:prstGeom prst="rect">
            <a:avLst/>
          </a:prstGeom>
          <a:noFill/>
          <a:ln/>
        </p:spPr>
        <p:txBody>
          <a:bodyPr wrap="square" lIns="0" tIns="0" rIns="0" bIns="0" rtlCol="0" anchor="t">
            <a:normAutofit/>
          </a:bodyPr>
          <a:lstStyle/>
          <a:p>
            <a:pPr marL="0" indent="0" algn="l">
              <a:lnSpc>
                <a:spcPts val="2520"/>
              </a:lnSpc>
              <a:buNone/>
            </a:pPr>
            <a:r>
              <a:rPr lang="en-US" sz="1800" i="1" dirty="0">
                <a:solidFill>
                  <a:srgbClr val="F2EFE8"/>
                </a:solidFill>
                <a:latin typeface="Times New Roman" pitchFamily="18" charset="0"/>
                <a:ea typeface="Times New Roman" pitchFamily="18" charset="-122"/>
                <a:cs typeface="Times New Roman" pitchFamily="18" charset="-120"/>
              </a:rPr>
              <a:t>Cảm ơn thầy cô và các bạn đã lắng nghe.</a:t>
            </a:r>
            <a:endParaRPr lang="en-US" sz="1800" dirty="0"/>
          </a:p>
        </p:txBody>
      </p:sp>
      <p:sp>
        <p:nvSpPr>
          <p:cNvPr id="17" name="Text 15"/>
          <p:cNvSpPr/>
          <p:nvPr/>
        </p:nvSpPr>
        <p:spPr>
          <a:xfrm>
            <a:off x="812785" y="6238218"/>
            <a:ext cx="502161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CDB"/>
                </a:solidFill>
                <a:latin typeface="Times New Roman" pitchFamily="18" charset="0"/>
                <a:ea typeface="Times New Roman" pitchFamily="18" charset="-122"/>
                <a:cs typeface="Times New Roman" pitchFamily="18" charset="-120"/>
              </a:rPr>
              <a:t>Nhận dạng cử chỉ bàn tay thời gian thực · Báo cáo </a:t>
            </a:r>
            <a:r>
              <a:rPr lang="en-US" sz="1200" dirty="0" err="1">
                <a:solidFill>
                  <a:srgbClr val="C3CCDB"/>
                </a:solidFill>
                <a:latin typeface="Times New Roman" pitchFamily="18" charset="0"/>
                <a:ea typeface="Times New Roman" pitchFamily="18" charset="-122"/>
                <a:cs typeface="Times New Roman" pitchFamily="18" charset="-120"/>
              </a:rPr>
              <a:t>tiến</a:t>
            </a:r>
            <a:r>
              <a:rPr lang="en-US" sz="1200" dirty="0">
                <a:solidFill>
                  <a:srgbClr val="C3CCDB"/>
                </a:solidFill>
                <a:latin typeface="Times New Roman" pitchFamily="18" charset="0"/>
                <a:ea typeface="Times New Roman" pitchFamily="18" charset="-122"/>
                <a:cs typeface="Times New Roman" pitchFamily="18" charset="-120"/>
              </a:rPr>
              <a:t> </a:t>
            </a:r>
            <a:r>
              <a:rPr lang="en-US" sz="1200" dirty="0" err="1" smtClean="0">
                <a:solidFill>
                  <a:srgbClr val="C3CCDB"/>
                </a:solidFill>
                <a:latin typeface="Times New Roman" pitchFamily="18" charset="0"/>
                <a:ea typeface="Times New Roman" pitchFamily="18" charset="-122"/>
                <a:cs typeface="Times New Roman" pitchFamily="18" charset="-120"/>
              </a:rPr>
              <a:t>độ</a:t>
            </a:r>
            <a:endParaRPr lang="en-US" sz="1200" dirty="0"/>
          </a:p>
        </p:txBody>
      </p:sp>
      <p:sp>
        <p:nvSpPr>
          <p:cNvPr id="18" name="Text 16"/>
          <p:cNvSpPr/>
          <p:nvPr/>
        </p:nvSpPr>
        <p:spPr>
          <a:xfrm>
            <a:off x="10871230" y="6238218"/>
            <a:ext cx="507912"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3CCDB"/>
                </a:solidFill>
                <a:latin typeface="Times New Roman" pitchFamily="18" charset="0"/>
                <a:ea typeface="Times New Roman" pitchFamily="18" charset="-122"/>
                <a:cs typeface="Times New Roman" pitchFamily="18" charset="-120"/>
              </a:rPr>
              <a:t>16 / 16</a:t>
            </a:r>
            <a:endParaRPr lang="en-US" sz="1200" dirty="0"/>
          </a:p>
        </p:txBody>
      </p:sp>
    </p:spTree>
  </p:cSld>
  <p:clrMapOvr>
    <a:masterClrMapping/>
  </p:clrMapOvr>
</p:sld>
</file>

<file path=ppt/theme/theme1.xml><?xml version="1.0" encoding="utf-8"?>
<a:theme xmlns:a="http://schemas.openxmlformats.org/drawingml/2006/main" name="Nhận dạng cử chỉ bàn tay thời gian thực — Báo cáo tiến độ Phase 0–5">
  <a:themeElements>
    <a:clrScheme name="Nhận dạng cử chỉ bàn tay thời gian thực — Báo cáo tiến độ Phase 0–5">
      <a:dk1>
        <a:srgbClr val="15233F"/>
      </a:dk1>
      <a:lt1>
        <a:srgbClr val="F7F5F0"/>
      </a:lt1>
      <a:dk2>
        <a:srgbClr val="4E586B"/>
      </a:dk2>
      <a:lt2>
        <a:srgbClr val="E0E0DE"/>
      </a:lt2>
      <a:accent1>
        <a:srgbClr val="A84E16"/>
      </a:accent1>
      <a:accent2>
        <a:srgbClr val="F0A05C"/>
      </a:accent2>
      <a:accent3>
        <a:srgbClr val="22345A"/>
      </a:accent3>
      <a:accent4>
        <a:srgbClr val="2A5A9B"/>
      </a:accent4>
      <a:accent5>
        <a:srgbClr val="3B4558"/>
      </a:accent5>
      <a:accent6>
        <a:srgbClr val="5F6878"/>
      </a:accent6>
      <a:hlink>
        <a:srgbClr val="0563C1"/>
      </a:hlink>
      <a:folHlink>
        <a:srgbClr val="954F72"/>
      </a:folHlink>
    </a:clrScheme>
    <a:fontScheme name="Nhận dạng cử chỉ bàn tay thời gian thực — Báo cáo tiến độ Phase 0–5">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6959</Words>
  <Application>Microsoft Office PowerPoint</Application>
  <PresentationFormat>Widescreen</PresentationFormat>
  <Paragraphs>460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Nhận dạng cử chỉ bàn tay thời gian thực — Báo cáo tiến độ Phase 0–5</vt:lpstr>
      <vt:lpstr>Nhận dạng cử chỉ bàn tay thời gian thực để điều khiển máy tính</vt:lpstr>
      <vt:lpstr>Bài toán</vt:lpstr>
      <vt:lpstr>Dữ liệu IPN Hand</vt:lpstr>
      <vt:lpstr>Thu nhận điểm mốc và pipeline tiền xử lý</vt:lpstr>
      <vt:lpstr>Chuẩn hoá cửa sổ</vt:lpstr>
      <vt:lpstr>15 đặc trưng, chia thành 5 nhóm</vt:lpstr>
      <vt:lpstr>Câu chuyện dữ liệu: video và nhãn IPN lệch nhau</vt:lpstr>
      <vt:lpstr>Trích điểm mốc toàn bộ IPN và đo quy ước hướng</vt:lpstr>
      <vt:lpstr>Gán nhãn cửa sổ: neo vào khoảnh khắc chính</vt:lpstr>
      <vt:lpstr>Chia tập theo người, cân bằng lớp, tăng cường</vt:lpstr>
      <vt:lpstr>Cổng kiểm tra đặc trưng</vt:lpstr>
      <vt:lpstr>Mô hình luật ngưỡng</vt:lpstr>
      <vt:lpstr>Kết quả trên tập val</vt:lpstr>
      <vt:lpstr>Demo thời gian thực v0</vt:lpstr>
      <vt:lpstr>Hạn chế và kế hoạch tiếp theo</vt:lpstr>
      <vt:lpstr>Ba điều đã làm được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Nhận dạng cử chỉ bàn tay thời gian thực — Báo cáo tiến độ Phase 0–5</dc:title>
  <dc:subject/>
  <dc:creator/>
  <cp:lastModifiedBy>Nguyễn Tiến Lâm</cp:lastModifiedBy>
  <cp:revision>27</cp:revision>
  <dcterms:created xsi:type="dcterms:W3CDTF">2026-10-06T08:45:54Z</dcterms:created>
  <dcterms:modified xsi:type="dcterms:W3CDTF">2026-10-06T08:57:55Z</dcterms:modified>
</cp:coreProperties>
</file>