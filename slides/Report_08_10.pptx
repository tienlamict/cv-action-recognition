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1" r:id="rId5"/>
    <p:sldId id="274" r:id="rId6"/>
    <p:sldId id="263" r:id="rId7"/>
    <p:sldId id="265" r:id="rId8"/>
    <p:sldId id="266" r:id="rId9"/>
    <p:sldId id="269" r:id="rId10"/>
    <p:sldId id="270" r:id="rId11"/>
    <p:sldId id="272" r:id="rId12"/>
    <p:sldId id="273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096" autoAdjust="0"/>
  </p:normalViewPr>
  <p:slideViewPr>
    <p:cSldViewPr snapToGrid="0" snapToObjects="1">
      <p:cViewPr varScale="1">
        <p:scale>
          <a:sx n="61" d="100"/>
          <a:sy n="61" d="100"/>
        </p:scale>
        <p:origin x="8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115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10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85" y="987927"/>
            <a:ext cx="10566357" cy="41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5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85" y="1711798"/>
            <a:ext cx="10566415" cy="4333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5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85" y="987927"/>
            <a:ext cx="10566357" cy="41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5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85" y="1711798"/>
            <a:ext cx="10566415" cy="4333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5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1646002"/>
            <a:ext cx="706366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0A05C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BÁO CÁO TIẾN </a:t>
            </a:r>
            <a:r>
              <a:rPr lang="en-US" sz="1200" b="1" kern="0" spc="150" dirty="0" smtClean="0">
                <a:solidFill>
                  <a:srgbClr val="F0A05C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ĐỘ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2062501"/>
            <a:ext cx="7063665" cy="2000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Nhận dạng cử chỉ bàn tay thời gian thực để điều khiển máy tính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785" y="4240537"/>
            <a:ext cx="7063665" cy="322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i="1" dirty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Các giải pháp và kỹ thuật đã thực hiện</a:t>
            </a:r>
            <a:endParaRPr lang="en-US" sz="1800" dirty="0"/>
          </a:p>
        </p:txBody>
      </p:sp>
      <p:pic>
        <p:nvPicPr>
          <p:cNvPr id="5" name="Image 0" descr="line"/>
          <p:cNvPicPr>
            <a:picLocks noChangeAspect="1"/>
          </p:cNvPicPr>
          <p:nvPr/>
        </p:nvPicPr>
        <p:blipFill>
          <a:blip r:embed="rId3"/>
          <a:srcRect l="-37" r="-37"/>
          <a:stretch/>
        </p:blipFill>
        <p:spPr>
          <a:xfrm>
            <a:off x="812785" y="4740820"/>
            <a:ext cx="1015927" cy="190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85" y="4962996"/>
            <a:ext cx="7063665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 smtClean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[Nguyễn Tiến Lâm] </a:t>
            </a:r>
            <a:r>
              <a:rPr lang="en-US" sz="1400" dirty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· </a:t>
            </a:r>
            <a:r>
              <a:rPr lang="en-US" sz="1400" dirty="0" smtClean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[</a:t>
            </a:r>
            <a:r>
              <a:rPr lang="en-US" sz="1400" dirty="0" err="1" smtClean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Thị</a:t>
            </a:r>
            <a:r>
              <a:rPr lang="en-US" sz="1400" dirty="0" smtClean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giác</a:t>
            </a:r>
            <a:r>
              <a:rPr lang="en-US" sz="1400" dirty="0" smtClean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máy</a:t>
            </a:r>
            <a:r>
              <a:rPr lang="en-US" sz="1400" dirty="0" smtClean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tính</a:t>
            </a:r>
            <a:r>
              <a:rPr lang="en-US" sz="1400" dirty="0" smtClean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]</a:t>
            </a:r>
            <a:endParaRPr lang="en-US" sz="1400" dirty="0"/>
          </a:p>
        </p:txBody>
      </p:sp>
      <p:pic>
        <p:nvPicPr>
          <p:cNvPr id="7" name="Image 1" descr="Khung xương bàn tay gồm 21 điểm mốc, đầu ngón cái và đầu ngón trỏ được tô nổi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99393" y="1604625"/>
            <a:ext cx="2857427" cy="33336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23225" y="5039872"/>
            <a:ext cx="260976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21 điểm mốc · 42 con số mỗi frame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711142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MỞ ĐẦU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987925"/>
            <a:ext cx="10883348" cy="44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Bài toán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85" y="1610137"/>
            <a:ext cx="5460927" cy="745170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5" name="Shape 3"/>
          <p:cNvSpPr/>
          <p:nvPr/>
        </p:nvSpPr>
        <p:spPr>
          <a:xfrm>
            <a:off x="831835" y="1610137"/>
            <a:ext cx="0" cy="745170"/>
          </a:xfrm>
          <a:prstGeom prst="line">
            <a:avLst/>
          </a:prstGeom>
          <a:noFill/>
          <a:ln w="38100">
            <a:solidFill>
              <a:srgbClr val="2A5A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200" y="1737064"/>
            <a:ext cx="5219759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Đầu vào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8200" y="1988417"/>
            <a:ext cx="5219759" cy="26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Webcam laptop </a:t>
            </a:r>
            <a:r>
              <a:rPr lang="en-US" sz="1400" dirty="0" err="1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thông</a:t>
            </a: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thường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785" y="2482233"/>
            <a:ext cx="5624755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Đầu ra: bốn cử chỉ thành bốn lệnh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785" y="2822443"/>
            <a:ext cx="5460927" cy="2309813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0" name="Shape 8"/>
          <p:cNvSpPr/>
          <p:nvPr/>
        </p:nvSpPr>
        <p:spPr>
          <a:xfrm>
            <a:off x="6270538" y="2822443"/>
            <a:ext cx="0" cy="2309813"/>
          </a:xfrm>
          <a:prstGeom prst="line">
            <a:avLst/>
          </a:prstGeom>
          <a:noFill/>
          <a:ln w="6350">
            <a:solidFill>
              <a:srgbClr val="DCD8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2785" y="5129081"/>
            <a:ext cx="5460927" cy="0"/>
          </a:xfrm>
          <a:prstGeom prst="line">
            <a:avLst/>
          </a:prstGeom>
          <a:noFill/>
          <a:ln w="6350">
            <a:solidFill>
              <a:srgbClr val="DCD8CE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93" y="2831851"/>
          <a:ext cx="5446816" cy="2295702"/>
        </p:xfrm>
        <a:graphic>
          <a:graphicData uri="http://schemas.openxmlformats.org/drawingml/2006/table">
            <a:tbl>
              <a:tblPr/>
              <a:tblGrid>
                <a:gridCol w="2723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3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EFE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Cử chỉ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EFE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Lệnh dự kiến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Vuốt trái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Slide trước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Vuốt phải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Slide sau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Zoom in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Phóng to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Zoom out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Thu nhỏ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Không cử chỉ (lớp nền)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Không phát lệnh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0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680068" y="1610137"/>
            <a:ext cx="4840046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Ba điểm làm bài toán khó hơn vẻ ngoài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680068" y="1924991"/>
            <a:ext cx="4699074" cy="1010561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5" name="Text 12"/>
          <p:cNvSpPr/>
          <p:nvPr/>
        </p:nvSpPr>
        <p:spPr>
          <a:xfrm>
            <a:off x="6857854" y="2064632"/>
            <a:ext cx="279371" cy="756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213351" y="2064632"/>
            <a:ext cx="4107646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Lớp nền là lớp quan trọng nhất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213351" y="2315987"/>
            <a:ext cx="4107646" cy="505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Phần lớn thời gian khi dùng thật là “không cử chỉ”. Báo nhầm nguy hiểm hơn bỏ sót.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680068" y="3037123"/>
            <a:ext cx="4699074" cy="1010561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9" name="Text 16"/>
          <p:cNvSpPr/>
          <p:nvPr/>
        </p:nvSpPr>
        <p:spPr>
          <a:xfrm>
            <a:off x="6857854" y="3176764"/>
            <a:ext cx="279371" cy="756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213351" y="3176764"/>
            <a:ext cx="4107646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Ràng buộc thời gian thực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213351" y="3428119"/>
            <a:ext cx="4107646" cy="505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Tại mỗi thời điểm chỉ được dùng quá khứ, không “chờ xem” điều gì xảy ra tiếp.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680068" y="4149255"/>
            <a:ext cx="4699074" cy="770599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23" name="Text 20"/>
          <p:cNvSpPr/>
          <p:nvPr/>
        </p:nvSpPr>
        <p:spPr>
          <a:xfrm>
            <a:off x="6857854" y="4288896"/>
            <a:ext cx="279371" cy="516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213351" y="4288896"/>
            <a:ext cx="4107646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Máy tính thông thường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213351" y="4540251"/>
            <a:ext cx="4107646" cy="26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Chạy trên CPU, không có GPU.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12785" y="6238215"/>
            <a:ext cx="502161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Nhận dạng cử chỉ bàn tay thời gian thực · Báo cáo </a:t>
            </a:r>
            <a:r>
              <a:rPr lang="en-US" sz="1200" dirty="0" err="1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tiến</a:t>
            </a: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độ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871230" y="6238215"/>
            <a:ext cx="50791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02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711143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MỞ ĐẦU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987926"/>
            <a:ext cx="10883348" cy="44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Dữ liệu IPN </a:t>
            </a:r>
            <a:r>
              <a:rPr lang="en-US" sz="3000" b="1" i="0" dirty="0" smtClean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Hand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85" y="1610137"/>
            <a:ext cx="2527286" cy="820943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5" name="Shape 3"/>
          <p:cNvSpPr/>
          <p:nvPr/>
        </p:nvSpPr>
        <p:spPr>
          <a:xfrm>
            <a:off x="812785" y="1622837"/>
            <a:ext cx="2527286" cy="0"/>
          </a:xfrm>
          <a:prstGeom prst="line">
            <a:avLst/>
          </a:prstGeom>
          <a:noFill/>
          <a:ln w="25400">
            <a:solidFill>
              <a:srgbClr val="152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5141" y="1722512"/>
            <a:ext cx="228925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200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5141" y="2128869"/>
            <a:ext cx="228925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video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2427" y="1610137"/>
            <a:ext cx="2527359" cy="820943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9" name="Shape 7"/>
          <p:cNvSpPr/>
          <p:nvPr/>
        </p:nvSpPr>
        <p:spPr>
          <a:xfrm>
            <a:off x="3492427" y="1622837"/>
            <a:ext cx="2527359" cy="0"/>
          </a:xfrm>
          <a:prstGeom prst="line">
            <a:avLst/>
          </a:prstGeom>
          <a:noFill/>
          <a:ln w="25400">
            <a:solidFill>
              <a:srgbClr val="152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4783" y="1722512"/>
            <a:ext cx="228932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50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44783" y="2128869"/>
            <a:ext cx="22893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người diễn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142" y="1610137"/>
            <a:ext cx="2527286" cy="820943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142" y="1622837"/>
            <a:ext cx="2527286" cy="0"/>
          </a:xfrm>
          <a:prstGeom prst="line">
            <a:avLst/>
          </a:prstGeom>
          <a:noFill/>
          <a:ln w="25400">
            <a:solidFill>
              <a:srgbClr val="1523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4498" y="1722512"/>
            <a:ext cx="228925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14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24498" y="2128869"/>
            <a:ext cx="228925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lớp gốc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1784" y="1610137"/>
            <a:ext cx="2527359" cy="820943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851784" y="1622837"/>
            <a:ext cx="2527359" cy="0"/>
          </a:xfrm>
          <a:prstGeom prst="line">
            <a:avLst/>
          </a:prstGeom>
          <a:noFill/>
          <a:ln w="25400">
            <a:solidFill>
              <a:srgbClr val="1523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4140" y="1722512"/>
            <a:ext cx="228932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640×480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004140" y="2128869"/>
            <a:ext cx="22893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khoảng 30 FPS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785" y="2634222"/>
            <a:ext cx="6147995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Ánh xạ 14 lớp gốc về 5 lớp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2785" y="2923646"/>
            <a:ext cx="5968927" cy="2558668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22" name="Shape 20"/>
          <p:cNvSpPr/>
          <p:nvPr/>
        </p:nvSpPr>
        <p:spPr>
          <a:xfrm>
            <a:off x="6778538" y="2923646"/>
            <a:ext cx="0" cy="2558668"/>
          </a:xfrm>
          <a:prstGeom prst="line">
            <a:avLst/>
          </a:prstGeom>
          <a:noFill/>
          <a:ln w="6350">
            <a:solidFill>
              <a:srgbClr val="DCD8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2785" y="5479140"/>
            <a:ext cx="5968927" cy="0"/>
          </a:xfrm>
          <a:prstGeom prst="line">
            <a:avLst/>
          </a:prstGeom>
          <a:noFill/>
          <a:ln w="6350">
            <a:solidFill>
              <a:srgbClr val="DCD8CE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93" y="2933054"/>
          <a:ext cx="5954816" cy="2545545"/>
        </p:xfrm>
        <a:graphic>
          <a:graphicData uri="http://schemas.openxmlformats.org/drawingml/2006/table">
            <a:tbl>
              <a:tblPr/>
              <a:tblGrid>
                <a:gridCol w="3691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2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EFE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Lớp gốc IPN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EFE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Lớp của hệ thống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Hất trái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Vuốt trái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Hất phải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Vuốt phải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Zoom in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Zoom in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Zoom out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Zoom out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47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10 lớp còn lại; trong đó hất lên, hất xuống, xòe tay hai lần, chỉ trỏ là mẫu âm khó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Không cử chỉ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0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7137283" y="3147220"/>
            <a:ext cx="4241859" cy="919354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27" name="Shape 24"/>
          <p:cNvSpPr/>
          <p:nvPr/>
        </p:nvSpPr>
        <p:spPr>
          <a:xfrm>
            <a:off x="7156333" y="3147220"/>
            <a:ext cx="0" cy="919354"/>
          </a:xfrm>
          <a:prstGeom prst="line">
            <a:avLst/>
          </a:prstGeom>
          <a:noFill/>
          <a:ln w="38100">
            <a:solidFill>
              <a:srgbClr val="2A5A9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27269" y="3261505"/>
            <a:ext cx="4016503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Hai điều kiện đi kèm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428840" y="3525574"/>
            <a:ext cx="3907313" cy="452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29" indent="-152429" algn="l">
              <a:lnSpc>
                <a:spcPts val="1680"/>
              </a:lnSpc>
              <a:buSzPct val="100000"/>
              <a:buFontTx/>
              <a:buAutoNum type="arabicPeriod"/>
            </a:pP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Thực</a:t>
            </a:r>
            <a:r>
              <a:rPr lang="en-US" sz="12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hiện</a:t>
            </a:r>
            <a:r>
              <a:rPr lang="en-US" sz="12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theo</a:t>
            </a:r>
            <a:r>
              <a:rPr lang="en-US" sz="12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cử</a:t>
            </a:r>
            <a:r>
              <a:rPr lang="en-US" sz="12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chỉ</a:t>
            </a:r>
            <a:r>
              <a:rPr lang="en-US" sz="12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của</a:t>
            </a:r>
            <a:r>
              <a:rPr lang="en-US" sz="12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IPN</a:t>
            </a:r>
            <a:endParaRPr lang="en-US" sz="1200" dirty="0" smtClean="0"/>
          </a:p>
          <a:p>
            <a:pPr marL="152429" indent="-152429" algn="l">
              <a:lnSpc>
                <a:spcPts val="1680"/>
              </a:lnSpc>
              <a:buSzPct val="100000"/>
              <a:buFontTx/>
              <a:buAutoNum type="arabicPeriod"/>
            </a:pP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Quy</a:t>
            </a:r>
            <a:r>
              <a:rPr lang="en-US" sz="12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ước</a:t>
            </a:r>
            <a:r>
              <a:rPr lang="en-US" sz="12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hướng</a:t>
            </a:r>
            <a:r>
              <a:rPr lang="en-US" sz="12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lấy</a:t>
            </a:r>
            <a:r>
              <a:rPr lang="en-US" sz="12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theo</a:t>
            </a:r>
            <a:r>
              <a:rPr lang="en-US" sz="12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IPN: </a:t>
            </a: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phải</a:t>
            </a:r>
            <a:r>
              <a:rPr lang="en-US" sz="12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đo</a:t>
            </a:r>
            <a:r>
              <a:rPr lang="en-US" sz="12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, </a:t>
            </a: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không</a:t>
            </a:r>
            <a:r>
              <a:rPr lang="en-US" sz="12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đoán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137283" y="4168144"/>
            <a:ext cx="4241859" cy="919354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31" name="Shape 28"/>
          <p:cNvSpPr/>
          <p:nvPr/>
        </p:nvSpPr>
        <p:spPr>
          <a:xfrm>
            <a:off x="7156333" y="4168144"/>
            <a:ext cx="0" cy="919354"/>
          </a:xfrm>
          <a:prstGeom prst="line">
            <a:avLst/>
          </a:prstGeom>
          <a:noFill/>
          <a:ln w="38100">
            <a:solidFill>
              <a:srgbClr val="A84E1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327269" y="4282430"/>
            <a:ext cx="4016503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Cái chấp nhận mất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327269" y="4546498"/>
            <a:ext cx="4016503" cy="452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Chưa có dữ liệu điều </a:t>
            </a:r>
            <a:r>
              <a:rPr lang="en-US" sz="1200" dirty="0" err="1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kiện</a:t>
            </a: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thật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12785" y="6238216"/>
            <a:ext cx="502161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Nhận dạng cử chỉ bàn tay thời gian thực · Báo cáo </a:t>
            </a:r>
            <a:r>
              <a:rPr lang="en-US" sz="1200" dirty="0" err="1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tiến</a:t>
            </a: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độ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871230" y="6238216"/>
            <a:ext cx="50791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03 / 11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711141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NGUYÊN TẮC VÀ </a:t>
            </a:r>
            <a:r>
              <a:rPr lang="en-US" sz="1200" b="1" kern="0" spc="150" dirty="0" smtClean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PIPELINE XỬ LÝ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987924"/>
            <a:ext cx="10883348" cy="44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Thu nhận điểm mốc </a:t>
            </a:r>
            <a:r>
              <a:rPr lang="en-US" sz="3000" b="1" i="0" dirty="0" err="1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và</a:t>
            </a:r>
            <a:r>
              <a:rPr lang="en-US" sz="3000" b="1" i="0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b="1" dirty="0" smtClean="0"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pipeline</a:t>
            </a:r>
            <a:r>
              <a:rPr lang="en-US" sz="3000" b="1" i="0" dirty="0" smtClean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3000" b="1" i="0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tiền xử lý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785" y="1610137"/>
            <a:ext cx="3924225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Thu nhận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85" y="1912277"/>
            <a:ext cx="3809927" cy="614495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6" name="Shape 4"/>
          <p:cNvSpPr/>
          <p:nvPr/>
        </p:nvSpPr>
        <p:spPr>
          <a:xfrm>
            <a:off x="831835" y="1912277"/>
            <a:ext cx="0" cy="614495"/>
          </a:xfrm>
          <a:prstGeom prst="line">
            <a:avLst/>
          </a:prstGeom>
          <a:noFill/>
          <a:ln w="38100">
            <a:solidFill>
              <a:srgbClr val="2A5A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056" y="2001131"/>
            <a:ext cx="3597806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MediaPipe Hand Landmarker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0056" y="2239770"/>
            <a:ext cx="3597806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Chế độ video, theo dõi một bàn tay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785" y="2615626"/>
            <a:ext cx="3809927" cy="614495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0" name="Shape 8"/>
          <p:cNvSpPr/>
          <p:nvPr/>
        </p:nvSpPr>
        <p:spPr>
          <a:xfrm>
            <a:off x="831835" y="2615626"/>
            <a:ext cx="0" cy="614495"/>
          </a:xfrm>
          <a:prstGeom prst="line">
            <a:avLst/>
          </a:prstGeom>
          <a:noFill/>
          <a:ln w="38100">
            <a:solidFill>
              <a:srgbClr val="2A5A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056" y="2704483"/>
            <a:ext cx="3597806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Chỉ toạ độ 2D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90056" y="2943123"/>
            <a:ext cx="3597806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Bỏ độ sâu z vì ước lượng không tin cậy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785" y="3318979"/>
            <a:ext cx="3809927" cy="614495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4" name="Shape 12"/>
          <p:cNvSpPr/>
          <p:nvPr/>
        </p:nvSpPr>
        <p:spPr>
          <a:xfrm>
            <a:off x="831835" y="3318979"/>
            <a:ext cx="0" cy="614495"/>
          </a:xfrm>
          <a:prstGeom prst="line">
            <a:avLst/>
          </a:prstGeom>
          <a:noFill/>
          <a:ln w="38100">
            <a:solidFill>
              <a:srgbClr val="A84E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0056" y="3407832"/>
            <a:ext cx="3597806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Ảnh vào mô hình không lật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90056" y="3646472"/>
            <a:ext cx="3597806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Chỉ bản hiển thị được lật như gương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785" y="4022328"/>
            <a:ext cx="3809927" cy="614495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31835" y="4022328"/>
            <a:ext cx="0" cy="614495"/>
          </a:xfrm>
          <a:prstGeom prst="line">
            <a:avLst/>
          </a:prstGeom>
          <a:noFill/>
          <a:ln w="38100">
            <a:solidFill>
              <a:srgbClr val="A84E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0056" y="4111185"/>
            <a:ext cx="3597806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Giữ frame mất tay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90056" y="4349824"/>
            <a:ext cx="3597806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Ghi toạ độ rỗng để trục thời gian không bị đứt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068" y="1610137"/>
            <a:ext cx="6540577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smtClean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Pipeline </a:t>
            </a: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7 bước, thứ tự cố định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068" y="1912277"/>
            <a:ext cx="253927" cy="264069"/>
          </a:xfrm>
          <a:custGeom>
            <a:avLst/>
            <a:gdLst/>
            <a:ahLst/>
            <a:cxnLst/>
            <a:rect l="l" t="t" r="r" b="b"/>
            <a:pathLst>
              <a:path w="253927" h="264069">
                <a:moveTo>
                  <a:pt x="126963" y="0"/>
                </a:moveTo>
                <a:lnTo>
                  <a:pt x="126963" y="0"/>
                </a:lnTo>
                <a:arcTo wR="126963" hR="126963" stAng="16200000" swAng="5400000"/>
                <a:lnTo>
                  <a:pt x="253927" y="137106"/>
                </a:lnTo>
                <a:arcTo wR="126963" hR="126963" stAng="0" swAng="5400000"/>
                <a:lnTo>
                  <a:pt x="126963" y="264069"/>
                </a:lnTo>
                <a:arcTo wR="126963" hR="126963" stAng="5400000" swAng="5400000"/>
                <a:lnTo>
                  <a:pt x="0" y="126963"/>
                </a:lnTo>
                <a:arcTo wR="126963" hR="126963" stAng="10800000" swAng="5400000"/>
                <a:close/>
              </a:path>
            </a:pathLst>
          </a:custGeom>
          <a:solidFill>
            <a:srgbClr val="15233F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84566" y="1919846"/>
            <a:ext cx="6174414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Đổi toạ độ sang pixel, hai trục dùng hai hệ số riêng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068" y="2227129"/>
            <a:ext cx="253927" cy="264069"/>
          </a:xfrm>
          <a:custGeom>
            <a:avLst/>
            <a:gdLst/>
            <a:ahLst/>
            <a:cxnLst/>
            <a:rect l="l" t="t" r="r" b="b"/>
            <a:pathLst>
              <a:path w="253927" h="264069">
                <a:moveTo>
                  <a:pt x="126963" y="0"/>
                </a:moveTo>
                <a:lnTo>
                  <a:pt x="126963" y="0"/>
                </a:lnTo>
                <a:arcTo wR="126963" hR="126963" stAng="16200000" swAng="5400000"/>
                <a:lnTo>
                  <a:pt x="253927" y="137106"/>
                </a:lnTo>
                <a:arcTo wR="126963" hR="126963" stAng="0" swAng="5400000"/>
                <a:lnTo>
                  <a:pt x="126963" y="264069"/>
                </a:lnTo>
                <a:arcTo wR="126963" hR="126963" stAng="5400000" swAng="5400000"/>
                <a:lnTo>
                  <a:pt x="0" y="126963"/>
                </a:lnTo>
                <a:arcTo wR="126963" hR="126963" stAng="10800000" swAng="5400000"/>
                <a:close/>
              </a:path>
            </a:pathLst>
          </a:custGeom>
          <a:solidFill>
            <a:srgbClr val="15233F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84566" y="2234701"/>
            <a:ext cx="6174414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Đưa về lưới thời gian đều 15 Hz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068" y="2541984"/>
            <a:ext cx="253927" cy="264069"/>
          </a:xfrm>
          <a:custGeom>
            <a:avLst/>
            <a:gdLst/>
            <a:ahLst/>
            <a:cxnLst/>
            <a:rect l="l" t="t" r="r" b="b"/>
            <a:pathLst>
              <a:path w="253927" h="264069">
                <a:moveTo>
                  <a:pt x="126963" y="0"/>
                </a:moveTo>
                <a:lnTo>
                  <a:pt x="126963" y="0"/>
                </a:lnTo>
                <a:arcTo wR="126963" hR="126963" stAng="16200000" swAng="5400000"/>
                <a:lnTo>
                  <a:pt x="253927" y="137106"/>
                </a:lnTo>
                <a:arcTo wR="126963" hR="126963" stAng="0" swAng="5400000"/>
                <a:lnTo>
                  <a:pt x="126963" y="264069"/>
                </a:lnTo>
                <a:arcTo wR="126963" hR="126963" stAng="5400000" swAng="5400000"/>
                <a:lnTo>
                  <a:pt x="0" y="126963"/>
                </a:lnTo>
                <a:arcTo wR="126963" hR="126963" stAng="10800000" swAng="5400000"/>
                <a:close/>
              </a:path>
            </a:pathLst>
          </a:custGeom>
          <a:solidFill>
            <a:srgbClr val="15233F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84566" y="2549553"/>
            <a:ext cx="6174414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Vá lỗ hổng ngắn: tối đa 3 bước, phải có đủ hai đầu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068" y="2856840"/>
            <a:ext cx="253927" cy="264069"/>
          </a:xfrm>
          <a:custGeom>
            <a:avLst/>
            <a:gdLst/>
            <a:ahLst/>
            <a:cxnLst/>
            <a:rect l="l" t="t" r="r" b="b"/>
            <a:pathLst>
              <a:path w="253927" h="264069">
                <a:moveTo>
                  <a:pt x="126963" y="0"/>
                </a:moveTo>
                <a:lnTo>
                  <a:pt x="126963" y="0"/>
                </a:lnTo>
                <a:arcTo wR="126963" hR="126963" stAng="16200000" swAng="5400000"/>
                <a:lnTo>
                  <a:pt x="253927" y="137106"/>
                </a:lnTo>
                <a:arcTo wR="126963" hR="126963" stAng="0" swAng="5400000"/>
                <a:lnTo>
                  <a:pt x="126963" y="264069"/>
                </a:lnTo>
                <a:arcTo wR="126963" hR="126963" stAng="5400000" swAng="5400000"/>
                <a:lnTo>
                  <a:pt x="0" y="126963"/>
                </a:lnTo>
                <a:arcTo wR="126963" hR="126963" stAng="10800000" swAng="5400000"/>
                <a:close/>
              </a:path>
            </a:pathLst>
          </a:custGeom>
          <a:solidFill>
            <a:srgbClr val="15233F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84566" y="2864408"/>
            <a:ext cx="6174414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Cắt cửa sổ 1,2 giây, trượt mỗi 0,2 giây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068" y="3171692"/>
            <a:ext cx="253927" cy="264069"/>
          </a:xfrm>
          <a:custGeom>
            <a:avLst/>
            <a:gdLst/>
            <a:ahLst/>
            <a:cxnLst/>
            <a:rect l="l" t="t" r="r" b="b"/>
            <a:pathLst>
              <a:path w="253927" h="264069">
                <a:moveTo>
                  <a:pt x="126963" y="0"/>
                </a:moveTo>
                <a:lnTo>
                  <a:pt x="126963" y="0"/>
                </a:lnTo>
                <a:arcTo wR="126963" hR="126963" stAng="16200000" swAng="5400000"/>
                <a:lnTo>
                  <a:pt x="253927" y="137106"/>
                </a:lnTo>
                <a:arcTo wR="126963" hR="126963" stAng="0" swAng="5400000"/>
                <a:lnTo>
                  <a:pt x="126963" y="264069"/>
                </a:lnTo>
                <a:arcTo wR="126963" hR="126963" stAng="5400000" swAng="5400000"/>
                <a:lnTo>
                  <a:pt x="0" y="126963"/>
                </a:lnTo>
                <a:arcTo wR="126963" hR="126963" stAng="10800000" swAng="5400000"/>
                <a:close/>
              </a:path>
            </a:pathLst>
          </a:custGeom>
          <a:solidFill>
            <a:srgbClr val="15233F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84566" y="3179263"/>
            <a:ext cx="6174414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Tăng</a:t>
            </a: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cường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068" y="3486547"/>
            <a:ext cx="253927" cy="264069"/>
          </a:xfrm>
          <a:custGeom>
            <a:avLst/>
            <a:gdLst/>
            <a:ahLst/>
            <a:cxnLst/>
            <a:rect l="l" t="t" r="r" b="b"/>
            <a:pathLst>
              <a:path w="253927" h="264069">
                <a:moveTo>
                  <a:pt x="126963" y="0"/>
                </a:moveTo>
                <a:lnTo>
                  <a:pt x="126963" y="0"/>
                </a:lnTo>
                <a:arcTo wR="126963" hR="126963" stAng="16200000" swAng="5400000"/>
                <a:lnTo>
                  <a:pt x="253927" y="137106"/>
                </a:lnTo>
                <a:arcTo wR="126963" hR="126963" stAng="0" swAng="5400000"/>
                <a:lnTo>
                  <a:pt x="126963" y="264069"/>
                </a:lnTo>
                <a:arcTo wR="126963" hR="126963" stAng="5400000" swAng="5400000"/>
                <a:lnTo>
                  <a:pt x="0" y="126963"/>
                </a:lnTo>
                <a:arcTo wR="126963" hR="126963" stAng="10800000" swAng="5400000"/>
                <a:close/>
              </a:path>
            </a:pathLst>
          </a:custGeom>
          <a:solidFill>
            <a:srgbClr val="15233F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84566" y="3494119"/>
            <a:ext cx="6174414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Chuẩn hoá cửa sổ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068" y="3801402"/>
            <a:ext cx="253927" cy="264069"/>
          </a:xfrm>
          <a:custGeom>
            <a:avLst/>
            <a:gdLst/>
            <a:ahLst/>
            <a:cxnLst/>
            <a:rect l="l" t="t" r="r" b="b"/>
            <a:pathLst>
              <a:path w="253927" h="264069">
                <a:moveTo>
                  <a:pt x="126963" y="0"/>
                </a:moveTo>
                <a:lnTo>
                  <a:pt x="126963" y="0"/>
                </a:lnTo>
                <a:arcTo wR="126963" hR="126963" stAng="16200000" swAng="5400000"/>
                <a:lnTo>
                  <a:pt x="253927" y="137106"/>
                </a:lnTo>
                <a:arcTo wR="126963" hR="126963" stAng="0" swAng="5400000"/>
                <a:lnTo>
                  <a:pt x="126963" y="264069"/>
                </a:lnTo>
                <a:arcTo wR="126963" hR="126963" stAng="5400000" swAng="5400000"/>
                <a:lnTo>
                  <a:pt x="0" y="126963"/>
                </a:lnTo>
                <a:arcTo wR="126963" hR="126963" stAng="10800000" swAng="5400000"/>
                <a:close/>
              </a:path>
            </a:pathLst>
          </a:custGeom>
          <a:solidFill>
            <a:srgbClr val="15233F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84566" y="3808971"/>
            <a:ext cx="6174414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Tính </a:t>
            </a:r>
            <a:r>
              <a:rPr lang="en-US" sz="1400" dirty="0" err="1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đặc</a:t>
            </a: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trưng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32243" y="4157501"/>
            <a:ext cx="6343724" cy="962907"/>
          </a:xfrm>
          <a:prstGeom prst="roundRect">
            <a:avLst>
              <a:gd name="adj" fmla="val 6265"/>
            </a:avLst>
          </a:prstGeom>
          <a:solidFill>
            <a:srgbClr val="FDFCF9"/>
          </a:solidFill>
          <a:ln w="6350">
            <a:solidFill>
              <a:srgbClr val="DCD8C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0699" y="4260599"/>
            <a:ext cx="626941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Bước 3 trên dòng thời gian: lỗ ngắn được vá, lỗ dài giữ rỗng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160699" y="4537385"/>
            <a:ext cx="224602" cy="203141"/>
          </a:xfrm>
          <a:prstGeom prst="roundRect">
            <a:avLst>
              <a:gd name="adj" fmla="val 9378"/>
            </a:avLst>
          </a:prstGeom>
          <a:solidFill>
            <a:srgbClr val="15233F"/>
          </a:solidFill>
          <a:ln/>
        </p:spPr>
      </p:sp>
      <p:sp>
        <p:nvSpPr>
          <p:cNvPr id="39" name="Shape 37"/>
          <p:cNvSpPr/>
          <p:nvPr/>
        </p:nvSpPr>
        <p:spPr>
          <a:xfrm>
            <a:off x="5410656" y="4537385"/>
            <a:ext cx="224675" cy="203141"/>
          </a:xfrm>
          <a:prstGeom prst="roundRect">
            <a:avLst>
              <a:gd name="adj" fmla="val 9378"/>
            </a:avLst>
          </a:prstGeom>
          <a:solidFill>
            <a:srgbClr val="15233F"/>
          </a:solidFill>
          <a:ln/>
        </p:spPr>
      </p:sp>
      <p:sp>
        <p:nvSpPr>
          <p:cNvPr id="40" name="Shape 38"/>
          <p:cNvSpPr/>
          <p:nvPr/>
        </p:nvSpPr>
        <p:spPr>
          <a:xfrm>
            <a:off x="5660688" y="4537385"/>
            <a:ext cx="224602" cy="203141"/>
          </a:xfrm>
          <a:prstGeom prst="roundRect">
            <a:avLst>
              <a:gd name="adj" fmla="val 9378"/>
            </a:avLst>
          </a:prstGeom>
          <a:solidFill>
            <a:srgbClr val="15233F"/>
          </a:solidFill>
          <a:ln/>
        </p:spPr>
      </p:sp>
      <p:sp>
        <p:nvSpPr>
          <p:cNvPr id="41" name="Shape 39"/>
          <p:cNvSpPr/>
          <p:nvPr/>
        </p:nvSpPr>
        <p:spPr>
          <a:xfrm>
            <a:off x="5910645" y="4537385"/>
            <a:ext cx="224675" cy="203141"/>
          </a:xfrm>
          <a:prstGeom prst="roundRect">
            <a:avLst>
              <a:gd name="adj" fmla="val 9378"/>
            </a:avLst>
          </a:prstGeom>
          <a:solidFill>
            <a:srgbClr val="15233F"/>
          </a:solidFill>
          <a:ln/>
        </p:spPr>
      </p:sp>
      <p:sp>
        <p:nvSpPr>
          <p:cNvPr id="42" name="Shape 40"/>
          <p:cNvSpPr/>
          <p:nvPr/>
        </p:nvSpPr>
        <p:spPr>
          <a:xfrm>
            <a:off x="6160677" y="4537385"/>
            <a:ext cx="224602" cy="203141"/>
          </a:xfrm>
          <a:prstGeom prst="roundRect">
            <a:avLst>
              <a:gd name="adj" fmla="val 9378"/>
            </a:avLst>
          </a:prstGeom>
          <a:solidFill>
            <a:srgbClr val="15233F"/>
          </a:solidFill>
          <a:ln/>
        </p:spPr>
      </p:sp>
      <p:sp>
        <p:nvSpPr>
          <p:cNvPr id="43" name="Shape 41"/>
          <p:cNvSpPr/>
          <p:nvPr/>
        </p:nvSpPr>
        <p:spPr>
          <a:xfrm>
            <a:off x="6410635" y="4537385"/>
            <a:ext cx="224675" cy="203141"/>
          </a:xfrm>
          <a:prstGeom prst="roundRect">
            <a:avLst>
              <a:gd name="adj" fmla="val 9378"/>
            </a:avLst>
          </a:prstGeom>
          <a:solidFill>
            <a:srgbClr val="15233F"/>
          </a:solidFill>
          <a:ln/>
        </p:spPr>
      </p:sp>
      <p:sp>
        <p:nvSpPr>
          <p:cNvPr id="44" name="Shape 42"/>
          <p:cNvSpPr/>
          <p:nvPr/>
        </p:nvSpPr>
        <p:spPr>
          <a:xfrm>
            <a:off x="6660666" y="4537385"/>
            <a:ext cx="224602" cy="203141"/>
          </a:xfrm>
          <a:prstGeom prst="roundRect">
            <a:avLst>
              <a:gd name="adj" fmla="val 9378"/>
            </a:avLst>
          </a:prstGeom>
          <a:solidFill>
            <a:srgbClr val="A84E16"/>
          </a:solidFill>
          <a:ln/>
        </p:spPr>
      </p:sp>
      <p:sp>
        <p:nvSpPr>
          <p:cNvPr id="45" name="Shape 43"/>
          <p:cNvSpPr/>
          <p:nvPr/>
        </p:nvSpPr>
        <p:spPr>
          <a:xfrm>
            <a:off x="6910624" y="4537385"/>
            <a:ext cx="224675" cy="203141"/>
          </a:xfrm>
          <a:prstGeom prst="roundRect">
            <a:avLst>
              <a:gd name="adj" fmla="val 9378"/>
            </a:avLst>
          </a:prstGeom>
          <a:solidFill>
            <a:srgbClr val="A84E16"/>
          </a:solidFill>
          <a:ln/>
        </p:spPr>
      </p:sp>
      <p:sp>
        <p:nvSpPr>
          <p:cNvPr id="46" name="Shape 44"/>
          <p:cNvSpPr/>
          <p:nvPr/>
        </p:nvSpPr>
        <p:spPr>
          <a:xfrm>
            <a:off x="7160655" y="4537385"/>
            <a:ext cx="224602" cy="203141"/>
          </a:xfrm>
          <a:prstGeom prst="roundRect">
            <a:avLst>
              <a:gd name="adj" fmla="val 9378"/>
            </a:avLst>
          </a:prstGeom>
          <a:solidFill>
            <a:srgbClr val="15233F"/>
          </a:solidFill>
          <a:ln/>
        </p:spPr>
      </p:sp>
      <p:sp>
        <p:nvSpPr>
          <p:cNvPr id="47" name="Shape 45"/>
          <p:cNvSpPr/>
          <p:nvPr/>
        </p:nvSpPr>
        <p:spPr>
          <a:xfrm>
            <a:off x="7410613" y="4537385"/>
            <a:ext cx="224602" cy="203141"/>
          </a:xfrm>
          <a:prstGeom prst="roundRect">
            <a:avLst>
              <a:gd name="adj" fmla="val 9378"/>
            </a:avLst>
          </a:prstGeom>
          <a:solidFill>
            <a:srgbClr val="15233F"/>
          </a:solidFill>
          <a:ln/>
        </p:spPr>
      </p:sp>
      <p:sp>
        <p:nvSpPr>
          <p:cNvPr id="48" name="Shape 46"/>
          <p:cNvSpPr/>
          <p:nvPr/>
        </p:nvSpPr>
        <p:spPr>
          <a:xfrm>
            <a:off x="7660570" y="4537385"/>
            <a:ext cx="224602" cy="203141"/>
          </a:xfrm>
          <a:prstGeom prst="roundRect">
            <a:avLst>
              <a:gd name="adj" fmla="val 9378"/>
            </a:avLst>
          </a:prstGeom>
          <a:solidFill>
            <a:srgbClr val="15233F"/>
          </a:solidFill>
          <a:ln/>
        </p:spPr>
      </p:sp>
      <p:sp>
        <p:nvSpPr>
          <p:cNvPr id="49" name="Shape 47"/>
          <p:cNvSpPr/>
          <p:nvPr/>
        </p:nvSpPr>
        <p:spPr>
          <a:xfrm>
            <a:off x="7910528" y="4537385"/>
            <a:ext cx="224602" cy="203141"/>
          </a:xfrm>
          <a:prstGeom prst="roundRect">
            <a:avLst>
              <a:gd name="adj" fmla="val 9378"/>
            </a:avLst>
          </a:prstGeom>
          <a:solidFill>
            <a:srgbClr val="15233F"/>
          </a:solidFill>
          <a:ln/>
        </p:spPr>
      </p:sp>
      <p:sp>
        <p:nvSpPr>
          <p:cNvPr id="50" name="Shape 48"/>
          <p:cNvSpPr/>
          <p:nvPr/>
        </p:nvSpPr>
        <p:spPr>
          <a:xfrm>
            <a:off x="8160486" y="4537385"/>
            <a:ext cx="224602" cy="203141"/>
          </a:xfrm>
          <a:prstGeom prst="roundRect">
            <a:avLst>
              <a:gd name="adj" fmla="val 9378"/>
            </a:avLst>
          </a:prstGeom>
          <a:solidFill>
            <a:srgbClr val="15233F"/>
          </a:solidFill>
          <a:ln/>
        </p:spPr>
      </p:sp>
      <p:sp>
        <p:nvSpPr>
          <p:cNvPr id="51" name="Shape 49"/>
          <p:cNvSpPr/>
          <p:nvPr/>
        </p:nvSpPr>
        <p:spPr>
          <a:xfrm>
            <a:off x="8410444" y="4537385"/>
            <a:ext cx="224602" cy="203141"/>
          </a:xfrm>
          <a:prstGeom prst="roundRect">
            <a:avLst>
              <a:gd name="adj" fmla="val 9378"/>
            </a:avLst>
          </a:prstGeom>
          <a:solidFill>
            <a:srgbClr val="15233F"/>
          </a:solidFill>
          <a:ln/>
        </p:spPr>
      </p:sp>
      <p:sp>
        <p:nvSpPr>
          <p:cNvPr id="52" name="Shape 50"/>
          <p:cNvSpPr/>
          <p:nvPr/>
        </p:nvSpPr>
        <p:spPr>
          <a:xfrm>
            <a:off x="8666752" y="4543735"/>
            <a:ext cx="230717" cy="190441"/>
          </a:xfrm>
          <a:prstGeom prst="roundRect">
            <a:avLst>
              <a:gd name="adj" fmla="val 6669"/>
            </a:avLst>
          </a:prstGeom>
          <a:solidFill>
            <a:srgbClr val="F7F5F0"/>
          </a:solidFill>
          <a:ln w="12700">
            <a:solidFill>
              <a:srgbClr val="9AA4B5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8935524" y="4543735"/>
            <a:ext cx="230717" cy="190441"/>
          </a:xfrm>
          <a:prstGeom prst="roundRect">
            <a:avLst>
              <a:gd name="adj" fmla="val 6669"/>
            </a:avLst>
          </a:prstGeom>
          <a:solidFill>
            <a:srgbClr val="F7F5F0"/>
          </a:solidFill>
          <a:ln w="12700">
            <a:solidFill>
              <a:srgbClr val="9AA4B5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9204297" y="4543735"/>
            <a:ext cx="230717" cy="190441"/>
          </a:xfrm>
          <a:prstGeom prst="roundRect">
            <a:avLst>
              <a:gd name="adj" fmla="val 6669"/>
            </a:avLst>
          </a:prstGeom>
          <a:solidFill>
            <a:srgbClr val="F7F5F0"/>
          </a:solidFill>
          <a:ln w="12700">
            <a:solidFill>
              <a:srgbClr val="9AA4B5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9473069" y="4543735"/>
            <a:ext cx="230717" cy="190441"/>
          </a:xfrm>
          <a:prstGeom prst="roundRect">
            <a:avLst>
              <a:gd name="adj" fmla="val 6669"/>
            </a:avLst>
          </a:prstGeom>
          <a:solidFill>
            <a:srgbClr val="F7F5F0"/>
          </a:solidFill>
          <a:ln w="12700">
            <a:solidFill>
              <a:srgbClr val="9AA4B5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9741842" y="4543735"/>
            <a:ext cx="230717" cy="190441"/>
          </a:xfrm>
          <a:prstGeom prst="roundRect">
            <a:avLst>
              <a:gd name="adj" fmla="val 6669"/>
            </a:avLst>
          </a:prstGeom>
          <a:solidFill>
            <a:srgbClr val="F7F5F0"/>
          </a:solidFill>
          <a:ln w="12700">
            <a:solidFill>
              <a:srgbClr val="9AA4B5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10010615" y="4543735"/>
            <a:ext cx="230717" cy="190441"/>
          </a:xfrm>
          <a:prstGeom prst="roundRect">
            <a:avLst>
              <a:gd name="adj" fmla="val 6669"/>
            </a:avLst>
          </a:prstGeom>
          <a:solidFill>
            <a:srgbClr val="F7F5F0"/>
          </a:solidFill>
          <a:ln w="12700">
            <a:solidFill>
              <a:srgbClr val="9AA4B5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10273037" y="4537385"/>
            <a:ext cx="224602" cy="203141"/>
          </a:xfrm>
          <a:prstGeom prst="roundRect">
            <a:avLst>
              <a:gd name="adj" fmla="val 9378"/>
            </a:avLst>
          </a:prstGeom>
          <a:solidFill>
            <a:srgbClr val="15233F"/>
          </a:solidFill>
          <a:ln/>
        </p:spPr>
      </p:sp>
      <p:sp>
        <p:nvSpPr>
          <p:cNvPr id="59" name="Shape 57"/>
          <p:cNvSpPr/>
          <p:nvPr/>
        </p:nvSpPr>
        <p:spPr>
          <a:xfrm>
            <a:off x="10522995" y="4537385"/>
            <a:ext cx="224602" cy="203141"/>
          </a:xfrm>
          <a:prstGeom prst="roundRect">
            <a:avLst>
              <a:gd name="adj" fmla="val 9378"/>
            </a:avLst>
          </a:prstGeom>
          <a:solidFill>
            <a:srgbClr val="15233F"/>
          </a:solidFill>
          <a:ln/>
        </p:spPr>
      </p:sp>
      <p:sp>
        <p:nvSpPr>
          <p:cNvPr id="60" name="Shape 58"/>
          <p:cNvSpPr/>
          <p:nvPr/>
        </p:nvSpPr>
        <p:spPr>
          <a:xfrm>
            <a:off x="10772953" y="4537385"/>
            <a:ext cx="224602" cy="203141"/>
          </a:xfrm>
          <a:prstGeom prst="roundRect">
            <a:avLst>
              <a:gd name="adj" fmla="val 9378"/>
            </a:avLst>
          </a:prstGeom>
          <a:solidFill>
            <a:srgbClr val="15233F"/>
          </a:solidFill>
          <a:ln/>
        </p:spPr>
      </p:sp>
      <p:sp>
        <p:nvSpPr>
          <p:cNvPr id="61" name="Shape 59"/>
          <p:cNvSpPr/>
          <p:nvPr/>
        </p:nvSpPr>
        <p:spPr>
          <a:xfrm>
            <a:off x="11022911" y="4537385"/>
            <a:ext cx="224602" cy="203141"/>
          </a:xfrm>
          <a:prstGeom prst="roundRect">
            <a:avLst>
              <a:gd name="adj" fmla="val 9378"/>
            </a:avLst>
          </a:prstGeom>
          <a:solidFill>
            <a:srgbClr val="15233F"/>
          </a:solidFill>
          <a:ln/>
        </p:spPr>
      </p:sp>
      <p:sp>
        <p:nvSpPr>
          <p:cNvPr id="62" name="Shape 60"/>
          <p:cNvSpPr/>
          <p:nvPr/>
        </p:nvSpPr>
        <p:spPr>
          <a:xfrm>
            <a:off x="5160699" y="4847168"/>
            <a:ext cx="165071" cy="126927"/>
          </a:xfrm>
          <a:prstGeom prst="roundRect">
            <a:avLst>
              <a:gd name="adj" fmla="val 15009"/>
            </a:avLst>
          </a:prstGeom>
          <a:solidFill>
            <a:srgbClr val="15233F"/>
          </a:solidFill>
          <a:ln/>
        </p:spPr>
      </p:sp>
      <p:sp>
        <p:nvSpPr>
          <p:cNvPr id="63" name="Text 61"/>
          <p:cNvSpPr/>
          <p:nvPr/>
        </p:nvSpPr>
        <p:spPr>
          <a:xfrm>
            <a:off x="5389196" y="4803952"/>
            <a:ext cx="482424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Có tay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994357" y="4847168"/>
            <a:ext cx="165071" cy="126927"/>
          </a:xfrm>
          <a:prstGeom prst="roundRect">
            <a:avLst>
              <a:gd name="adj" fmla="val 15009"/>
            </a:avLst>
          </a:prstGeom>
          <a:solidFill>
            <a:srgbClr val="A84E16"/>
          </a:solidFill>
          <a:ln/>
        </p:spPr>
      </p:sp>
      <p:sp>
        <p:nvSpPr>
          <p:cNvPr id="65" name="Text 63"/>
          <p:cNvSpPr/>
          <p:nvPr/>
        </p:nvSpPr>
        <p:spPr>
          <a:xfrm>
            <a:off x="6222854" y="4803952"/>
            <a:ext cx="199437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Lỗ ≤ 3 bước: vá bằng nội suy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223575" y="4853518"/>
            <a:ext cx="152371" cy="114227"/>
          </a:xfrm>
          <a:prstGeom prst="roundRect">
            <a:avLst>
              <a:gd name="adj" fmla="val 11118"/>
            </a:avLst>
          </a:prstGeom>
          <a:solidFill>
            <a:srgbClr val="F7F5F0"/>
          </a:solidFill>
          <a:ln w="12700">
            <a:solidFill>
              <a:srgbClr val="9AA4B5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8445722" y="4803952"/>
            <a:ext cx="119080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Lỗ dài: giữ rỗng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12785" y="6238215"/>
            <a:ext cx="502161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Nhận dạng cử chỉ bàn tay thời gian thực · Báo cáo </a:t>
            </a:r>
            <a:r>
              <a:rPr lang="en-US" sz="1200" dirty="0" err="1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tiến</a:t>
            </a: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độ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10871230" y="6238215"/>
            <a:ext cx="50791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04 / 11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711141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NGUYÊN TẮC VÀ </a:t>
            </a:r>
            <a:r>
              <a:rPr lang="en-US" sz="1200" b="1" kern="0" spc="150" dirty="0" smtClean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PIPELINE XỬ LÝ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12785" y="6238215"/>
            <a:ext cx="502161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Nhận dạng cử chỉ bàn tay thời gian thực · Báo cáo </a:t>
            </a:r>
            <a:r>
              <a:rPr lang="en-US" sz="1200" dirty="0" err="1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tiến</a:t>
            </a: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độ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10871230" y="6238215"/>
            <a:ext cx="50791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 smtClean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05 </a:t>
            </a: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/ 11</a:t>
            </a:r>
            <a:endParaRPr lang="en-US" sz="1200" dirty="0"/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118" y="104140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46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711141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NGUYÊN TẮC VÀ </a:t>
            </a:r>
            <a:r>
              <a:rPr lang="en-US" sz="1200" b="1" kern="0" spc="150" dirty="0" smtClean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PIPELINE XỬ LÝ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987924"/>
            <a:ext cx="10883348" cy="44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15 đặc trưng, chia thành 5 nhóm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85" y="1610137"/>
            <a:ext cx="10566357" cy="2558668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5" name="Shape 3"/>
          <p:cNvSpPr/>
          <p:nvPr/>
        </p:nvSpPr>
        <p:spPr>
          <a:xfrm>
            <a:off x="11375968" y="1610137"/>
            <a:ext cx="0" cy="2558668"/>
          </a:xfrm>
          <a:prstGeom prst="line">
            <a:avLst/>
          </a:prstGeom>
          <a:noFill/>
          <a:ln w="6350">
            <a:solidFill>
              <a:srgbClr val="DCD8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5" y="4165631"/>
            <a:ext cx="10566357" cy="0"/>
          </a:xfrm>
          <a:prstGeom prst="line">
            <a:avLst/>
          </a:prstGeom>
          <a:noFill/>
          <a:ln w="6350">
            <a:solidFill>
              <a:srgbClr val="DCD8CE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93" y="1619545"/>
          <a:ext cx="10552247" cy="2545545"/>
        </p:xfrm>
        <a:graphic>
          <a:graphicData uri="http://schemas.openxmlformats.org/drawingml/2006/table">
            <a:tbl>
              <a:tblPr/>
              <a:tblGrid>
                <a:gridCol w="263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9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4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EFE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Nhóm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EFE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Đặc trưng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EFE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Dùng để bắt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Độ xòe bàn tay (5)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đầu, cuối, thay đổi, biên độ, xu hướng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Mở hoặc nắm cả bàn tay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Độ mở cái–trỏ (2)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thay đổi, biên độ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Chụm hoặc mở ngón (zoom)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47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Chuyển động cổ tay (5)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dời ngang, dời dọc, tốc độ ngang đỉnh, tốc độ ngang trung bình, tốc độ dọc đỉnh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Vuốt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Hình dạng quỹ đạo (2)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độ thẳng, tỉ lệ ngang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Vuốt một chiều hay vẫy qua lại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Chất lượng (1)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tỉ lệ bước có tay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Độ tin cậy của cửa sổ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2785" y="4371944"/>
            <a:ext cx="5207001" cy="916634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9" name="Shape 6"/>
          <p:cNvSpPr/>
          <p:nvPr/>
        </p:nvSpPr>
        <p:spPr>
          <a:xfrm>
            <a:off x="831835" y="4371944"/>
            <a:ext cx="0" cy="916634"/>
          </a:xfrm>
          <a:prstGeom prst="line">
            <a:avLst/>
          </a:prstGeom>
          <a:noFill/>
          <a:ln w="38100">
            <a:solidFill>
              <a:srgbClr val="2A5A9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8200" y="4498876"/>
            <a:ext cx="4958214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5 đặc trưng có dấu mang thông tin hướng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28200" y="4750228"/>
            <a:ext cx="4958214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Thay đổi độ xòe, xu hướng độ xòe, thay đổi độ mở cái–trỏ, dời ngang, tốc độ ngang trung bình. Bản thân đặc trưng không quyết định trái hay phải.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142" y="4371944"/>
            <a:ext cx="5207001" cy="916634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3" name="Shape 10"/>
          <p:cNvSpPr/>
          <p:nvPr/>
        </p:nvSpPr>
        <p:spPr>
          <a:xfrm>
            <a:off x="6191192" y="4371944"/>
            <a:ext cx="0" cy="916634"/>
          </a:xfrm>
          <a:prstGeom prst="line">
            <a:avLst/>
          </a:prstGeom>
          <a:noFill/>
          <a:ln w="38100">
            <a:solidFill>
              <a:srgbClr val="A84E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7557" y="4498876"/>
            <a:ext cx="4958214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Không bao giờ rỗng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87557" y="4750228"/>
            <a:ext cx="4958214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Kể cả khi cửa sổ có 30% bước mất tay.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785" y="6238211"/>
            <a:ext cx="502161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Nhận dạng cử chỉ bàn tay thời gian thực · Báo cáo </a:t>
            </a:r>
            <a:r>
              <a:rPr lang="en-US" sz="1200" dirty="0" err="1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tiến</a:t>
            </a: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độ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871230" y="6238211"/>
            <a:ext cx="50791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 smtClean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06 </a:t>
            </a: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/ 11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71113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DỮ LIỆU IPN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987921"/>
            <a:ext cx="10883348" cy="44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Trích điểm mốc toàn bộ IPN và đo quy ước hướng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85" y="1610134"/>
            <a:ext cx="3386667" cy="3243572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5" name="Shape 3"/>
          <p:cNvSpPr/>
          <p:nvPr/>
        </p:nvSpPr>
        <p:spPr>
          <a:xfrm>
            <a:off x="812785" y="1622834"/>
            <a:ext cx="3386667" cy="0"/>
          </a:xfrm>
          <a:prstGeom prst="line">
            <a:avLst/>
          </a:prstGeom>
          <a:noFill/>
          <a:ln w="25400">
            <a:solidFill>
              <a:srgbClr val="152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7856" y="1773293"/>
            <a:ext cx="3148222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Trích điểm mốc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7856" y="2050002"/>
            <a:ext cx="3148222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200/200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77856" y="2494434"/>
            <a:ext cx="314822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video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89362" y="2771217"/>
            <a:ext cx="3029096" cy="167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494" indent="-142494" algn="l">
              <a:lnSpc>
                <a:spcPts val="1620"/>
              </a:lnSpc>
              <a:buSzPct val="100000"/>
              <a:buChar char="•"/>
            </a:pP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Lưu</a:t>
            </a:r>
            <a:r>
              <a:rPr lang="en-US" sz="12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toạ độ thô chưa chuẩn hoá, kèm mốc thời gian, cờ có tay, đoạn nhãn</a:t>
            </a:r>
            <a:endParaRPr lang="en-US" sz="1200" dirty="0"/>
          </a:p>
          <a:p>
            <a:pPr marL="142494" indent="-14249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Kiểm lại toàn bộ sau </a:t>
            </a:r>
            <a:r>
              <a:rPr lang="en-US" sz="1200" dirty="0" err="1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khi</a:t>
            </a: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trích</a:t>
            </a:r>
            <a:endParaRPr lang="en-US" sz="1200" dirty="0" smtClean="0">
              <a:solidFill>
                <a:srgbClr val="3B4558"/>
              </a:solidFill>
              <a:latin typeface="Times New Roman" pitchFamily="18" charset="0"/>
              <a:ea typeface="Times New Roman" pitchFamily="18" charset="-122"/>
              <a:cs typeface="Times New Roman" pitchFamily="18" charset="-120"/>
            </a:endParaRPr>
          </a:p>
          <a:p>
            <a:pPr marL="142494" indent="-142494" algn="l">
              <a:lnSpc>
                <a:spcPts val="1620"/>
              </a:lnSpc>
              <a:buSzPct val="100000"/>
              <a:buChar char="•"/>
            </a:pPr>
            <a:r>
              <a:rPr lang="en-US" sz="12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189 đoạn hất trái / hất phải, dùng để đo quy ước hướng.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02594" y="1610134"/>
            <a:ext cx="3386667" cy="3243572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1" name="Shape 9"/>
          <p:cNvSpPr/>
          <p:nvPr/>
        </p:nvSpPr>
        <p:spPr>
          <a:xfrm>
            <a:off x="4402594" y="1622834"/>
            <a:ext cx="3386667" cy="0"/>
          </a:xfrm>
          <a:prstGeom prst="line">
            <a:avLst/>
          </a:prstGeom>
          <a:noFill/>
          <a:ln w="25400">
            <a:solidFill>
              <a:srgbClr val="A84E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7664" y="1773293"/>
            <a:ext cx="3148222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Quy ước hướng · đo trên 189 đoạn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1015" y="2062721"/>
            <a:ext cx="0" cy="1002109"/>
          </a:xfrm>
          <a:prstGeom prst="line">
            <a:avLst/>
          </a:prstGeom>
          <a:noFill/>
          <a:ln w="6350">
            <a:solidFill>
              <a:srgbClr val="DCD8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7664" y="3061655"/>
            <a:ext cx="3056526" cy="0"/>
          </a:xfrm>
          <a:prstGeom prst="line">
            <a:avLst/>
          </a:prstGeom>
          <a:noFill/>
          <a:ln w="6350">
            <a:solidFill>
              <a:srgbClr val="DCD8CE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7072" y="2072128"/>
          <a:ext cx="3042415" cy="987999"/>
        </p:xfrm>
        <a:graphic>
          <a:graphicData uri="http://schemas.openxmlformats.org/drawingml/2006/table">
            <a:tbl>
              <a:tblPr/>
              <a:tblGrid>
                <a:gridCol w="1277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33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EFE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Lớp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EFE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Trung vị dời ngang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3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Hất trái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+0,46 lòng bàn tay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3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Hất phải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−0,54 lòng bàn tay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67664" y="3140968"/>
            <a:ext cx="3148222" cy="345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→ Hằng số hướng = +1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567664" y="3537111"/>
            <a:ext cx="3148222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“Hất trái” là tay đi về bên trái </a:t>
            </a:r>
            <a:r>
              <a:rPr lang="en-US" sz="1200" b="1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của chính người làm</a:t>
            </a:r>
            <a:endParaRPr lang="en-US" sz="1200" dirty="0"/>
          </a:p>
        </p:txBody>
      </p:sp>
      <p:pic>
        <p:nvPicPr>
          <p:cNvPr id="18" name="Image 0" descr="line"/>
          <p:cNvPicPr>
            <a:picLocks noChangeAspect="1"/>
          </p:cNvPicPr>
          <p:nvPr/>
        </p:nvPicPr>
        <p:blipFill>
          <a:blip r:embed="rId3"/>
          <a:srcRect l="-39" r="-39"/>
          <a:stretch/>
        </p:blipFill>
        <p:spPr>
          <a:xfrm>
            <a:off x="4567664" y="4024678"/>
            <a:ext cx="3056526" cy="63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67664" y="4107142"/>
            <a:ext cx="3148222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Zoom: thay đổi độ xòe +0,20 (zoom in), −0,30 (zoom out) → bảng ánh xạ đúng chiều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992402" y="1610134"/>
            <a:ext cx="3386667" cy="3243572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21" name="Shape 17"/>
          <p:cNvSpPr/>
          <p:nvPr/>
        </p:nvSpPr>
        <p:spPr>
          <a:xfrm>
            <a:off x="7992402" y="1622834"/>
            <a:ext cx="3386667" cy="0"/>
          </a:xfrm>
          <a:prstGeom prst="line">
            <a:avLst/>
          </a:prstGeom>
          <a:noFill/>
          <a:ln w="25400">
            <a:solidFill>
              <a:srgbClr val="15233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57473" y="1773293"/>
            <a:ext cx="3148222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Bộ cử chỉ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157473" y="2062721"/>
            <a:ext cx="3148222" cy="345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≈ 2 giây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157473" y="2382720"/>
            <a:ext cx="314822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mỗi cử chỉ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157473" y="2672215"/>
            <a:ext cx="3148222" cy="345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≈ 0,3 giây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8157473" y="2992214"/>
            <a:ext cx="314822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động tác chính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157473" y="3281716"/>
            <a:ext cx="3148222" cy="345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≈ 90%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8157473" y="3601715"/>
            <a:ext cx="314822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cử chỉ dài hơn cửa sổ 1,2 giây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157473" y="3891211"/>
            <a:ext cx="3148222" cy="345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3–6%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8157473" y="4211210"/>
            <a:ext cx="314822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frame mất tay trong cử chỉ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157473" y="4500705"/>
            <a:ext cx="314822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Tài liệu hướng dẫn bộ cử chỉ đang ở bản nháp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812785" y="6238211"/>
            <a:ext cx="502161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Nhận dạng cử chỉ bàn tay thời gian thực · Báo cáo </a:t>
            </a:r>
            <a:r>
              <a:rPr lang="en-US" sz="1200" dirty="0" err="1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tiến</a:t>
            </a: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độ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0871230" y="6238211"/>
            <a:ext cx="50791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 smtClean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07 </a:t>
            </a: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/ 11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71113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DỮ LIỆU IPN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987927"/>
            <a:ext cx="10883348" cy="44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 smtClean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Rule </a:t>
            </a:r>
            <a:r>
              <a:rPr lang="en-US" sz="3000" b="1" i="0" dirty="0" err="1" smtClean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gán</a:t>
            </a:r>
            <a:r>
              <a:rPr lang="en-US" sz="3000" b="1" i="0" dirty="0" smtClean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3000" b="1" i="0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nhãn </a:t>
            </a:r>
            <a:r>
              <a:rPr lang="en-US" sz="3000" b="1" i="0" dirty="0" err="1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cửa</a:t>
            </a:r>
            <a:r>
              <a:rPr lang="en-US" sz="3000" b="1" i="0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3000" b="1" i="0" dirty="0" err="1" smtClean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sổ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785" y="2098075"/>
            <a:ext cx="3662605" cy="632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+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Cửa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sổ mang nhãn cử chỉ là cửa sổ positive, cửa sổ mang nhãn không cử chỉ là cửa sổ negative.</a:t>
            </a:r>
          </a:p>
        </p:txBody>
      </p:sp>
      <p:sp>
        <p:nvSpPr>
          <p:cNvPr id="6" name="Text 4"/>
          <p:cNvSpPr/>
          <p:nvPr/>
        </p:nvSpPr>
        <p:spPr>
          <a:xfrm>
            <a:off x="4724283" y="1610134"/>
            <a:ext cx="6854505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Giải pháp: neo nhãn vào khoảnh khắc chính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21565" y="1886849"/>
            <a:ext cx="6749603" cy="98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Khoảnh khắc chính = bước tín hiệu đổi nhanh nhất: vị trí ngang cổ tay (vuốt), độ mở cái–trỏ (zoom); làm mượt 3 bước, chỉ xét độ lớn, không xét dấu</a:t>
            </a:r>
            <a:endParaRPr lang="en-US" sz="1400" dirty="0"/>
          </a:p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Cửa </a:t>
            </a:r>
            <a:r>
              <a:rPr lang="en-US" sz="1400" dirty="0" err="1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sổ</a:t>
            </a: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positive </a:t>
            </a: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khi khoảnh khắc chính cách hai mép ít nhất 3 bước</a:t>
            </a:r>
            <a:endParaRPr lang="en-US" sz="1400" dirty="0"/>
          </a:p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Cửa sổ chạm cử chỉ mà không chứa khoảnh khắc chính → bỏ, không gán “không cử chỉ”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06562" y="3507582"/>
            <a:ext cx="15112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Cử chỉ ≈ 2 giây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67108" y="3507582"/>
            <a:ext cx="261612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Động tác chính ≈ 0,3 giây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96622" y="3507582"/>
            <a:ext cx="368879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Mỗi thanh dưới = một cửa sổ 1,2 giây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9135" y="3723438"/>
            <a:ext cx="1587427" cy="292071"/>
          </a:xfrm>
          <a:prstGeom prst="rect">
            <a:avLst/>
          </a:prstGeom>
          <a:solidFill>
            <a:srgbClr val="E4E1D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Không cử chỉ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06562" y="3723438"/>
            <a:ext cx="2374856" cy="292071"/>
          </a:xfrm>
          <a:prstGeom prst="rect">
            <a:avLst/>
          </a:prstGeom>
          <a:solidFill>
            <a:srgbClr val="CFDAE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Chuẩn bị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81492" y="3723438"/>
            <a:ext cx="793677" cy="292071"/>
          </a:xfrm>
          <a:prstGeom prst="rect">
            <a:avLst/>
          </a:prstGeom>
          <a:solidFill>
            <a:srgbClr val="A84E16"/>
          </a:solidFill>
          <a:ln/>
        </p:spPr>
      </p:sp>
      <p:sp>
        <p:nvSpPr>
          <p:cNvPr id="14" name="Text 12"/>
          <p:cNvSpPr/>
          <p:nvPr/>
        </p:nvSpPr>
        <p:spPr>
          <a:xfrm>
            <a:off x="5575242" y="3723438"/>
            <a:ext cx="2114536" cy="292071"/>
          </a:xfrm>
          <a:prstGeom prst="rect">
            <a:avLst/>
          </a:prstGeom>
          <a:solidFill>
            <a:srgbClr val="CFDAE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Thu tay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9777" y="3723438"/>
            <a:ext cx="3695642" cy="292071"/>
          </a:xfrm>
          <a:prstGeom prst="rect">
            <a:avLst/>
          </a:prstGeom>
          <a:solidFill>
            <a:srgbClr val="E4E1D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Không cử chỉ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5485" y="4098076"/>
            <a:ext cx="3155906" cy="241227"/>
          </a:xfrm>
          <a:prstGeom prst="roundRect">
            <a:avLst>
              <a:gd name="adj" fmla="val 13162"/>
            </a:avLst>
          </a:prstGeom>
          <a:solidFill>
            <a:srgbClr val="ECEAE3"/>
          </a:solidFill>
          <a:ln w="12700">
            <a:solidFill>
              <a:srgbClr val="8A93A3"/>
            </a:solidFill>
            <a:prstDash val="dash"/>
          </a:ln>
        </p:spPr>
        <p:txBody>
          <a:bodyPr wrap="square" lIns="95358" tIns="0" rIns="95358" bIns="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Bỏ: không chứa khoảnh khắc chính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93992" y="4383869"/>
            <a:ext cx="3174927" cy="253927"/>
          </a:xfrm>
          <a:prstGeom prst="roundRect">
            <a:avLst>
              <a:gd name="adj" fmla="val 15004"/>
            </a:avLst>
          </a:prstGeom>
          <a:solidFill>
            <a:srgbClr val="A84E16"/>
          </a:solidFill>
          <a:ln/>
        </p:spPr>
        <p:txBody>
          <a:bodyPr wrap="square" lIns="90441" tIns="0" rIns="90441" bIns="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 smtClean="0">
                <a:solidFill>
                  <a:srgbClr val="FDFCF9"/>
                </a:solidFill>
                <a:latin typeface="Times New Roman" pitchFamily="18" charset="0"/>
                <a:cs typeface="Times New Roman" pitchFamily="18" charset="-120"/>
              </a:rPr>
              <a:t>Positive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7842" y="4682288"/>
            <a:ext cx="3155906" cy="241227"/>
          </a:xfrm>
          <a:prstGeom prst="roundRect">
            <a:avLst>
              <a:gd name="adj" fmla="val 13162"/>
            </a:avLst>
          </a:prstGeom>
          <a:solidFill>
            <a:srgbClr val="ECEAE3"/>
          </a:solidFill>
          <a:ln w="12700">
            <a:solidFill>
              <a:srgbClr val="8A93A3"/>
            </a:solidFill>
            <a:prstDash val="dash"/>
          </a:ln>
        </p:spPr>
        <p:txBody>
          <a:bodyPr wrap="square" lIns="95358" tIns="0" rIns="95358" bIns="0" rtlCol="0" anchor="ctr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Bỏ: khoảnh khắc chính sát mép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0171" y="4968007"/>
            <a:ext cx="3168606" cy="253927"/>
          </a:xfrm>
          <a:prstGeom prst="roundRect">
            <a:avLst>
              <a:gd name="adj" fmla="val 15004"/>
            </a:avLst>
          </a:prstGeom>
          <a:solidFill>
            <a:srgbClr val="2A5A9B"/>
          </a:solidFill>
          <a:ln/>
        </p:spPr>
        <p:txBody>
          <a:bodyPr wrap="square" lIns="90441" tIns="0" rIns="90441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DFCF9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Không cử chỉ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68812" y="3698007"/>
            <a:ext cx="19035" cy="1523927"/>
          </a:xfrm>
          <a:prstGeom prst="rect">
            <a:avLst/>
          </a:prstGeom>
          <a:solidFill>
            <a:srgbClr val="15233F"/>
          </a:solidFill>
          <a:ln/>
        </p:spPr>
      </p:sp>
      <p:sp>
        <p:nvSpPr>
          <p:cNvPr id="21" name="Text 19"/>
          <p:cNvSpPr/>
          <p:nvPr/>
        </p:nvSpPr>
        <p:spPr>
          <a:xfrm>
            <a:off x="819135" y="5801384"/>
            <a:ext cx="8298558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Cách chọn luật:</a:t>
            </a: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so 3 luật bằng 3 chỉ số đo trên train · tách nhóm để biết lỗi nằm ở nhãn hay ở đặc trưng · thử biên 0 và 3 bước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785" y="6238211"/>
            <a:ext cx="502161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Nhận dạng cử chỉ bàn tay thời gian thực · Báo cáo </a:t>
            </a:r>
            <a:r>
              <a:rPr lang="en-US" sz="1200" dirty="0" err="1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tiến</a:t>
            </a: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độ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878022" y="6238211"/>
            <a:ext cx="50112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 smtClean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08 </a:t>
            </a: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/ 11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819135" y="1589592"/>
            <a:ext cx="3662605" cy="505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+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Một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cử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chỉ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kéo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dài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qua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nhiều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cửa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sổ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.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Câu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hỏi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đặt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ra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là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cửa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sổ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nào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nên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mang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nhãn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hành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động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cs typeface="Times New Roman" pitchFamily="18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71113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MÔ HÌNH VÀ KẾT QUẢ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987921"/>
            <a:ext cx="10883348" cy="44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Mô hình luật ngưỡng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785" y="1610134"/>
            <a:ext cx="5232401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Ngưỡng hiệu chuẩn </a:t>
            </a:r>
            <a:r>
              <a:rPr lang="en-US" sz="1400" b="1" dirty="0" err="1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tự</a:t>
            </a: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400" b="1" dirty="0" err="1" smtClean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động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785" y="1924993"/>
            <a:ext cx="5232401" cy="581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Trung điểm giữa phân vị 90 của nhóm phải ở dưới và phân vị 10 của nhóm phải ở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trên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,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tức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là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bỏ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qua 10%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đuôi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cực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đoan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ở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mỗi</a:t>
            </a:r>
            <a:r>
              <a:rPr lang="en-US" sz="1400" dirty="0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400" dirty="0" err="1" smtClean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đầu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8867" y="2727547"/>
            <a:ext cx="5080001" cy="1544579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7" name="Shape 5"/>
          <p:cNvSpPr/>
          <p:nvPr/>
        </p:nvSpPr>
        <p:spPr>
          <a:xfrm>
            <a:off x="5889611" y="2437985"/>
            <a:ext cx="0" cy="1544579"/>
          </a:xfrm>
          <a:prstGeom prst="line">
            <a:avLst/>
          </a:prstGeom>
          <a:noFill/>
          <a:ln w="6350">
            <a:solidFill>
              <a:srgbClr val="DCD8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785" y="3979388"/>
            <a:ext cx="5080001" cy="0"/>
          </a:xfrm>
          <a:prstGeom prst="line">
            <a:avLst/>
          </a:prstGeom>
          <a:noFill/>
          <a:ln w="6350">
            <a:solidFill>
              <a:srgbClr val="DCD8CE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133140"/>
              </p:ext>
            </p:extLst>
          </p:nvPr>
        </p:nvGraphicFramePr>
        <p:xfrm>
          <a:off x="822193" y="2727547"/>
          <a:ext cx="5065890" cy="1530468"/>
        </p:xfrm>
        <a:graphic>
          <a:graphicData uri="http://schemas.openxmlformats.org/drawingml/2006/table">
            <a:tbl>
              <a:tblPr/>
              <a:tblGrid>
                <a:gridCol w="2532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2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EFE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Đặc trưng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EFE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Ngưỡng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Tốc độ ngang đỉnh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4,026 lòng bàn tay/giây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Dời ngang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0,1025 lòng bàn tay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Thay đổi độ mở cái–trỏ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0,7209 lòng bàn tay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299142" y="1610134"/>
            <a:ext cx="5232401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Thứ tự luật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99142" y="1899562"/>
            <a:ext cx="5080001" cy="441781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6" name="Text 13"/>
          <p:cNvSpPr/>
          <p:nvPr/>
        </p:nvSpPr>
        <p:spPr>
          <a:xfrm>
            <a:off x="6426069" y="1988418"/>
            <a:ext cx="253927" cy="264069"/>
          </a:xfrm>
          <a:custGeom>
            <a:avLst/>
            <a:gdLst/>
            <a:ahLst/>
            <a:cxnLst/>
            <a:rect l="l" t="t" r="r" b="b"/>
            <a:pathLst>
              <a:path w="253927" h="264069">
                <a:moveTo>
                  <a:pt x="126963" y="0"/>
                </a:moveTo>
                <a:lnTo>
                  <a:pt x="126963" y="0"/>
                </a:lnTo>
                <a:arcTo wR="126963" hR="126963" stAng="16200000" swAng="5400000"/>
                <a:lnTo>
                  <a:pt x="253927" y="137106"/>
                </a:lnTo>
                <a:arcTo wR="126963" hR="126963" stAng="0" swAng="5400000"/>
                <a:lnTo>
                  <a:pt x="126963" y="264069"/>
                </a:lnTo>
                <a:arcTo wR="126963" hR="126963" stAng="5400000" swAng="5400000"/>
                <a:lnTo>
                  <a:pt x="0" y="126963"/>
                </a:lnTo>
                <a:arcTo wR="126963" hR="126963" stAng="10800000" swAng="5400000"/>
                <a:close/>
              </a:path>
            </a:pathLst>
          </a:custGeom>
          <a:solidFill>
            <a:srgbClr val="15233F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81566" y="2000467"/>
            <a:ext cx="4604770" cy="26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Thiếu tay → không cử chỉ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99142" y="2417483"/>
            <a:ext cx="5080001" cy="657637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9" name="Text 16"/>
          <p:cNvSpPr/>
          <p:nvPr/>
        </p:nvSpPr>
        <p:spPr>
          <a:xfrm>
            <a:off x="6426069" y="2614228"/>
            <a:ext cx="253927" cy="264069"/>
          </a:xfrm>
          <a:custGeom>
            <a:avLst/>
            <a:gdLst/>
            <a:ahLst/>
            <a:cxnLst/>
            <a:rect l="l" t="t" r="r" b="b"/>
            <a:pathLst>
              <a:path w="253927" h="264069">
                <a:moveTo>
                  <a:pt x="126963" y="0"/>
                </a:moveTo>
                <a:lnTo>
                  <a:pt x="126963" y="0"/>
                </a:lnTo>
                <a:arcTo wR="126963" hR="126963" stAng="16200000" swAng="5400000"/>
                <a:lnTo>
                  <a:pt x="253927" y="137106"/>
                </a:lnTo>
                <a:arcTo wR="126963" hR="126963" stAng="0" swAng="5400000"/>
                <a:lnTo>
                  <a:pt x="126963" y="264069"/>
                </a:lnTo>
                <a:arcTo wR="126963" hR="126963" stAng="5400000" swAng="5400000"/>
                <a:lnTo>
                  <a:pt x="0" y="126963"/>
                </a:lnTo>
                <a:arcTo wR="126963" hR="126963" stAng="10800000" swAng="5400000"/>
                <a:close/>
              </a:path>
            </a:pathLst>
          </a:custGeom>
          <a:solidFill>
            <a:srgbClr val="15233F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781566" y="2506340"/>
            <a:ext cx="4604770" cy="505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Tốc độ ngang </a:t>
            </a:r>
            <a:r>
              <a:rPr lang="en-US" sz="1400" b="1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và</a:t>
            </a: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dời ngang cùng vượt ngưỡng → </a:t>
            </a:r>
            <a:r>
              <a:rPr lang="en-US" sz="1400" b="1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vuốt</a:t>
            </a: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; hướng theo dấu dời ngang so với hằng số đã đo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99142" y="3151262"/>
            <a:ext cx="5080001" cy="657637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22" name="Text 19"/>
          <p:cNvSpPr/>
          <p:nvPr/>
        </p:nvSpPr>
        <p:spPr>
          <a:xfrm>
            <a:off x="6426069" y="3348006"/>
            <a:ext cx="253927" cy="264069"/>
          </a:xfrm>
          <a:custGeom>
            <a:avLst/>
            <a:gdLst/>
            <a:ahLst/>
            <a:cxnLst/>
            <a:rect l="l" t="t" r="r" b="b"/>
            <a:pathLst>
              <a:path w="253927" h="264069">
                <a:moveTo>
                  <a:pt x="126963" y="0"/>
                </a:moveTo>
                <a:lnTo>
                  <a:pt x="126963" y="0"/>
                </a:lnTo>
                <a:arcTo wR="126963" hR="126963" stAng="16200000" swAng="5400000"/>
                <a:lnTo>
                  <a:pt x="253927" y="137106"/>
                </a:lnTo>
                <a:arcTo wR="126963" hR="126963" stAng="0" swAng="5400000"/>
                <a:lnTo>
                  <a:pt x="126963" y="264069"/>
                </a:lnTo>
                <a:arcTo wR="126963" hR="126963" stAng="5400000" swAng="5400000"/>
                <a:lnTo>
                  <a:pt x="0" y="126963"/>
                </a:lnTo>
                <a:arcTo wR="126963" hR="126963" stAng="10800000" swAng="5400000"/>
                <a:close/>
              </a:path>
            </a:pathLst>
          </a:custGeom>
          <a:solidFill>
            <a:srgbClr val="15233F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781566" y="3240119"/>
            <a:ext cx="4604770" cy="505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Độ mở cái–trỏ tăng hoặc giảm vượt ngưỡng → </a:t>
            </a:r>
            <a:r>
              <a:rPr lang="en-US" sz="1400" b="1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zoom in</a:t>
            </a: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hoặc </a:t>
            </a:r>
            <a:r>
              <a:rPr lang="en-US" sz="1400" b="1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zoom out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99142" y="3885040"/>
            <a:ext cx="5080001" cy="441781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25" name="Text 22"/>
          <p:cNvSpPr/>
          <p:nvPr/>
        </p:nvSpPr>
        <p:spPr>
          <a:xfrm>
            <a:off x="6426069" y="3973891"/>
            <a:ext cx="253927" cy="264069"/>
          </a:xfrm>
          <a:custGeom>
            <a:avLst/>
            <a:gdLst/>
            <a:ahLst/>
            <a:cxnLst/>
            <a:rect l="l" t="t" r="r" b="b"/>
            <a:pathLst>
              <a:path w="253927" h="264069">
                <a:moveTo>
                  <a:pt x="126963" y="0"/>
                </a:moveTo>
                <a:lnTo>
                  <a:pt x="126963" y="0"/>
                </a:lnTo>
                <a:arcTo wR="126963" hR="126963" stAng="16200000" swAng="5400000"/>
                <a:lnTo>
                  <a:pt x="253927" y="137106"/>
                </a:lnTo>
                <a:arcTo wR="126963" hR="126963" stAng="0" swAng="5400000"/>
                <a:lnTo>
                  <a:pt x="126963" y="264069"/>
                </a:lnTo>
                <a:arcTo wR="126963" hR="126963" stAng="5400000" swAng="5400000"/>
                <a:lnTo>
                  <a:pt x="0" y="126963"/>
                </a:lnTo>
                <a:arcTo wR="126963" hR="126963" stAng="10800000" swAng="5400000"/>
                <a:close/>
              </a:path>
            </a:pathLst>
          </a:custGeom>
          <a:solidFill>
            <a:srgbClr val="15233F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781566" y="3985946"/>
            <a:ext cx="4604770" cy="26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Còn lại → không cử chỉ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12785" y="6238211"/>
            <a:ext cx="502161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Nhận dạng cử chỉ bàn tay thời gian thực · Báo cáo </a:t>
            </a:r>
            <a:r>
              <a:rPr lang="en-US" sz="1200" dirty="0" err="1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tiến</a:t>
            </a: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độ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871230" y="6238211"/>
            <a:ext cx="50791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 smtClean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09 </a:t>
            </a: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/ 11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711144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MÔ HÌNH VÀ KẾT QUẢ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987927"/>
            <a:ext cx="10883348" cy="44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Kết quả trên tập val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85" y="1610134"/>
            <a:ext cx="6349927" cy="2309813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5" name="Shape 3"/>
          <p:cNvSpPr/>
          <p:nvPr/>
        </p:nvSpPr>
        <p:spPr>
          <a:xfrm>
            <a:off x="7159538" y="1610134"/>
            <a:ext cx="0" cy="2309813"/>
          </a:xfrm>
          <a:prstGeom prst="line">
            <a:avLst/>
          </a:prstGeom>
          <a:noFill/>
          <a:ln w="6350">
            <a:solidFill>
              <a:srgbClr val="DCD8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5" y="3916772"/>
            <a:ext cx="6349927" cy="0"/>
          </a:xfrm>
          <a:prstGeom prst="line">
            <a:avLst/>
          </a:prstGeom>
          <a:noFill/>
          <a:ln w="6350">
            <a:solidFill>
              <a:srgbClr val="DCD8CE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93" y="1619542"/>
          <a:ext cx="6335815" cy="2295702"/>
        </p:xfrm>
        <a:graphic>
          <a:graphicData uri="http://schemas.openxmlformats.org/drawingml/2006/table">
            <a:tbl>
              <a:tblPr/>
              <a:tblGrid>
                <a:gridCol w="2344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0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0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EFE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Lớp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EFE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Precision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EFE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Recall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EFE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F1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Không cử chỉ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0,984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0,560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0,714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Vuốt trái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0,030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0,577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0,056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Vuốt phải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0,023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0,438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0,043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Zoom in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0,097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0,543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0,164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Zoom out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0,103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0,617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0,176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785" y="4072303"/>
            <a:ext cx="654042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Từ ma trận nhầm lẫn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2785" y="4438017"/>
            <a:ext cx="3098786" cy="1082587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0" name="Shape 7"/>
          <p:cNvSpPr/>
          <p:nvPr/>
        </p:nvSpPr>
        <p:spPr>
          <a:xfrm>
            <a:off x="812785" y="4450717"/>
            <a:ext cx="3098786" cy="0"/>
          </a:xfrm>
          <a:prstGeom prst="line">
            <a:avLst/>
          </a:prstGeom>
          <a:noFill/>
          <a:ln w="25400">
            <a:solidFill>
              <a:srgbClr val="A84E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5141" y="4575820"/>
            <a:ext cx="287789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44%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65141" y="4994895"/>
            <a:ext cx="2877896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cửa sổ “không cử chỉ” bị báo thành cử chỉ; khoảng 80% số đó thành vuốt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063927" y="4438017"/>
            <a:ext cx="3098786" cy="1082587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4" name="Shape 11"/>
          <p:cNvSpPr/>
          <p:nvPr/>
        </p:nvSpPr>
        <p:spPr>
          <a:xfrm>
            <a:off x="4063927" y="4450717"/>
            <a:ext cx="3098786" cy="0"/>
          </a:xfrm>
          <a:prstGeom prst="line">
            <a:avLst/>
          </a:prstGeom>
          <a:noFill/>
          <a:ln w="25400">
            <a:solidFill>
              <a:srgbClr val="2A5A9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16283" y="4575820"/>
            <a:ext cx="287789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2A5A9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2 và 9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216283" y="4994895"/>
            <a:ext cx="2877896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cửa sổ nhầm hướng vuốt (trái → phải, phải → trái): rất ít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69069" y="1610134"/>
            <a:ext cx="3924376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Macro-F1 trên val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569069" y="1924993"/>
            <a:ext cx="392437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Mô hình luật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569069" y="2176419"/>
            <a:ext cx="2343106" cy="253927"/>
          </a:xfrm>
          <a:prstGeom prst="roundRect">
            <a:avLst>
              <a:gd name="adj" fmla="val 10003"/>
            </a:avLst>
          </a:prstGeom>
          <a:solidFill>
            <a:srgbClr val="A84E16"/>
          </a:solidFill>
          <a:ln/>
        </p:spPr>
      </p:sp>
      <p:sp>
        <p:nvSpPr>
          <p:cNvPr id="20" name="Text 17"/>
          <p:cNvSpPr/>
          <p:nvPr/>
        </p:nvSpPr>
        <p:spPr>
          <a:xfrm>
            <a:off x="10001031" y="2178918"/>
            <a:ext cx="586670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0,2305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569069" y="2531914"/>
            <a:ext cx="392437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Luôn đoán “không cử chỉ”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569069" y="2783346"/>
            <a:ext cx="1993856" cy="253927"/>
          </a:xfrm>
          <a:prstGeom prst="roundRect">
            <a:avLst>
              <a:gd name="adj" fmla="val 10003"/>
            </a:avLst>
          </a:prstGeom>
          <a:solidFill>
            <a:srgbClr val="9AA4B5"/>
          </a:solidFill>
          <a:ln/>
        </p:spPr>
      </p:sp>
      <p:sp>
        <p:nvSpPr>
          <p:cNvPr id="23" name="Text 20"/>
          <p:cNvSpPr/>
          <p:nvPr/>
        </p:nvSpPr>
        <p:spPr>
          <a:xfrm>
            <a:off x="9651781" y="2785845"/>
            <a:ext cx="586670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0,1964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569069" y="3138841"/>
            <a:ext cx="392437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Đoán ngẫu nhiên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569069" y="3390267"/>
            <a:ext cx="806391" cy="253927"/>
          </a:xfrm>
          <a:prstGeom prst="roundRect">
            <a:avLst>
              <a:gd name="adj" fmla="val 10003"/>
            </a:avLst>
          </a:prstGeom>
          <a:solidFill>
            <a:srgbClr val="9AA4B5"/>
          </a:solidFill>
          <a:ln/>
        </p:spPr>
      </p:sp>
      <p:sp>
        <p:nvSpPr>
          <p:cNvPr id="26" name="Text 23"/>
          <p:cNvSpPr/>
          <p:nvPr/>
        </p:nvSpPr>
        <p:spPr>
          <a:xfrm>
            <a:off x="8464316" y="3392767"/>
            <a:ext cx="586670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0,0796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569069" y="3745768"/>
            <a:ext cx="3924376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Không dùng độ chính xác: val có 96,5% cửa sổ nền, nên luôn đoán “không cử chỉ” cũng đạt 96,5%.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569069" y="4258766"/>
            <a:ext cx="3810074" cy="708495"/>
          </a:xfrm>
          <a:prstGeom prst="roundRect">
            <a:avLst>
              <a:gd name="adj" fmla="val 8963"/>
            </a:avLst>
          </a:prstGeom>
          <a:solidFill>
            <a:srgbClr val="15233F"/>
          </a:solidFill>
          <a:ln/>
        </p:spPr>
        <p:txBody>
          <a:bodyPr wrap="square" lIns="133757" tIns="95701" rIns="28597" bIns="7027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Vượt cả hai đường cơ sở, đạt tiêu chí Phase 5, nhưng vẫn là kết quả yếu.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12785" y="6238218"/>
            <a:ext cx="502161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Nhận dạng cử chỉ bàn tay thời gian thực · Báo cáo </a:t>
            </a:r>
            <a:r>
              <a:rPr lang="en-US" sz="1200" dirty="0" err="1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tiến</a:t>
            </a: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độ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871230" y="6238218"/>
            <a:ext cx="50791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 smtClean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10 </a:t>
            </a: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/ 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711150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HẠN CHẾ VÀ KẾ HOẠCH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987933"/>
            <a:ext cx="10883348" cy="44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Hạn chế và kế hoạch tiếp theo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785" y="1610147"/>
            <a:ext cx="3924225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Hạn chế hiện tại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4291" y="1924993"/>
            <a:ext cx="3805099" cy="1732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494" indent="-1424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Báo nhầm cao: 44% cửa sổ nền; tốc độ ngang đỉnh là đặc trưng yếu nhất</a:t>
            </a:r>
            <a:endParaRPr lang="en-US" sz="1200" dirty="0"/>
          </a:p>
          <a:p>
            <a:pPr marL="142494" indent="-1424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Train nhỏ: khoảng 415 cửa sổ dương mỗi lớp</a:t>
            </a:r>
            <a:endParaRPr lang="en-US" sz="1200" dirty="0"/>
          </a:p>
          <a:p>
            <a:pPr marL="142494" indent="-1424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Nhãn dương phụ thuộc độ lớn chuyển động</a:t>
            </a:r>
            <a:endParaRPr lang="en-US" sz="1200" dirty="0"/>
          </a:p>
          <a:p>
            <a:pPr marL="142494" indent="-1424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Còn ngoại lai do điểm mốc nhảy giữa cửa sổ</a:t>
            </a:r>
            <a:endParaRPr lang="en-US" sz="1200" dirty="0"/>
          </a:p>
          <a:p>
            <a:pPr marL="142494" indent="-1424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Mới xét tay phải</a:t>
            </a:r>
            <a:endParaRPr lang="en-US" sz="1200" dirty="0"/>
          </a:p>
          <a:p>
            <a:pPr marL="142494" indent="-1424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Tập test còn 44 video của 12 người, sau khi loại video lệch nhãn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785" y="3733428"/>
            <a:ext cx="3809927" cy="891352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7" name="Shape 5"/>
          <p:cNvSpPr/>
          <p:nvPr/>
        </p:nvSpPr>
        <p:spPr>
          <a:xfrm>
            <a:off x="831835" y="3733428"/>
            <a:ext cx="0" cy="891352"/>
          </a:xfrm>
          <a:prstGeom prst="line">
            <a:avLst/>
          </a:prstGeom>
          <a:noFill/>
          <a:ln w="38100">
            <a:solidFill>
              <a:srgbClr val="A84E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2771" y="3847703"/>
            <a:ext cx="3571613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84E1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Chưa thử trực tiếp trên webcam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2771" y="4099061"/>
            <a:ext cx="3571613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B455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5 hạng mục của Phase 5. Nếu hướng bị ngược: đổi một hằng số và chạy lại phép đo, không sửa code.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068" y="1610147"/>
            <a:ext cx="6540577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33F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Kế hoạch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068" y="1924993"/>
            <a:ext cx="6350074" cy="3191463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75968" y="1924993"/>
            <a:ext cx="0" cy="3191463"/>
          </a:xfrm>
          <a:prstGeom prst="line">
            <a:avLst/>
          </a:prstGeom>
          <a:noFill/>
          <a:ln w="6350">
            <a:solidFill>
              <a:srgbClr val="DCD8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068" y="5113281"/>
            <a:ext cx="6350074" cy="0"/>
          </a:xfrm>
          <a:prstGeom prst="line">
            <a:avLst/>
          </a:prstGeom>
          <a:noFill/>
          <a:ln w="6350">
            <a:solidFill>
              <a:srgbClr val="DCD8CE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38476" y="1934400"/>
          <a:ext cx="6335964" cy="3177354"/>
        </p:xfrm>
        <a:graphic>
          <a:graphicData uri="http://schemas.openxmlformats.org/drawingml/2006/table">
            <a:tbl>
              <a:tblPr/>
              <a:tblGrid>
                <a:gridCol w="1077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33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EFE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Phase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EFE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Nội dung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69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5 (còn lại)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Thử trên webcam: hướng vuốt; mỗi cử chỉ đúng ≥ 7/10 lần; đếm báo nhầm trong 2 phút gõ phím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0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3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Rừng ngẫu nhiên; quyết định có cần tự quay dữ liệu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3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LSTM một chiều trên chuỗi 42 chiều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3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Đánh giá hai mức (cửa sổ và sự kiện) và 7 bảng khảo sát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33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Máy trạng thái: mỗi cử chỉ đúng một lệnh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33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10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Demo phát phím tắt thật; đo FPS, độ trễ, số lần báo nhầm mỗi phút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33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11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(Tuỳ chọn) Dữ liệu tự quay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33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12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4558"/>
                          </a:solidFill>
                          <a:latin typeface="Times New Roman" pitchFamily="18" charset="0"/>
                          <a:ea typeface="Times New Roman" pitchFamily="18" charset="-122"/>
                          <a:cs typeface="Times New Roman" pitchFamily="18" charset="-120"/>
                        </a:rPr>
                        <a:t>Tái lập toàn bộ từ đầu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812785" y="6238218"/>
            <a:ext cx="502161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Nhận dạng cử chỉ bàn tay thời gian thực · Báo cáo </a:t>
            </a:r>
            <a:r>
              <a:rPr lang="en-US" sz="1200" dirty="0" err="1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tiến</a:t>
            </a: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độ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871230" y="6238218"/>
            <a:ext cx="50791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 smtClean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11 </a:t>
            </a:r>
            <a:r>
              <a:rPr lang="en-US" sz="1200" dirty="0">
                <a:solidFill>
                  <a:srgbClr val="5F687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/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711150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0A05C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KẾT LUẬN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987933"/>
            <a:ext cx="10883348" cy="44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Ba điều đã làm được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85" y="1660922"/>
            <a:ext cx="3386667" cy="2163557"/>
          </a:xfrm>
          <a:prstGeom prst="roundRect">
            <a:avLst>
              <a:gd name="adj" fmla="val 3522"/>
            </a:avLst>
          </a:prstGeom>
          <a:solidFill>
            <a:srgbClr val="22345A"/>
          </a:solidFill>
          <a:ln/>
        </p:spPr>
      </p:sp>
      <p:sp>
        <p:nvSpPr>
          <p:cNvPr id="5" name="Text 3"/>
          <p:cNvSpPr/>
          <p:nvPr/>
        </p:nvSpPr>
        <p:spPr>
          <a:xfrm>
            <a:off x="1041356" y="1864072"/>
            <a:ext cx="3017412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0A05C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1356" y="2346635"/>
            <a:ext cx="3017412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 err="1" smtClean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Một</a:t>
            </a:r>
            <a:r>
              <a:rPr lang="en-US" sz="1400" b="1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400" b="1" dirty="0" smtClean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pipeline </a:t>
            </a:r>
            <a:r>
              <a:rPr lang="en-US" sz="1400" b="1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duy nhất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1356" y="2661493"/>
            <a:ext cx="3017412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Nhân quả, có kiểm thử, chạy được đầu-cuối từ webcam hoặc video tới nhãn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594" y="1660922"/>
            <a:ext cx="3386667" cy="2163557"/>
          </a:xfrm>
          <a:prstGeom prst="roundRect">
            <a:avLst>
              <a:gd name="adj" fmla="val 3522"/>
            </a:avLst>
          </a:prstGeom>
          <a:solidFill>
            <a:srgbClr val="22345A"/>
          </a:solidFill>
          <a:ln/>
        </p:spPr>
      </p:sp>
      <p:sp>
        <p:nvSpPr>
          <p:cNvPr id="9" name="Text 7"/>
          <p:cNvSpPr/>
          <p:nvPr/>
        </p:nvSpPr>
        <p:spPr>
          <a:xfrm>
            <a:off x="4631164" y="1864072"/>
            <a:ext cx="3017412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0A05C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31164" y="2346635"/>
            <a:ext cx="3017412" cy="451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Dữ liệu IPN được làm sạch và hiểu bằng số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31164" y="2874776"/>
            <a:ext cx="3017412" cy="771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Sửa lệch frame, đo quy ước hướng, gán nhãn theo động tác chính, chia tập theo người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2402" y="1660922"/>
            <a:ext cx="3386667" cy="2163557"/>
          </a:xfrm>
          <a:prstGeom prst="roundRect">
            <a:avLst>
              <a:gd name="adj" fmla="val 3522"/>
            </a:avLst>
          </a:prstGeom>
          <a:solidFill>
            <a:srgbClr val="2234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0973" y="1864072"/>
            <a:ext cx="3017412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0A05C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20973" y="2346635"/>
            <a:ext cx="3017412" cy="2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Một đường cơ sở trung thực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0973" y="2661493"/>
            <a:ext cx="3017412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Mô hình luật vượt hai đường cơ sở, và điểm yếu (báo nhầm) đã được định vị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785" y="5522007"/>
            <a:ext cx="10883348" cy="345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F2EFE8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Cảm ơn thầy cô và các bạn đã lắng nghe.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2785" y="6238218"/>
            <a:ext cx="502161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Nhận dạng cử chỉ bàn tay thời gian thực · Báo cáo </a:t>
            </a:r>
            <a:r>
              <a:rPr lang="en-US" sz="1200" dirty="0" err="1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tiến</a:t>
            </a:r>
            <a:r>
              <a:rPr lang="en-US" sz="1200" dirty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200" dirty="0" err="1" smtClean="0">
                <a:solidFill>
                  <a:srgbClr val="C3CCDB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độ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hận dạng cử chỉ bàn tay thời gian thực — Báo cáo tiến độ Phase 0–5">
  <a:themeElements>
    <a:clrScheme name="Nhận dạng cử chỉ bàn tay thời gian thực — Báo cáo tiến độ Phase 0–5">
      <a:dk1>
        <a:srgbClr val="15233F"/>
      </a:dk1>
      <a:lt1>
        <a:srgbClr val="F7F5F0"/>
      </a:lt1>
      <a:dk2>
        <a:srgbClr val="4E586B"/>
      </a:dk2>
      <a:lt2>
        <a:srgbClr val="E0E0DE"/>
      </a:lt2>
      <a:accent1>
        <a:srgbClr val="A84E16"/>
      </a:accent1>
      <a:accent2>
        <a:srgbClr val="F0A05C"/>
      </a:accent2>
      <a:accent3>
        <a:srgbClr val="22345A"/>
      </a:accent3>
      <a:accent4>
        <a:srgbClr val="2A5A9B"/>
      </a:accent4>
      <a:accent5>
        <a:srgbClr val="3B4558"/>
      </a:accent5>
      <a:accent6>
        <a:srgbClr val="5F6878"/>
      </a:accent6>
      <a:hlink>
        <a:srgbClr val="0563C1"/>
      </a:hlink>
      <a:folHlink>
        <a:srgbClr val="954F72"/>
      </a:folHlink>
    </a:clrScheme>
    <a:fontScheme name="Nhận dạng cử chỉ bàn tay thời gian thực — Báo cáo tiến độ Phase 0–5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1858</Words>
  <Application>Microsoft Office PowerPoint</Application>
  <PresentationFormat>Widescreen</PresentationFormat>
  <Paragraphs>299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Nhận dạng cử chỉ bàn tay thời gian thực — Báo cáo tiến độ Phase 0–5</vt:lpstr>
      <vt:lpstr>Nhận dạng cử chỉ bàn tay thời gian thực để điều khiển máy tính</vt:lpstr>
      <vt:lpstr>Bài toán</vt:lpstr>
      <vt:lpstr>Dữ liệu IPN Hand</vt:lpstr>
      <vt:lpstr>Thu nhận điểm mốc và pipeline tiền xử lý</vt:lpstr>
      <vt:lpstr>PowerPoint Presentation</vt:lpstr>
      <vt:lpstr>15 đặc trưng, chia thành 5 nhóm</vt:lpstr>
      <vt:lpstr>Trích điểm mốc toàn bộ IPN và đo quy ước hướng</vt:lpstr>
      <vt:lpstr>Rule gán nhãn cửa sổ</vt:lpstr>
      <vt:lpstr>Mô hình luật ngưỡng</vt:lpstr>
      <vt:lpstr>Kết quả trên tập val</vt:lpstr>
      <vt:lpstr>Hạn chế và kế hoạch tiếp theo</vt:lpstr>
      <vt:lpstr>Ba điều đã làm được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Nhận dạng cử chỉ bàn tay thời gian thực — Báo cáo tiến độ Phase 0–5</dc:title>
  <dc:subject/>
  <dc:creator/>
  <cp:lastModifiedBy>Nguyễn Tiến Lâm</cp:lastModifiedBy>
  <cp:revision>69</cp:revision>
  <dcterms:created xsi:type="dcterms:W3CDTF">2026-10-06T08:45:54Z</dcterms:created>
  <dcterms:modified xsi:type="dcterms:W3CDTF">2026-10-08T14:00:19Z</dcterms:modified>
</cp:coreProperties>
</file>