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72" r:id="rId4"/>
    <p:sldId id="259" r:id="rId5"/>
    <p:sldId id="260" r:id="rId6"/>
    <p:sldId id="261" r:id="rId7"/>
    <p:sldId id="262" r:id="rId8"/>
    <p:sldId id="263" r:id="rId9"/>
    <p:sldId id="264" r:id="rId10"/>
    <p:sldId id="265" r:id="rId11"/>
    <p:sldId id="266" r:id="rId12"/>
    <p:sldId id="268" r:id="rId13"/>
    <p:sldId id="269" r:id="rId14"/>
    <p:sldId id="271"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79587" autoAdjust="0"/>
  </p:normalViewPr>
  <p:slideViewPr>
    <p:cSldViewPr snapToGrid="0" snapToObjects="1">
      <p:cViewPr varScale="1">
        <p:scale>
          <a:sx n="78" d="100"/>
          <a:sy n="78" d="100"/>
        </p:scale>
        <p:origin x="1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02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phase đầu không tạo ra kết quả phân loại nào. Chúng tạo ra nền móng: cấu trúc dự án, một pipeline thu nhận điểm mốc dùng chung, và các quy ước được đo thay vì đoán.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5 là nhánh rẽ: nó chỉ phục vụ mắt người, không đưa gì trở lại đường dữ liệu. Ba việc bao quanh đã có công cụ nhưng chưa chạy đủ trong phase này, nên không trình bày ở đây.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này chưa chạm vào ảnh nên chưa có lý thuyết thị giác đi kèm. Từ bước 2 trở đi, mỗi bước đều có phần lý giải ngay sau nó.</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cửa vào duy nhất là cách tránh tình trạng dữ liệu lúc huấn luyện và dữ liệu lúc chạy thật đi qua hai đường khác nhau rồi lệch nhau mà không ai phát hiện.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chỗ dễ nhầm: mảng truy cập theo hàng trước cột, còn hàm vẽ lại nhận điểm theo cột trước hàng. Nhầm thứ tự thì không có lỗi nào hiện ra, chỉ có điểm vẽ lệch, nên phép đổi được gom về một chỗ duy nhất.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dùng toạ độ hai chiều. Độ sâu mà mô hình ước lượng từ một camera duy nhất không đủ tin cậy nên bị bỏ hẳn.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ước lượng tư thế: từ một ảnh, tìm vị trí 21 điểm mốc trên khung xương bàn tay. Các đoạn nối để vẽ khung xương cũng lấy theo bộ do mô hình công bố, không tự khai báo.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ngưỡng tin cậy — dò tay, xác nhận có tay, và bám từ frame trước — đều để mặc định cho tới khi có số đo. Nhãn tay trái/phải giả định ảnh đã lật gương nên có thể ngược, và không quyết định nào dựa vào nó.</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là hợp đồng giữa hai phase: phase sau chỉ nhận đúng những cột này, không cần biết dữ liệu đến từ webcam hay từ tệp video. Số dòng luôn bằng số frame.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trống chứ không điền số 0: số 0 là một vị trí hợp lệ, góc trên bên trái màn hình, nên sau này không ai phân biệt được đâu là tay thật ở góc, đâu là chỗ không có số liệu.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cũng là bước để xác nhận bằng mắt: chạy lên, thấy 21 điểm bám theo tay và số tốc độ khung ổn định, thì biết ba bước trước đang chạy đúng.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lớp của đề tài: none, swipe_left, swipe_right, zoom_in, zoom_out, với none luôn là chỉ số 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Landmarker là mô hình mở, đề tài dùng nguyên trạng chứ không huấn luyện lại; nó đóng vai trò bộ trích đặc trưng, biến ảnh thành toạ độ. IPN Hand là bộ dữ liệu cử chỉ tay công khai, quay cùng độ phân giải và tốc độ khung với webcam của đề tài. Phase này mới dùng một video của bộ đó để chạy thử pipeline; việc trích toàn bộ và ánh xạ 14 lớp về 5 lớp thuộc phase sau.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2C"/>
        </a:solidFill>
        <a:effectLst/>
      </p:bgPr>
    </p:bg>
    <p:spTree>
      <p:nvGrpSpPr>
        <p:cNvPr id="1" name=""/>
        <p:cNvGrpSpPr/>
        <p:nvPr/>
      </p:nvGrpSpPr>
      <p:grpSpPr>
        <a:xfrm>
          <a:off x="0" y="0"/>
          <a:ext cx="0" cy="0"/>
          <a:chOff x="0" y="0"/>
          <a:chExt cx="0" cy="0"/>
        </a:xfrm>
      </p:grpSpPr>
      <p:sp>
        <p:nvSpPr>
          <p:cNvPr id="2" name="Text 0"/>
          <p:cNvSpPr/>
          <p:nvPr/>
        </p:nvSpPr>
        <p:spPr>
          <a:xfrm>
            <a:off x="812785" y="81278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smtClean="0">
                <a:solidFill>
                  <a:srgbClr val="5FB3A8"/>
                </a:solidFill>
                <a:latin typeface="Times New Roman" panose="02020603050405020304" pitchFamily="18" charset="0"/>
                <a:ea typeface="IBM Plex Sans" pitchFamily="34" charset="-122"/>
                <a:cs typeface="Times New Roman" panose="02020603050405020304" pitchFamily="18" charset="0"/>
              </a:rPr>
              <a:t>BÁO CÁO TIẾN ĐỘ</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812785" y="2330612"/>
            <a:ext cx="10883348" cy="1305396"/>
          </a:xfrm>
          <a:prstGeom prst="rect">
            <a:avLst/>
          </a:prstGeom>
          <a:noFill/>
          <a:ln/>
        </p:spPr>
        <p:txBody>
          <a:bodyPr wrap="square" lIns="0" tIns="0" rIns="0" bIns="0" rtlCol="0" anchor="t">
            <a:normAutofit/>
          </a:bodyPr>
          <a:lstStyle/>
          <a:p>
            <a:pPr marL="0" indent="0" algn="l">
              <a:lnSpc>
                <a:spcPts val="5040"/>
              </a:lnSpc>
              <a:buNone/>
            </a:pP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Nhận</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dạng</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chuyển</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động</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bàn</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tay</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theo</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thời</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gian</a:t>
            </a:r>
            <a:r>
              <a:rPr lang="en-US" sz="4800" b="1" dirty="0" smtClean="0">
                <a:solidFill>
                  <a:srgbClr val="F4F6F5"/>
                </a:solidFill>
                <a:latin typeface="Times New Roman" panose="02020603050405020304" pitchFamily="18" charset="0"/>
                <a:ea typeface="IBM Plex Sans" pitchFamily="34" charset="-122"/>
                <a:cs typeface="Times New Roman" panose="02020603050405020304" pitchFamily="18" charset="0"/>
              </a:rPr>
              <a:t> </a:t>
            </a:r>
            <a:r>
              <a:rPr lang="en-US" sz="4800" b="1" dirty="0" err="1" smtClean="0">
                <a:solidFill>
                  <a:srgbClr val="F4F6F5"/>
                </a:solidFill>
                <a:latin typeface="Times New Roman" panose="02020603050405020304" pitchFamily="18" charset="0"/>
                <a:ea typeface="IBM Plex Sans" pitchFamily="34" charset="-122"/>
                <a:cs typeface="Times New Roman" panose="02020603050405020304" pitchFamily="18" charset="0"/>
              </a:rPr>
              <a:t>thực</a:t>
            </a:r>
            <a:endParaRPr lang="en-US" sz="4800" dirty="0">
              <a:latin typeface="Times New Roman" panose="02020603050405020304" pitchFamily="18" charset="0"/>
              <a:cs typeface="Times New Roman" panose="02020603050405020304" pitchFamily="18" charset="0"/>
            </a:endParaRPr>
          </a:p>
        </p:txBody>
      </p:sp>
      <p:sp>
        <p:nvSpPr>
          <p:cNvPr id="4" name="Text 2"/>
          <p:cNvSpPr/>
          <p:nvPr/>
        </p:nvSpPr>
        <p:spPr>
          <a:xfrm>
            <a:off x="812785" y="3813748"/>
            <a:ext cx="10883348" cy="1321587"/>
          </a:xfrm>
          <a:prstGeom prst="rect">
            <a:avLst/>
          </a:prstGeom>
          <a:noFill/>
          <a:ln/>
        </p:spPr>
        <p:txBody>
          <a:bodyPr wrap="square" lIns="0" tIns="0" rIns="0" bIns="0" rtlCol="0" anchor="t">
            <a:normAutofit/>
          </a:bodyPr>
          <a:lstStyle/>
          <a:p>
            <a:pPr marL="0" indent="0" algn="l">
              <a:lnSpc>
                <a:spcPts val="2600"/>
              </a:lnSpc>
              <a:buNone/>
            </a:pP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GVHD: </a:t>
            </a:r>
            <a:r>
              <a:rPr lang="en-US" sz="2000" dirty="0" err="1" smtClean="0">
                <a:solidFill>
                  <a:srgbClr val="A9C4C0"/>
                </a:solidFill>
                <a:latin typeface="Times New Roman" panose="02020603050405020304" pitchFamily="18" charset="0"/>
                <a:ea typeface="IBM Plex Sans" pitchFamily="34" charset="-122"/>
                <a:cs typeface="Times New Roman" panose="02020603050405020304" pitchFamily="18" charset="0"/>
              </a:rPr>
              <a:t>TS.Ngô</a:t>
            </a: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 </a:t>
            </a:r>
            <a:r>
              <a:rPr lang="en-US" sz="2000" dirty="0" err="1" smtClean="0">
                <a:solidFill>
                  <a:srgbClr val="A9C4C0"/>
                </a:solidFill>
                <a:latin typeface="Times New Roman" panose="02020603050405020304" pitchFamily="18" charset="0"/>
                <a:ea typeface="IBM Plex Sans" pitchFamily="34" charset="-122"/>
                <a:cs typeface="Times New Roman" panose="02020603050405020304" pitchFamily="18" charset="0"/>
              </a:rPr>
              <a:t>Thành</a:t>
            </a: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 </a:t>
            </a:r>
            <a:r>
              <a:rPr lang="en-US" sz="2000" dirty="0" err="1" smtClean="0">
                <a:solidFill>
                  <a:srgbClr val="A9C4C0"/>
                </a:solidFill>
                <a:latin typeface="Times New Roman" panose="02020603050405020304" pitchFamily="18" charset="0"/>
                <a:ea typeface="IBM Plex Sans" pitchFamily="34" charset="-122"/>
                <a:cs typeface="Times New Roman" panose="02020603050405020304" pitchFamily="18" charset="0"/>
              </a:rPr>
              <a:t>Trung</a:t>
            </a:r>
            <a:endPar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endParaRPr>
          </a:p>
          <a:p>
            <a:pPr marL="0" indent="0" algn="l">
              <a:lnSpc>
                <a:spcPts val="2600"/>
              </a:lnSpc>
              <a:buNone/>
            </a:pPr>
            <a:endParaRPr lang="en-US" sz="2000" dirty="0">
              <a:solidFill>
                <a:srgbClr val="A9C4C0"/>
              </a:solidFill>
              <a:latin typeface="Times New Roman" panose="02020603050405020304" pitchFamily="18" charset="0"/>
              <a:ea typeface="IBM Plex Sans" pitchFamily="34" charset="-122"/>
              <a:cs typeface="Times New Roman" panose="02020603050405020304" pitchFamily="18" charset="0"/>
            </a:endParaRPr>
          </a:p>
          <a:p>
            <a:pPr marL="0" indent="0" algn="l">
              <a:lnSpc>
                <a:spcPts val="2600"/>
              </a:lnSpc>
              <a:buNone/>
            </a:pP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HV </a:t>
            </a:r>
            <a:r>
              <a:rPr lang="en-US" sz="2000" dirty="0" err="1" smtClean="0">
                <a:solidFill>
                  <a:srgbClr val="A9C4C0"/>
                </a:solidFill>
                <a:latin typeface="Times New Roman" panose="02020603050405020304" pitchFamily="18" charset="0"/>
                <a:ea typeface="IBM Plex Sans" pitchFamily="34" charset="-122"/>
                <a:cs typeface="Times New Roman" panose="02020603050405020304" pitchFamily="18" charset="0"/>
              </a:rPr>
              <a:t>Thực</a:t>
            </a: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 </a:t>
            </a:r>
            <a:r>
              <a:rPr lang="en-US" sz="2000" dirty="0" err="1" smtClean="0">
                <a:solidFill>
                  <a:srgbClr val="A9C4C0"/>
                </a:solidFill>
                <a:latin typeface="Times New Roman" panose="02020603050405020304" pitchFamily="18" charset="0"/>
                <a:ea typeface="IBM Plex Sans" pitchFamily="34" charset="-122"/>
                <a:cs typeface="Times New Roman" panose="02020603050405020304" pitchFamily="18" charset="0"/>
              </a:rPr>
              <a:t>hiện</a:t>
            </a:r>
            <a:r>
              <a:rPr lang="en-US" sz="2000" dirty="0" smtClean="0">
                <a:solidFill>
                  <a:srgbClr val="A9C4C0"/>
                </a:solidFill>
                <a:latin typeface="Times New Roman" panose="02020603050405020304" pitchFamily="18" charset="0"/>
                <a:ea typeface="IBM Plex Sans" pitchFamily="34" charset="-122"/>
                <a:cs typeface="Times New Roman" panose="02020603050405020304" pitchFamily="18" charset="0"/>
              </a:rPr>
              <a:t>: Nguyễn Tiến Lâm  </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785" y="6070542"/>
            <a:ext cx="1110897"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A9C4C0"/>
                </a:solidFill>
                <a:latin typeface="IBM Plex Sans" pitchFamily="34" charset="0"/>
                <a:ea typeface="IBM Plex Sans" pitchFamily="34" charset="-122"/>
                <a:cs typeface="IBM Plex Sans" pitchFamily="34" charset="-120"/>
              </a:rPr>
              <a:t>21/09/2026</a:t>
            </a:r>
            <a:endParaRPr lang="en-US" sz="1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TOÀN CẢNH</a:t>
            </a:r>
            <a:endParaRPr lang="en-US" sz="1200" dirty="0"/>
          </a:p>
        </p:txBody>
      </p:sp>
      <p:sp>
        <p:nvSpPr>
          <p:cNvPr id="3" name="Text 1"/>
          <p:cNvSpPr/>
          <p:nvPr/>
        </p:nvSpPr>
        <p:spPr>
          <a:xfrm>
            <a:off x="812785" y="1229285"/>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Năm bước của pipeline</a:t>
            </a:r>
            <a:endParaRPr lang="en-US" sz="3200" dirty="0"/>
          </a:p>
        </p:txBody>
      </p:sp>
      <p:sp>
        <p:nvSpPr>
          <p:cNvPr id="4" name="Text 2"/>
          <p:cNvSpPr/>
          <p:nvPr/>
        </p:nvSpPr>
        <p:spPr>
          <a:xfrm>
            <a:off x="812785" y="1899783"/>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Đây là đường đi của dữ liệu, từ ống kính tới bảng số liệu. Mỗi bước được kể liền mạch: làm gì, rồi vì sao phải làm như vậy.</a:t>
            </a:r>
            <a:endParaRPr lang="en-US" sz="1500" dirty="0"/>
          </a:p>
        </p:txBody>
      </p:sp>
      <p:sp>
        <p:nvSpPr>
          <p:cNvPr id="5" name="Shape 3"/>
          <p:cNvSpPr/>
          <p:nvPr/>
        </p:nvSpPr>
        <p:spPr>
          <a:xfrm>
            <a:off x="815960" y="2372740"/>
            <a:ext cx="1777971" cy="1836620"/>
          </a:xfrm>
          <a:prstGeom prst="roundRect">
            <a:avLst>
              <a:gd name="adj" fmla="val 5536"/>
            </a:avLst>
          </a:prstGeom>
          <a:solidFill>
            <a:srgbClr val="FDFDFC"/>
          </a:solidFill>
          <a:ln w="6350">
            <a:solidFill>
              <a:srgbClr val="DCE3E1"/>
            </a:solidFill>
            <a:prstDash val="solid"/>
          </a:ln>
        </p:spPr>
      </p:sp>
      <p:sp>
        <p:nvSpPr>
          <p:cNvPr id="6" name="Text 4"/>
          <p:cNvSpPr/>
          <p:nvPr/>
        </p:nvSpPr>
        <p:spPr>
          <a:xfrm>
            <a:off x="995274" y="2552054"/>
            <a:ext cx="147014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6A"/>
                </a:solidFill>
                <a:latin typeface="IBM Plex Sans" pitchFamily="34" charset="0"/>
                <a:ea typeface="IBM Plex Sans" pitchFamily="34" charset="-122"/>
                <a:cs typeface="IBM Plex Sans" pitchFamily="34" charset="-120"/>
              </a:rPr>
              <a:t>01</a:t>
            </a:r>
            <a:endParaRPr lang="en-US" sz="1200" dirty="0"/>
          </a:p>
        </p:txBody>
      </p:sp>
      <p:sp>
        <p:nvSpPr>
          <p:cNvPr id="7" name="Text 5"/>
          <p:cNvSpPr/>
          <p:nvPr/>
        </p:nvSpPr>
        <p:spPr>
          <a:xfrm>
            <a:off x="995274" y="2828838"/>
            <a:ext cx="1470143" cy="52311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242C"/>
                </a:solidFill>
                <a:latin typeface="IBM Plex Sans" pitchFamily="34" charset="0"/>
                <a:ea typeface="IBM Plex Sans" pitchFamily="34" charset="-122"/>
                <a:cs typeface="IBM Plex Sans" pitchFamily="34" charset="-120"/>
              </a:rPr>
              <a:t>Dựng môi trường chạy</a:t>
            </a:r>
            <a:endParaRPr lang="en-US" sz="1400" dirty="0"/>
          </a:p>
        </p:txBody>
      </p:sp>
      <p:sp>
        <p:nvSpPr>
          <p:cNvPr id="8" name="Text 6"/>
          <p:cNvSpPr/>
          <p:nvPr/>
        </p:nvSpPr>
        <p:spPr>
          <a:xfrm>
            <a:off x="995274" y="3389974"/>
            <a:ext cx="1470143"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Môi trường, máy và chỗ để dữ liệu</a:t>
            </a:r>
            <a:endParaRPr lang="en-US" sz="1200" dirty="0"/>
          </a:p>
        </p:txBody>
      </p:sp>
      <p:pic>
        <p:nvPicPr>
          <p:cNvPr id="9" name="Image 0" descr="arrow-right"/>
          <p:cNvPicPr>
            <a:picLocks noChangeAspect="1"/>
          </p:cNvPicPr>
          <p:nvPr/>
        </p:nvPicPr>
        <p:blipFill>
          <a:blip r:embed="rId3"/>
          <a:srcRect l="-14" r="-14"/>
          <a:stretch/>
        </p:blipFill>
        <p:spPr>
          <a:xfrm>
            <a:off x="2673247" y="3227550"/>
            <a:ext cx="253927" cy="126927"/>
          </a:xfrm>
          <a:prstGeom prst="rect">
            <a:avLst/>
          </a:prstGeom>
        </p:spPr>
      </p:pic>
      <p:sp>
        <p:nvSpPr>
          <p:cNvPr id="10" name="Shape 7"/>
          <p:cNvSpPr/>
          <p:nvPr/>
        </p:nvSpPr>
        <p:spPr>
          <a:xfrm>
            <a:off x="3006490" y="2372740"/>
            <a:ext cx="1777971" cy="1836620"/>
          </a:xfrm>
          <a:prstGeom prst="roundRect">
            <a:avLst>
              <a:gd name="adj" fmla="val 5536"/>
            </a:avLst>
          </a:prstGeom>
          <a:solidFill>
            <a:srgbClr val="FDFDFC"/>
          </a:solidFill>
          <a:ln w="6350">
            <a:solidFill>
              <a:srgbClr val="DCE3E1"/>
            </a:solidFill>
            <a:prstDash val="solid"/>
          </a:ln>
        </p:spPr>
      </p:sp>
      <p:sp>
        <p:nvSpPr>
          <p:cNvPr id="11" name="Text 8"/>
          <p:cNvSpPr/>
          <p:nvPr/>
        </p:nvSpPr>
        <p:spPr>
          <a:xfrm>
            <a:off x="3185804" y="2552054"/>
            <a:ext cx="147014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6A"/>
                </a:solidFill>
                <a:latin typeface="IBM Plex Sans" pitchFamily="34" charset="0"/>
                <a:ea typeface="IBM Plex Sans" pitchFamily="34" charset="-122"/>
                <a:cs typeface="IBM Plex Sans" pitchFamily="34" charset="-120"/>
              </a:rPr>
              <a:t>02</a:t>
            </a:r>
            <a:endParaRPr lang="en-US" sz="1200" dirty="0"/>
          </a:p>
        </p:txBody>
      </p:sp>
      <p:sp>
        <p:nvSpPr>
          <p:cNvPr id="12" name="Text 9"/>
          <p:cNvSpPr/>
          <p:nvPr/>
        </p:nvSpPr>
        <p:spPr>
          <a:xfrm>
            <a:off x="3185804" y="2828838"/>
            <a:ext cx="1470143" cy="52311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242C"/>
                </a:solidFill>
                <a:latin typeface="IBM Plex Sans" pitchFamily="34" charset="0"/>
                <a:ea typeface="IBM Plex Sans" pitchFamily="34" charset="-122"/>
                <a:cs typeface="IBM Plex Sans" pitchFamily="34" charset="-120"/>
              </a:rPr>
              <a:t>Đưa ảnh vào pipeline</a:t>
            </a:r>
            <a:endParaRPr lang="en-US" sz="1400" dirty="0"/>
          </a:p>
        </p:txBody>
      </p:sp>
      <p:sp>
        <p:nvSpPr>
          <p:cNvPr id="13" name="Text 10"/>
          <p:cNvSpPr/>
          <p:nvPr/>
        </p:nvSpPr>
        <p:spPr>
          <a:xfrm>
            <a:off x="3185804" y="3389974"/>
            <a:ext cx="1470143" cy="6654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Hai nguồn thành một dòng frame, kèm mốc thời gian</a:t>
            </a:r>
            <a:endParaRPr lang="en-US" sz="1200" dirty="0"/>
          </a:p>
        </p:txBody>
      </p:sp>
      <p:pic>
        <p:nvPicPr>
          <p:cNvPr id="14" name="Image 1" descr="arrow-right"/>
          <p:cNvPicPr>
            <a:picLocks noChangeAspect="1"/>
          </p:cNvPicPr>
          <p:nvPr/>
        </p:nvPicPr>
        <p:blipFill>
          <a:blip r:embed="rId3"/>
          <a:srcRect l="-14" r="-14"/>
          <a:stretch/>
        </p:blipFill>
        <p:spPr>
          <a:xfrm>
            <a:off x="4863777" y="3227550"/>
            <a:ext cx="253927" cy="126927"/>
          </a:xfrm>
          <a:prstGeom prst="rect">
            <a:avLst/>
          </a:prstGeom>
        </p:spPr>
      </p:pic>
      <p:sp>
        <p:nvSpPr>
          <p:cNvPr id="15" name="Shape 11"/>
          <p:cNvSpPr/>
          <p:nvPr/>
        </p:nvSpPr>
        <p:spPr>
          <a:xfrm>
            <a:off x="5197020" y="2372740"/>
            <a:ext cx="1777971" cy="1836620"/>
          </a:xfrm>
          <a:prstGeom prst="roundRect">
            <a:avLst>
              <a:gd name="adj" fmla="val 5536"/>
            </a:avLst>
          </a:prstGeom>
          <a:solidFill>
            <a:srgbClr val="FDFDFC"/>
          </a:solidFill>
          <a:ln w="6350">
            <a:solidFill>
              <a:srgbClr val="DCE3E1"/>
            </a:solidFill>
            <a:prstDash val="solid"/>
          </a:ln>
        </p:spPr>
      </p:sp>
      <p:sp>
        <p:nvSpPr>
          <p:cNvPr id="16" name="Text 12"/>
          <p:cNvSpPr/>
          <p:nvPr/>
        </p:nvSpPr>
        <p:spPr>
          <a:xfrm>
            <a:off x="5376334" y="2552054"/>
            <a:ext cx="147014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6A"/>
                </a:solidFill>
                <a:latin typeface="IBM Plex Sans" pitchFamily="34" charset="0"/>
                <a:ea typeface="IBM Plex Sans" pitchFamily="34" charset="-122"/>
                <a:cs typeface="IBM Plex Sans" pitchFamily="34" charset="-120"/>
              </a:rPr>
              <a:t>03</a:t>
            </a:r>
            <a:endParaRPr lang="en-US" sz="1200" dirty="0"/>
          </a:p>
        </p:txBody>
      </p:sp>
      <p:sp>
        <p:nvSpPr>
          <p:cNvPr id="17" name="Text 13"/>
          <p:cNvSpPr/>
          <p:nvPr/>
        </p:nvSpPr>
        <p:spPr>
          <a:xfrm>
            <a:off x="5376334" y="2828838"/>
            <a:ext cx="1470143" cy="52311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242C"/>
                </a:solidFill>
                <a:latin typeface="IBM Plex Sans" pitchFamily="34" charset="0"/>
                <a:ea typeface="IBM Plex Sans" pitchFamily="34" charset="-122"/>
                <a:cs typeface="IBM Plex Sans" pitchFamily="34" charset="-120"/>
              </a:rPr>
              <a:t>Tìm 21 điểm mốc mỗi frame</a:t>
            </a:r>
            <a:endParaRPr lang="en-US" sz="1400" dirty="0"/>
          </a:p>
        </p:txBody>
      </p:sp>
      <p:sp>
        <p:nvSpPr>
          <p:cNvPr id="18" name="Text 14"/>
          <p:cNvSpPr/>
          <p:nvPr/>
        </p:nvSpPr>
        <p:spPr>
          <a:xfrm>
            <a:off x="5376334" y="3389974"/>
            <a:ext cx="1470143"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Ba việc cố định trên từng frame</a:t>
            </a:r>
            <a:endParaRPr lang="en-US" sz="1200" dirty="0"/>
          </a:p>
        </p:txBody>
      </p:sp>
      <p:pic>
        <p:nvPicPr>
          <p:cNvPr id="19" name="Image 2" descr="arrow-right"/>
          <p:cNvPicPr>
            <a:picLocks noChangeAspect="1"/>
          </p:cNvPicPr>
          <p:nvPr/>
        </p:nvPicPr>
        <p:blipFill>
          <a:blip r:embed="rId3"/>
          <a:srcRect l="-14" r="-14"/>
          <a:stretch/>
        </p:blipFill>
        <p:spPr>
          <a:xfrm>
            <a:off x="7054307" y="3227550"/>
            <a:ext cx="253927" cy="126927"/>
          </a:xfrm>
          <a:prstGeom prst="rect">
            <a:avLst/>
          </a:prstGeom>
        </p:spPr>
      </p:pic>
      <p:sp>
        <p:nvSpPr>
          <p:cNvPr id="20" name="Shape 15"/>
          <p:cNvSpPr/>
          <p:nvPr/>
        </p:nvSpPr>
        <p:spPr>
          <a:xfrm>
            <a:off x="7387550" y="2372740"/>
            <a:ext cx="1777971" cy="1836620"/>
          </a:xfrm>
          <a:prstGeom prst="roundRect">
            <a:avLst>
              <a:gd name="adj" fmla="val 5536"/>
            </a:avLst>
          </a:prstGeom>
          <a:solidFill>
            <a:srgbClr val="FDFDFC"/>
          </a:solidFill>
          <a:ln w="6350">
            <a:solidFill>
              <a:srgbClr val="DCE3E1"/>
            </a:solidFill>
            <a:prstDash val="solid"/>
          </a:ln>
        </p:spPr>
      </p:sp>
      <p:sp>
        <p:nvSpPr>
          <p:cNvPr id="21" name="Text 16"/>
          <p:cNvSpPr/>
          <p:nvPr/>
        </p:nvSpPr>
        <p:spPr>
          <a:xfrm>
            <a:off x="7566864" y="2552054"/>
            <a:ext cx="147014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6A"/>
                </a:solidFill>
                <a:latin typeface="IBM Plex Sans" pitchFamily="34" charset="0"/>
                <a:ea typeface="IBM Plex Sans" pitchFamily="34" charset="-122"/>
                <a:cs typeface="IBM Plex Sans" pitchFamily="34" charset="-120"/>
              </a:rPr>
              <a:t>04</a:t>
            </a:r>
            <a:endParaRPr lang="en-US" sz="1200" dirty="0"/>
          </a:p>
        </p:txBody>
      </p:sp>
      <p:sp>
        <p:nvSpPr>
          <p:cNvPr id="22" name="Text 17"/>
          <p:cNvSpPr/>
          <p:nvPr/>
        </p:nvSpPr>
        <p:spPr>
          <a:xfrm>
            <a:off x="7566864" y="2828838"/>
            <a:ext cx="1470143" cy="52311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242C"/>
                </a:solidFill>
                <a:latin typeface="IBM Plex Sans" pitchFamily="34" charset="0"/>
                <a:ea typeface="IBM Plex Sans" pitchFamily="34" charset="-122"/>
                <a:cs typeface="IBM Plex Sans" pitchFamily="34" charset="-120"/>
              </a:rPr>
              <a:t>Ghi lại theo trục thời gian</a:t>
            </a:r>
            <a:endParaRPr lang="en-US" sz="1400" dirty="0"/>
          </a:p>
        </p:txBody>
      </p:sp>
      <p:sp>
        <p:nvSpPr>
          <p:cNvPr id="23" name="Text 18"/>
          <p:cNvSpPr/>
          <p:nvPr/>
        </p:nvSpPr>
        <p:spPr>
          <a:xfrm>
            <a:off x="7566864" y="3389974"/>
            <a:ext cx="1470143" cy="6654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Mỗi frame đúng một dòng, không bỏ dòng nào</a:t>
            </a:r>
            <a:endParaRPr lang="en-US" sz="1200" dirty="0"/>
          </a:p>
        </p:txBody>
      </p:sp>
      <p:pic>
        <p:nvPicPr>
          <p:cNvPr id="24" name="Image 3" descr="arrow-right"/>
          <p:cNvPicPr>
            <a:picLocks noChangeAspect="1"/>
          </p:cNvPicPr>
          <p:nvPr/>
        </p:nvPicPr>
        <p:blipFill>
          <a:blip r:embed="rId3"/>
          <a:srcRect l="-14" r="-14"/>
          <a:stretch/>
        </p:blipFill>
        <p:spPr>
          <a:xfrm>
            <a:off x="9244836" y="3227550"/>
            <a:ext cx="253927" cy="126927"/>
          </a:xfrm>
          <a:prstGeom prst="rect">
            <a:avLst/>
          </a:prstGeom>
        </p:spPr>
      </p:pic>
      <p:sp>
        <p:nvSpPr>
          <p:cNvPr id="25" name="Shape 19"/>
          <p:cNvSpPr/>
          <p:nvPr/>
        </p:nvSpPr>
        <p:spPr>
          <a:xfrm>
            <a:off x="9578080" y="2372740"/>
            <a:ext cx="1777971" cy="1836620"/>
          </a:xfrm>
          <a:prstGeom prst="roundRect">
            <a:avLst>
              <a:gd name="adj" fmla="val 5536"/>
            </a:avLst>
          </a:prstGeom>
          <a:solidFill>
            <a:srgbClr val="FDFDFC"/>
          </a:solidFill>
          <a:ln w="6350">
            <a:solidFill>
              <a:srgbClr val="DCE3E1"/>
            </a:solidFill>
            <a:prstDash val="solid"/>
          </a:ln>
        </p:spPr>
      </p:sp>
      <p:sp>
        <p:nvSpPr>
          <p:cNvPr id="26" name="Text 20"/>
          <p:cNvSpPr/>
          <p:nvPr/>
        </p:nvSpPr>
        <p:spPr>
          <a:xfrm>
            <a:off x="9757394" y="2552054"/>
            <a:ext cx="147014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6A"/>
                </a:solidFill>
                <a:latin typeface="IBM Plex Sans" pitchFamily="34" charset="0"/>
                <a:ea typeface="IBM Plex Sans" pitchFamily="34" charset="-122"/>
                <a:cs typeface="IBM Plex Sans" pitchFamily="34" charset="-120"/>
              </a:rPr>
              <a:t>05</a:t>
            </a:r>
            <a:endParaRPr lang="en-US" sz="1200" dirty="0"/>
          </a:p>
        </p:txBody>
      </p:sp>
      <p:sp>
        <p:nvSpPr>
          <p:cNvPr id="27" name="Text 21"/>
          <p:cNvSpPr/>
          <p:nvPr/>
        </p:nvSpPr>
        <p:spPr>
          <a:xfrm>
            <a:off x="9757394" y="2828838"/>
            <a:ext cx="1470143" cy="52311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242C"/>
                </a:solidFill>
                <a:latin typeface="IBM Plex Sans" pitchFamily="34" charset="0"/>
                <a:ea typeface="IBM Plex Sans" pitchFamily="34" charset="-122"/>
                <a:cs typeface="IBM Plex Sans" pitchFamily="34" charset="-120"/>
              </a:rPr>
              <a:t>Hiển thị cho người xem</a:t>
            </a:r>
            <a:endParaRPr lang="en-US" sz="1400" dirty="0"/>
          </a:p>
        </p:txBody>
      </p:sp>
      <p:sp>
        <p:nvSpPr>
          <p:cNvPr id="28" name="Text 22"/>
          <p:cNvSpPr/>
          <p:nvPr/>
        </p:nvSpPr>
        <p:spPr>
          <a:xfrm>
            <a:off x="9757394" y="3389974"/>
            <a:ext cx="1470143" cy="452114"/>
          </a:xfrm>
          <a:prstGeom prst="rect">
            <a:avLst/>
          </a:prstGeom>
          <a:noFill/>
          <a:ln/>
        </p:spPr>
        <p:txBody>
          <a:bodyPr wrap="square" lIns="0" tIns="0" rIns="0" bIns="0" rtlCol="0" anchor="t">
            <a:normAutofit/>
          </a:bodyPr>
          <a:lstStyle/>
          <a:p>
            <a:pPr marL="0" indent="0" algn="l">
              <a:lnSpc>
                <a:spcPts val="1680"/>
              </a:lnSpc>
              <a:buNone/>
            </a:pPr>
            <a:r>
              <a:rPr lang="en-US" sz="1200" dirty="0" err="1" smtClean="0">
                <a:solidFill>
                  <a:srgbClr val="4A5A60"/>
                </a:solidFill>
                <a:latin typeface="IBM Plex Sans" pitchFamily="34" charset="0"/>
                <a:ea typeface="IBM Plex Sans" pitchFamily="34" charset="-122"/>
              </a:rPr>
              <a:t>Hiển</a:t>
            </a:r>
            <a:r>
              <a:rPr lang="en-US" sz="1200" dirty="0" smtClean="0">
                <a:solidFill>
                  <a:srgbClr val="4A5A60"/>
                </a:solidFill>
                <a:latin typeface="IBM Plex Sans" pitchFamily="34" charset="0"/>
                <a:ea typeface="IBM Plex Sans" pitchFamily="34" charset="-122"/>
              </a:rPr>
              <a:t> </a:t>
            </a:r>
            <a:r>
              <a:rPr lang="en-US" sz="1200" dirty="0" err="1" smtClean="0">
                <a:solidFill>
                  <a:srgbClr val="4A5A60"/>
                </a:solidFill>
                <a:latin typeface="IBM Plex Sans" pitchFamily="34" charset="0"/>
                <a:ea typeface="IBM Plex Sans" pitchFamily="34" charset="-122"/>
              </a:rPr>
              <a:t>thị</a:t>
            </a:r>
            <a:r>
              <a:rPr lang="en-US" sz="1200" dirty="0" smtClean="0">
                <a:solidFill>
                  <a:srgbClr val="4A5A60"/>
                </a:solidFill>
                <a:latin typeface="IBM Plex Sans" pitchFamily="34" charset="0"/>
                <a:ea typeface="IBM Plex Sans" pitchFamily="34" charset="-122"/>
              </a:rPr>
              <a:t> </a:t>
            </a:r>
            <a:r>
              <a:rPr lang="en-US" sz="1200" dirty="0" err="1" smtClean="0">
                <a:solidFill>
                  <a:srgbClr val="4A5A60"/>
                </a:solidFill>
                <a:latin typeface="IBM Plex Sans" pitchFamily="34" charset="0"/>
                <a:ea typeface="IBM Plex Sans" pitchFamily="34" charset="-122"/>
              </a:rPr>
              <a:t>khung</a:t>
            </a:r>
            <a:r>
              <a:rPr lang="en-US" sz="1200" dirty="0" smtClean="0">
                <a:solidFill>
                  <a:srgbClr val="4A5A60"/>
                </a:solidFill>
                <a:latin typeface="IBM Plex Sans" pitchFamily="34" charset="0"/>
                <a:ea typeface="IBM Plex Sans" pitchFamily="34" charset="-122"/>
              </a:rPr>
              <a:t> </a:t>
            </a:r>
            <a:r>
              <a:rPr lang="en-US" sz="1200" dirty="0" err="1" smtClean="0">
                <a:solidFill>
                  <a:srgbClr val="4A5A60"/>
                </a:solidFill>
                <a:latin typeface="IBM Plex Sans" pitchFamily="34" charset="0"/>
                <a:ea typeface="IBM Plex Sans" pitchFamily="34" charset="-122"/>
              </a:rPr>
              <a:t>xương</a:t>
            </a:r>
            <a:r>
              <a:rPr lang="en-US" sz="1200" dirty="0" smtClean="0">
                <a:solidFill>
                  <a:srgbClr val="4A5A60"/>
                </a:solidFill>
                <a:latin typeface="IBM Plex Sans" pitchFamily="34" charset="0"/>
                <a:ea typeface="IBM Plex Sans" pitchFamily="34" charset="-122"/>
              </a:rPr>
              <a:t> </a:t>
            </a:r>
            <a:r>
              <a:rPr lang="en-US" sz="1200" dirty="0" err="1" smtClean="0">
                <a:solidFill>
                  <a:srgbClr val="4A5A60"/>
                </a:solidFill>
                <a:latin typeface="IBM Plex Sans" pitchFamily="34" charset="0"/>
                <a:ea typeface="IBM Plex Sans" pitchFamily="34" charset="-122"/>
              </a:rPr>
              <a:t>tay</a:t>
            </a:r>
            <a:r>
              <a:rPr lang="en-US" sz="1200" dirty="0" smtClean="0">
                <a:solidFill>
                  <a:srgbClr val="4A5A60"/>
                </a:solidFill>
                <a:latin typeface="IBM Plex Sans" pitchFamily="34" charset="0"/>
                <a:ea typeface="IBM Plex Sans" pitchFamily="34" charset="-122"/>
              </a:rPr>
              <a:t> </a:t>
            </a:r>
            <a:r>
              <a:rPr lang="en-US" sz="1200" dirty="0" err="1" smtClean="0">
                <a:solidFill>
                  <a:srgbClr val="4A5A60"/>
                </a:solidFill>
                <a:latin typeface="IBM Plex Sans" pitchFamily="34" charset="0"/>
                <a:ea typeface="IBM Plex Sans" pitchFamily="34" charset="-122"/>
              </a:rPr>
              <a:t>trên</a:t>
            </a:r>
            <a:r>
              <a:rPr lang="en-US" sz="1200" dirty="0" smtClean="0">
                <a:solidFill>
                  <a:srgbClr val="4A5A60"/>
                </a:solidFill>
                <a:latin typeface="IBM Plex Sans" pitchFamily="34" charset="0"/>
                <a:ea typeface="IBM Plex Sans" pitchFamily="34" charset="-122"/>
              </a:rPr>
              <a:t> webcam</a:t>
            </a:r>
            <a:endParaRPr lang="en-US" sz="1200" dirty="0"/>
          </a:p>
        </p:txBody>
      </p:sp>
      <p:sp>
        <p:nvSpPr>
          <p:cNvPr id="29" name="Text 23"/>
          <p:cNvSpPr/>
          <p:nvPr/>
        </p:nvSpPr>
        <p:spPr>
          <a:xfrm>
            <a:off x="812785" y="4415676"/>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err="1" smtClean="0">
                <a:solidFill>
                  <a:srgbClr val="5D666B"/>
                </a:solidFill>
                <a:latin typeface="IBM Plex Sans" pitchFamily="34" charset="0"/>
                <a:ea typeface="IBM Plex Sans" pitchFamily="34" charset="-122"/>
              </a:rPr>
              <a:t>Giai</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đoạn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này</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chỉ</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nhận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diện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khung</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xương</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tay</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trong</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giai</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đoạn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tiếp</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theo</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sẽ</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thực</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hiện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nhận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diện</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hành</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động</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cử</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chỉ</a:t>
            </a:r>
            <a:r>
              <a:rPr lang="en-US" sz="1200" dirty="0" smtClean="0">
                <a:solidFill>
                  <a:srgbClr val="5D666B"/>
                </a:solidFill>
                <a:latin typeface="IBM Plex Sans" pitchFamily="34" charset="0"/>
                <a:ea typeface="IBM Plex Sans" pitchFamily="34" charset="-122"/>
              </a:rPr>
              <a:t> </a:t>
            </a:r>
            <a:r>
              <a:rPr lang="en-US" sz="1200" dirty="0" err="1" smtClean="0">
                <a:solidFill>
                  <a:srgbClr val="5D666B"/>
                </a:solidFill>
                <a:latin typeface="IBM Plex Sans" pitchFamily="34" charset="0"/>
                <a:ea typeface="IBM Plex Sans" pitchFamily="34" charset="-122"/>
              </a:rPr>
              <a:t>tay</a:t>
            </a:r>
            <a:r>
              <a:rPr lang="en-US" sz="1200" dirty="0" smtClean="0">
                <a:solidFill>
                  <a:srgbClr val="5D666B"/>
                </a:solidFill>
                <a:latin typeface="IBM Plex Sans" pitchFamily="34" charset="0"/>
                <a:ea typeface="IBM Plex Sans" pitchFamily="34" charset="-122"/>
              </a:rPr>
              <a:t>.</a:t>
            </a:r>
            <a:endParaRPr lang="en-US" sz="1200" dirty="0"/>
          </a:p>
        </p:txBody>
      </p:sp>
      <p:sp>
        <p:nvSpPr>
          <p:cNvPr id="30" name="Text 24"/>
          <p:cNvSpPr/>
          <p:nvPr/>
        </p:nvSpPr>
        <p:spPr>
          <a:xfrm>
            <a:off x="812785" y="6238215"/>
            <a:ext cx="159633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Toàn cảnh</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NỀN TẢNG SỬ DỤNG</a:t>
            </a:r>
            <a:endParaRPr lang="en-US" sz="1200" dirty="0"/>
          </a:p>
        </p:txBody>
      </p:sp>
      <p:sp>
        <p:nvSpPr>
          <p:cNvPr id="3" name="Text 1"/>
          <p:cNvSpPr/>
          <p:nvPr/>
        </p:nvSpPr>
        <p:spPr>
          <a:xfrm>
            <a:off x="812785" y="1280065"/>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Mô hình điểm mốc và bộ dữ liệu</a:t>
            </a:r>
            <a:endParaRPr lang="en-US" sz="3200" dirty="0"/>
          </a:p>
        </p:txBody>
      </p:sp>
      <p:sp>
        <p:nvSpPr>
          <p:cNvPr id="4" name="Shape 2"/>
          <p:cNvSpPr/>
          <p:nvPr/>
        </p:nvSpPr>
        <p:spPr>
          <a:xfrm>
            <a:off x="815960" y="2004523"/>
            <a:ext cx="3380317" cy="2473825"/>
          </a:xfrm>
          <a:prstGeom prst="roundRect">
            <a:avLst>
              <a:gd name="adj" fmla="val 3979"/>
            </a:avLst>
          </a:prstGeom>
          <a:solidFill>
            <a:srgbClr val="FDFDFC"/>
          </a:solidFill>
          <a:ln w="6350">
            <a:solidFill>
              <a:srgbClr val="DCE3E1"/>
            </a:solidFill>
            <a:prstDash val="solid"/>
          </a:ln>
        </p:spPr>
      </p:sp>
      <p:sp>
        <p:nvSpPr>
          <p:cNvPr id="5" name="Text 3"/>
          <p:cNvSpPr/>
          <p:nvPr/>
        </p:nvSpPr>
        <p:spPr>
          <a:xfrm>
            <a:off x="1071416" y="2259980"/>
            <a:ext cx="2955489"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E4E1E"/>
                </a:solidFill>
                <a:latin typeface="IBM Plex Sans" pitchFamily="34" charset="0"/>
                <a:ea typeface="IBM Plex Sans" pitchFamily="34" charset="-122"/>
                <a:cs typeface="IBM Plex Sans" pitchFamily="34" charset="-120"/>
              </a:rPr>
              <a:t>Mô hình</a:t>
            </a:r>
            <a:endParaRPr lang="en-US" sz="1400" dirty="0"/>
          </a:p>
        </p:txBody>
      </p:sp>
      <p:sp>
        <p:nvSpPr>
          <p:cNvPr id="6" name="Text 4"/>
          <p:cNvSpPr/>
          <p:nvPr/>
        </p:nvSpPr>
        <p:spPr>
          <a:xfrm>
            <a:off x="1071416" y="2584977"/>
            <a:ext cx="2955489"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1242C"/>
                </a:solidFill>
                <a:latin typeface="IBM Plex Sans" pitchFamily="34" charset="0"/>
                <a:ea typeface="IBM Plex Sans" pitchFamily="34" charset="-122"/>
                <a:cs typeface="IBM Plex Sans" pitchFamily="34" charset="-120"/>
              </a:rPr>
              <a:t>Hand Landmarker</a:t>
            </a:r>
            <a:endParaRPr lang="en-US" sz="1500" dirty="0"/>
          </a:p>
        </p:txBody>
      </p:sp>
      <p:sp>
        <p:nvSpPr>
          <p:cNvPr id="7" name="Text 5"/>
          <p:cNvSpPr/>
          <p:nvPr/>
        </p:nvSpPr>
        <p:spPr>
          <a:xfrm>
            <a:off x="1071416" y="2889690"/>
            <a:ext cx="2955489"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Mô hình mở của Google trong bộ MediaPipe, chạy thời gian thực trên CPU: nhận vào một ảnh, trả về 21 điểm mốc kèm điểm tin cậy.</a:t>
            </a:r>
            <a:endParaRPr lang="en-US" sz="1500" dirty="0"/>
          </a:p>
        </p:txBody>
      </p:sp>
      <p:sp>
        <p:nvSpPr>
          <p:cNvPr id="8" name="Shape 6"/>
          <p:cNvSpPr/>
          <p:nvPr/>
        </p:nvSpPr>
        <p:spPr>
          <a:xfrm>
            <a:off x="4405769" y="2004523"/>
            <a:ext cx="3380391" cy="2473825"/>
          </a:xfrm>
          <a:prstGeom prst="roundRect">
            <a:avLst>
              <a:gd name="adj" fmla="val 3979"/>
            </a:avLst>
          </a:prstGeom>
          <a:solidFill>
            <a:srgbClr val="FDFDFC"/>
          </a:solidFill>
          <a:ln w="6350">
            <a:solidFill>
              <a:srgbClr val="DCE3E1"/>
            </a:solidFill>
            <a:prstDash val="solid"/>
          </a:ln>
        </p:spPr>
      </p:sp>
      <p:sp>
        <p:nvSpPr>
          <p:cNvPr id="9" name="Text 7"/>
          <p:cNvSpPr/>
          <p:nvPr/>
        </p:nvSpPr>
        <p:spPr>
          <a:xfrm>
            <a:off x="4661224" y="2259980"/>
            <a:ext cx="2955564"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E4E1E"/>
                </a:solidFill>
                <a:latin typeface="IBM Plex Sans" pitchFamily="34" charset="0"/>
                <a:ea typeface="IBM Plex Sans" pitchFamily="34" charset="-122"/>
                <a:cs typeface="IBM Plex Sans" pitchFamily="34" charset="-120"/>
              </a:rPr>
              <a:t>Dữ liệu</a:t>
            </a:r>
            <a:endParaRPr lang="en-US" sz="1400" dirty="0"/>
          </a:p>
        </p:txBody>
      </p:sp>
      <p:sp>
        <p:nvSpPr>
          <p:cNvPr id="10" name="Text 8"/>
          <p:cNvSpPr/>
          <p:nvPr/>
        </p:nvSpPr>
        <p:spPr>
          <a:xfrm>
            <a:off x="4661224" y="2584977"/>
            <a:ext cx="2955564"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1242C"/>
                </a:solidFill>
                <a:latin typeface="IBM Plex Sans" pitchFamily="34" charset="0"/>
                <a:ea typeface="IBM Plex Sans" pitchFamily="34" charset="-122"/>
                <a:cs typeface="IBM Plex Sans" pitchFamily="34" charset="-120"/>
              </a:rPr>
              <a:t>Bộ dữ liệu IPN Hand</a:t>
            </a:r>
            <a:endParaRPr lang="en-US" sz="1500" dirty="0"/>
          </a:p>
        </p:txBody>
      </p:sp>
      <p:sp>
        <p:nvSpPr>
          <p:cNvPr id="11" name="Text 9"/>
          <p:cNvSpPr/>
          <p:nvPr/>
        </p:nvSpPr>
        <p:spPr>
          <a:xfrm>
            <a:off x="4661224" y="2889690"/>
            <a:ext cx="2955564" cy="1091965"/>
          </a:xfrm>
          <a:prstGeom prst="rect">
            <a:avLst/>
          </a:prstGeom>
          <a:noFill/>
          <a:ln/>
        </p:spPr>
        <p:txBody>
          <a:bodyPr wrap="square" lIns="0" tIns="0" rIns="0" bIns="0" rtlCol="0" anchor="t">
            <a:normAutofit fontScale="85000" lnSpcReduction="10000"/>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200 video 640×480 ở 30 khung mỗi giây: 800 505 frame, 5 649 đoạn đã gán nhãn thuộc 14 lớp cử chỉ, chia sẵn 148 video huấn luyện và 52 video kiểm tra.</a:t>
            </a:r>
            <a:endParaRPr lang="en-US" sz="1500" dirty="0"/>
          </a:p>
        </p:txBody>
      </p:sp>
      <p:sp>
        <p:nvSpPr>
          <p:cNvPr id="17" name="Text 15"/>
          <p:cNvSpPr/>
          <p:nvPr/>
        </p:nvSpPr>
        <p:spPr>
          <a:xfrm>
            <a:off x="812785" y="6238211"/>
            <a:ext cx="1374158" cy="238757"/>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Nền tảng</a:t>
            </a:r>
            <a:endParaRPr lang="en-US" sz="1200" dirty="0"/>
          </a:p>
        </p:txBody>
      </p:sp>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5652" y="2004523"/>
            <a:ext cx="2748548" cy="244813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1 · DỰNG MÔI TRƯỜNG CHẠY</a:t>
            </a:r>
            <a:endParaRPr lang="en-US" sz="1200" dirty="0"/>
          </a:p>
        </p:txBody>
      </p:sp>
      <p:sp>
        <p:nvSpPr>
          <p:cNvPr id="3" name="Text 1"/>
          <p:cNvSpPr/>
          <p:nvPr/>
        </p:nvSpPr>
        <p:spPr>
          <a:xfrm>
            <a:off x="812785" y="1280069"/>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Môi trường và máy chạy</a:t>
            </a:r>
            <a:endParaRPr lang="en-US" sz="3200" dirty="0"/>
          </a:p>
        </p:txBody>
      </p:sp>
      <p:sp>
        <p:nvSpPr>
          <p:cNvPr id="4" name="Shape 2"/>
          <p:cNvSpPr/>
          <p:nvPr/>
        </p:nvSpPr>
        <p:spPr>
          <a:xfrm>
            <a:off x="815960" y="2004529"/>
            <a:ext cx="5175221" cy="1958402"/>
          </a:xfrm>
          <a:prstGeom prst="roundRect">
            <a:avLst>
              <a:gd name="adj" fmla="val 5026"/>
            </a:avLst>
          </a:prstGeom>
          <a:solidFill>
            <a:srgbClr val="FDFDFC"/>
          </a:solidFill>
          <a:ln w="6350">
            <a:solidFill>
              <a:srgbClr val="DCE3E1"/>
            </a:solidFill>
            <a:prstDash val="solid"/>
          </a:ln>
        </p:spPr>
      </p:sp>
      <p:sp>
        <p:nvSpPr>
          <p:cNvPr id="5" name="Text 3"/>
          <p:cNvSpPr/>
          <p:nvPr/>
        </p:nvSpPr>
        <p:spPr>
          <a:xfrm>
            <a:off x="1071416" y="2259983"/>
            <a:ext cx="4804240"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Môi trường riêng</a:t>
            </a:r>
            <a:endParaRPr lang="en-US" sz="2000" dirty="0"/>
          </a:p>
        </p:txBody>
      </p:sp>
      <p:sp>
        <p:nvSpPr>
          <p:cNvPr id="6" name="Text 4"/>
          <p:cNvSpPr/>
          <p:nvPr/>
        </p:nvSpPr>
        <p:spPr>
          <a:xfrm>
            <a:off x="1071416" y="2640910"/>
            <a:ext cx="4804240"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Một môi trường conda dành riêng cho đề tài, chạy Python 3.10.21, tự kích hoạt cho mọi câu lệnh nên không lẫn với Python của hệ thống. Thư viện và mô hình bàn tay đều nằm sẵn trong đó.</a:t>
            </a:r>
            <a:endParaRPr lang="en-US" sz="1500" dirty="0"/>
          </a:p>
        </p:txBody>
      </p:sp>
      <p:sp>
        <p:nvSpPr>
          <p:cNvPr id="7" name="Shape 5"/>
          <p:cNvSpPr/>
          <p:nvPr/>
        </p:nvSpPr>
        <p:spPr>
          <a:xfrm>
            <a:off x="6200673" y="2004529"/>
            <a:ext cx="5175295" cy="1958402"/>
          </a:xfrm>
          <a:prstGeom prst="roundRect">
            <a:avLst>
              <a:gd name="adj" fmla="val 5026"/>
            </a:avLst>
          </a:prstGeom>
          <a:solidFill>
            <a:srgbClr val="FDFDFC"/>
          </a:solidFill>
          <a:ln w="6350">
            <a:solidFill>
              <a:srgbClr val="DCE3E1"/>
            </a:solidFill>
            <a:prstDash val="solid"/>
          </a:ln>
        </p:spPr>
      </p:sp>
      <p:sp>
        <p:nvSpPr>
          <p:cNvPr id="8" name="Text 6"/>
          <p:cNvSpPr/>
          <p:nvPr/>
        </p:nvSpPr>
        <p:spPr>
          <a:xfrm>
            <a:off x="6456128" y="2259983"/>
            <a:ext cx="4804316"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Máy và camera</a:t>
            </a:r>
            <a:endParaRPr lang="en-US" sz="2000" dirty="0"/>
          </a:p>
        </p:txBody>
      </p:sp>
      <p:sp>
        <p:nvSpPr>
          <p:cNvPr id="9" name="Text 7"/>
          <p:cNvSpPr/>
          <p:nvPr/>
        </p:nvSpPr>
        <p:spPr>
          <a:xfrm>
            <a:off x="6456128" y="2640910"/>
            <a:ext cx="4804316"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Camera cố định ở 640×480, 30 khung mỗi giây. Toàn bộ tính toán chạy trên CPU, chưa cần tới GPU — đây cũng là ràng buộc thật của đề tài: phải chạy được trên máy tính cá nhân thông thường.</a:t>
            </a:r>
            <a:endParaRPr lang="en-US" sz="1500" dirty="0"/>
          </a:p>
        </p:txBody>
      </p:sp>
      <p:sp>
        <p:nvSpPr>
          <p:cNvPr id="10" name="Text 8"/>
          <p:cNvSpPr/>
          <p:nvPr/>
        </p:nvSpPr>
        <p:spPr>
          <a:xfrm>
            <a:off x="812785" y="422003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Cần</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cài</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đặt</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đủ</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thư</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viện</a:t>
            </a:r>
            <a:r>
              <a:rPr lang="en-US" sz="1200" dirty="0" smtClean="0">
                <a:solidFill>
                  <a:srgbClr val="5D666B"/>
                </a:solidFill>
                <a:latin typeface="IBM Plex Sans" pitchFamily="34" charset="0"/>
                <a:ea typeface="IBM Plex Sans" pitchFamily="34" charset="-122"/>
                <a:cs typeface="IBM Plex Sans" pitchFamily="34" charset="-120"/>
              </a:rPr>
              <a:t>, camera </a:t>
            </a:r>
            <a:r>
              <a:rPr lang="en-US" sz="1200" dirty="0" err="1" smtClean="0">
                <a:solidFill>
                  <a:srgbClr val="5D666B"/>
                </a:solidFill>
                <a:latin typeface="IBM Plex Sans" pitchFamily="34" charset="0"/>
                <a:ea typeface="IBM Plex Sans" pitchFamily="34" charset="-122"/>
                <a:cs typeface="IBM Plex Sans" pitchFamily="34" charset="-120"/>
              </a:rPr>
              <a:t>hoạt</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động</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bình</a:t>
            </a:r>
            <a:r>
              <a:rPr lang="en-US" sz="1200" dirty="0" smtClean="0">
                <a:solidFill>
                  <a:srgbClr val="5D666B"/>
                </a:solidFill>
                <a:latin typeface="IBM Plex Sans" pitchFamily="34" charset="0"/>
                <a:ea typeface="IBM Plex Sans" pitchFamily="34" charset="-122"/>
                <a:cs typeface="IBM Plex Sans" pitchFamily="34" charset="-120"/>
              </a:rPr>
              <a:t> </a:t>
            </a:r>
            <a:r>
              <a:rPr lang="en-US" sz="1200" dirty="0" err="1" smtClean="0">
                <a:solidFill>
                  <a:srgbClr val="5D666B"/>
                </a:solidFill>
                <a:latin typeface="IBM Plex Sans" pitchFamily="34" charset="0"/>
                <a:ea typeface="IBM Plex Sans" pitchFamily="34" charset="-122"/>
                <a:cs typeface="IBM Plex Sans" pitchFamily="34" charset="-120"/>
              </a:rPr>
              <a:t>thường</a:t>
            </a:r>
            <a:r>
              <a:rPr lang="en-US" sz="1200" dirty="0" smtClean="0">
                <a:solidFill>
                  <a:srgbClr val="5D666B"/>
                </a:solidFill>
                <a:latin typeface="IBM Plex Sans" pitchFamily="34" charset="0"/>
                <a:ea typeface="IBM Plex Sans" pitchFamily="34" charset="-122"/>
                <a:cs typeface="IBM Plex Sans" pitchFamily="34" charset="-120"/>
              </a:rPr>
              <a:t>.</a:t>
            </a:r>
            <a:endParaRPr lang="en-US" sz="1200" dirty="0"/>
          </a:p>
        </p:txBody>
      </p:sp>
      <p:sp>
        <p:nvSpPr>
          <p:cNvPr id="11" name="Text 9"/>
          <p:cNvSpPr/>
          <p:nvPr/>
        </p:nvSpPr>
        <p:spPr>
          <a:xfrm>
            <a:off x="812785" y="6238216"/>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1</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2 · ĐƯA ẢNH VÀO PIPELINE</a:t>
            </a:r>
            <a:endParaRPr lang="en-US" sz="1200" dirty="0"/>
          </a:p>
        </p:txBody>
      </p:sp>
      <p:sp>
        <p:nvSpPr>
          <p:cNvPr id="3" name="Text 1"/>
          <p:cNvSpPr/>
          <p:nvPr/>
        </p:nvSpPr>
        <p:spPr>
          <a:xfrm>
            <a:off x="812785" y="1280071"/>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err="1" smtClean="0">
                <a:solidFill>
                  <a:srgbClr val="11242C"/>
                </a:solidFill>
                <a:latin typeface="IBM Plex Sans" pitchFamily="34" charset="0"/>
                <a:ea typeface="IBM Plex Sans" pitchFamily="34" charset="-122"/>
              </a:rPr>
              <a:t>Ảnh</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đầu</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vào</a:t>
            </a:r>
            <a:endParaRPr lang="en-US" sz="3200" dirty="0"/>
          </a:p>
        </p:txBody>
      </p:sp>
      <p:sp>
        <p:nvSpPr>
          <p:cNvPr id="4" name="Text 2"/>
          <p:cNvSpPr/>
          <p:nvPr/>
        </p:nvSpPr>
        <p:spPr>
          <a:xfrm>
            <a:off x="812785" y="2001354"/>
            <a:ext cx="10883348" cy="55868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Bước </a:t>
            </a:r>
            <a:r>
              <a:rPr lang="en-US" sz="1500" dirty="0" err="1">
                <a:solidFill>
                  <a:srgbClr val="4A5A60"/>
                </a:solidFill>
                <a:latin typeface="IBM Plex Sans" pitchFamily="34" charset="0"/>
                <a:ea typeface="IBM Plex Sans" pitchFamily="34" charset="-122"/>
                <a:cs typeface="IBM Plex Sans" pitchFamily="34" charset="-120"/>
              </a:rPr>
              <a:t>này</a:t>
            </a:r>
            <a:r>
              <a:rPr lang="en-US" sz="1500" dirty="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thực</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hiện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a:solidFill>
                  <a:srgbClr val="4A5A60"/>
                </a:solidFill>
                <a:latin typeface="IBM Plex Sans" pitchFamily="34" charset="0"/>
                <a:ea typeface="IBM Plex Sans" pitchFamily="34" charset="-122"/>
                <a:cs typeface="IBM Plex Sans" pitchFamily="34" charset="-120"/>
              </a:rPr>
              <a:t>biến ảnh từ camera thành một dòng frame nối tiếp, mỗi frame kèm một mốc thời gian tính bằng giây.</a:t>
            </a:r>
            <a:endParaRPr lang="en-US" sz="1500" dirty="0"/>
          </a:p>
        </p:txBody>
      </p:sp>
      <p:sp>
        <p:nvSpPr>
          <p:cNvPr id="5" name="Shape 3"/>
          <p:cNvSpPr/>
          <p:nvPr/>
        </p:nvSpPr>
        <p:spPr>
          <a:xfrm>
            <a:off x="815960" y="2791737"/>
            <a:ext cx="3380317" cy="1958402"/>
          </a:xfrm>
          <a:prstGeom prst="roundRect">
            <a:avLst>
              <a:gd name="adj" fmla="val 5026"/>
            </a:avLst>
          </a:prstGeom>
          <a:solidFill>
            <a:srgbClr val="FDFDFC"/>
          </a:solidFill>
          <a:ln w="6350">
            <a:solidFill>
              <a:srgbClr val="DCE3E1"/>
            </a:solidFill>
            <a:prstDash val="solid"/>
          </a:ln>
        </p:spPr>
      </p:sp>
      <p:sp>
        <p:nvSpPr>
          <p:cNvPr id="6" name="Text 4"/>
          <p:cNvSpPr/>
          <p:nvPr/>
        </p:nvSpPr>
        <p:spPr>
          <a:xfrm>
            <a:off x="1071416" y="3047194"/>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Nguồn: webcam</a:t>
            </a:r>
            <a:endParaRPr lang="en-US" sz="2000" dirty="0"/>
          </a:p>
        </p:txBody>
      </p:sp>
      <p:sp>
        <p:nvSpPr>
          <p:cNvPr id="7" name="Text 5"/>
          <p:cNvSpPr/>
          <p:nvPr/>
        </p:nvSpPr>
        <p:spPr>
          <a:xfrm>
            <a:off x="1071416" y="3428119"/>
            <a:ext cx="2955489"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Đọc trực tiếp từ camera ở 640×480, 30 khung mỗi giây. Đây là nguồn duy nhất đang dùng trong phase này.</a:t>
            </a:r>
            <a:endParaRPr lang="en-US" sz="1500" dirty="0"/>
          </a:p>
        </p:txBody>
      </p:sp>
      <p:sp>
        <p:nvSpPr>
          <p:cNvPr id="8" name="Shape 6"/>
          <p:cNvSpPr/>
          <p:nvPr/>
        </p:nvSpPr>
        <p:spPr>
          <a:xfrm>
            <a:off x="4405769" y="2791737"/>
            <a:ext cx="3380391" cy="1958402"/>
          </a:xfrm>
          <a:prstGeom prst="roundRect">
            <a:avLst>
              <a:gd name="adj" fmla="val 5026"/>
            </a:avLst>
          </a:prstGeom>
          <a:solidFill>
            <a:srgbClr val="FDFDFC"/>
          </a:solidFill>
          <a:ln w="6350">
            <a:solidFill>
              <a:srgbClr val="DCE3E1"/>
            </a:solidFill>
            <a:prstDash val="solid"/>
          </a:ln>
        </p:spPr>
      </p:sp>
      <p:sp>
        <p:nvSpPr>
          <p:cNvPr id="9" name="Text 7"/>
          <p:cNvSpPr/>
          <p:nvPr/>
        </p:nvSpPr>
        <p:spPr>
          <a:xfrm>
            <a:off x="4661224" y="3047194"/>
            <a:ext cx="2955564"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Mốc thời gian</a:t>
            </a:r>
            <a:endParaRPr lang="en-US" sz="2000" dirty="0"/>
          </a:p>
        </p:txBody>
      </p:sp>
      <p:sp>
        <p:nvSpPr>
          <p:cNvPr id="10" name="Text 8"/>
          <p:cNvSpPr/>
          <p:nvPr/>
        </p:nvSpPr>
        <p:spPr>
          <a:xfrm>
            <a:off x="4661224" y="3428119"/>
            <a:ext cx="2955564"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Mỗi frame được đóng dấu thời gian thật ngay khi vừa đọc xong, trước khi làm bất cứ việc gì khác với nó.</a:t>
            </a:r>
            <a:endParaRPr lang="en-US" sz="1500" dirty="0"/>
          </a:p>
        </p:txBody>
      </p:sp>
      <p:sp>
        <p:nvSpPr>
          <p:cNvPr id="11" name="Shape 9"/>
          <p:cNvSpPr/>
          <p:nvPr/>
        </p:nvSpPr>
        <p:spPr>
          <a:xfrm>
            <a:off x="7995651" y="2791737"/>
            <a:ext cx="3380317" cy="1958402"/>
          </a:xfrm>
          <a:prstGeom prst="roundRect">
            <a:avLst>
              <a:gd name="adj" fmla="val 5026"/>
            </a:avLst>
          </a:prstGeom>
          <a:solidFill>
            <a:srgbClr val="FDFDFC"/>
          </a:solidFill>
          <a:ln w="6350">
            <a:solidFill>
              <a:srgbClr val="DCE3E1"/>
            </a:solidFill>
            <a:prstDash val="solid"/>
          </a:ln>
        </p:spPr>
      </p:sp>
      <p:sp>
        <p:nvSpPr>
          <p:cNvPr id="12" name="Text 10"/>
          <p:cNvSpPr/>
          <p:nvPr/>
        </p:nvSpPr>
        <p:spPr>
          <a:xfrm>
            <a:off x="8251106" y="3047194"/>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Chỗ cho nguồn mới</a:t>
            </a:r>
            <a:endParaRPr lang="en-US" sz="2000" dirty="0"/>
          </a:p>
        </p:txBody>
      </p:sp>
      <p:sp>
        <p:nvSpPr>
          <p:cNvPr id="13" name="Text 11"/>
          <p:cNvSpPr/>
          <p:nvPr/>
        </p:nvSpPr>
        <p:spPr>
          <a:xfrm>
            <a:off x="8251106" y="3428119"/>
            <a:ext cx="2955489"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Video có sẵn hay video tự quay, khi cần dùng, sẽ đi qua đúng cửa vào này — không phát sinh nhánh xử lý thứ hai.</a:t>
            </a:r>
            <a:endParaRPr lang="en-US" sz="1500" dirty="0"/>
          </a:p>
        </p:txBody>
      </p:sp>
      <p:sp>
        <p:nvSpPr>
          <p:cNvPr id="15" name="Text 13"/>
          <p:cNvSpPr/>
          <p:nvPr/>
        </p:nvSpPr>
        <p:spPr>
          <a:xfrm>
            <a:off x="812785" y="6238215"/>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2 · ĐƯA ẢNH VÀO PIPELINE</a:t>
            </a:r>
            <a:endParaRPr lang="en-US" sz="1200" dirty="0"/>
          </a:p>
        </p:txBody>
      </p:sp>
      <p:sp>
        <p:nvSpPr>
          <p:cNvPr id="3" name="Text 1"/>
          <p:cNvSpPr/>
          <p:nvPr/>
        </p:nvSpPr>
        <p:spPr>
          <a:xfrm>
            <a:off x="812785" y="1280068"/>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Ảnh số là một mảng số</a:t>
            </a:r>
            <a:endParaRPr lang="en-US" sz="3200" dirty="0"/>
          </a:p>
        </p:txBody>
      </p:sp>
      <p:sp>
        <p:nvSpPr>
          <p:cNvPr id="4" name="Text 2"/>
          <p:cNvSpPr/>
          <p:nvPr/>
        </p:nvSpPr>
        <p:spPr>
          <a:xfrm>
            <a:off x="812785" y="2001354"/>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Bước 2 chỉ </a:t>
            </a:r>
            <a:r>
              <a:rPr lang="en-US" sz="1500" dirty="0" err="1">
                <a:solidFill>
                  <a:srgbClr val="4A5A60"/>
                </a:solidFill>
                <a:latin typeface="IBM Plex Sans" pitchFamily="34" charset="0"/>
                <a:ea typeface="IBM Plex Sans" pitchFamily="34" charset="-122"/>
                <a:cs typeface="IBM Plex Sans" pitchFamily="34" charset="-120"/>
              </a:rPr>
              <a:t>đọc</a:t>
            </a:r>
            <a:r>
              <a:rPr lang="en-US" sz="1500" dirty="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ảnh</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dưới</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dạng</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một</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a:solidFill>
                  <a:srgbClr val="4A5A60"/>
                </a:solidFill>
                <a:latin typeface="IBM Plex Sans" pitchFamily="34" charset="0"/>
                <a:ea typeface="IBM Plex Sans" pitchFamily="34" charset="-122"/>
                <a:cs typeface="IBM Plex Sans" pitchFamily="34" charset="-120"/>
              </a:rPr>
              <a:t>mảng số, với một hệ toạ độ riêng của nó.</a:t>
            </a:r>
            <a:endParaRPr lang="en-US" sz="1500" dirty="0"/>
          </a:p>
        </p:txBody>
      </p:sp>
      <p:sp>
        <p:nvSpPr>
          <p:cNvPr id="5" name="Shape 3"/>
          <p:cNvSpPr/>
          <p:nvPr/>
        </p:nvSpPr>
        <p:spPr>
          <a:xfrm>
            <a:off x="815960" y="2525095"/>
            <a:ext cx="5175221" cy="1958402"/>
          </a:xfrm>
          <a:prstGeom prst="roundRect">
            <a:avLst>
              <a:gd name="adj" fmla="val 5026"/>
            </a:avLst>
          </a:prstGeom>
          <a:solidFill>
            <a:srgbClr val="FDFDFC"/>
          </a:solidFill>
          <a:ln w="6350">
            <a:solidFill>
              <a:srgbClr val="DCE3E1"/>
            </a:solidFill>
            <a:prstDash val="solid"/>
          </a:ln>
        </p:spPr>
      </p:sp>
      <p:sp>
        <p:nvSpPr>
          <p:cNvPr id="6" name="Text 4"/>
          <p:cNvSpPr/>
          <p:nvPr/>
        </p:nvSpPr>
        <p:spPr>
          <a:xfrm>
            <a:off x="1071416" y="2780550"/>
            <a:ext cx="4804240"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Mảng số</a:t>
            </a:r>
            <a:endParaRPr lang="en-US" sz="2000" dirty="0"/>
          </a:p>
        </p:txBody>
      </p:sp>
      <p:sp>
        <p:nvSpPr>
          <p:cNvPr id="7" name="Text 5"/>
          <p:cNvSpPr/>
          <p:nvPr/>
        </p:nvSpPr>
        <p:spPr>
          <a:xfrm>
            <a:off x="1071416" y="3161478"/>
            <a:ext cx="4804240"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Một frame màu là mảng ba chiều dạng (cao, rộng, 3): mỗi ô là độ sáng của một kênh màu tại một điểm ảnh, giá trị từ 0 đến 255. Ảnh 640×480 cho mảng (480, 640, 3) — chiều cao đứng trước chiều rộng.</a:t>
            </a:r>
            <a:endParaRPr lang="en-US" sz="1500" dirty="0"/>
          </a:p>
        </p:txBody>
      </p:sp>
      <p:sp>
        <p:nvSpPr>
          <p:cNvPr id="8" name="Shape 6"/>
          <p:cNvSpPr/>
          <p:nvPr/>
        </p:nvSpPr>
        <p:spPr>
          <a:xfrm>
            <a:off x="6200673" y="2525095"/>
            <a:ext cx="5175295" cy="1958402"/>
          </a:xfrm>
          <a:prstGeom prst="roundRect">
            <a:avLst>
              <a:gd name="adj" fmla="val 5026"/>
            </a:avLst>
          </a:prstGeom>
          <a:solidFill>
            <a:srgbClr val="FDFDFC"/>
          </a:solidFill>
          <a:ln w="6350">
            <a:solidFill>
              <a:srgbClr val="DCE3E1"/>
            </a:solidFill>
            <a:prstDash val="solid"/>
          </a:ln>
        </p:spPr>
      </p:sp>
      <p:sp>
        <p:nvSpPr>
          <p:cNvPr id="9" name="Text 7"/>
          <p:cNvSpPr/>
          <p:nvPr/>
        </p:nvSpPr>
        <p:spPr>
          <a:xfrm>
            <a:off x="6456128" y="2780550"/>
            <a:ext cx="4804316"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Hệ toạ độ</a:t>
            </a:r>
            <a:endParaRPr lang="en-US" sz="2000" dirty="0"/>
          </a:p>
        </p:txBody>
      </p:sp>
      <p:sp>
        <p:nvSpPr>
          <p:cNvPr id="10" name="Text 8"/>
          <p:cNvSpPr/>
          <p:nvPr/>
        </p:nvSpPr>
        <p:spPr>
          <a:xfrm>
            <a:off x="6456128" y="3161478"/>
            <a:ext cx="4804316"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Gốc ở góc trên trái, trục ngang chạy sang phải, trục dọc chạy xuống dưới — ngược chiều dọc so với đồ thị toán học quen dùng. Mọi toạ độ điểm mốc về sau đều hiểu theo hệ này.</a:t>
            </a:r>
            <a:endParaRPr lang="en-US" sz="1500" dirty="0"/>
          </a:p>
        </p:txBody>
      </p:sp>
      <p:sp>
        <p:nvSpPr>
          <p:cNvPr id="12" name="Text 10"/>
          <p:cNvSpPr/>
          <p:nvPr/>
        </p:nvSpPr>
        <p:spPr>
          <a:xfrm>
            <a:off x="812785" y="6238215"/>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2 · ĐƯA ẢNH VÀO PIPELINE</a:t>
            </a:r>
            <a:endParaRPr lang="en-US" sz="1200" dirty="0"/>
          </a:p>
        </p:txBody>
      </p:sp>
      <p:sp>
        <p:nvSpPr>
          <p:cNvPr id="3" name="Text 1"/>
          <p:cNvSpPr/>
          <p:nvPr/>
        </p:nvSpPr>
        <p:spPr>
          <a:xfrm>
            <a:off x="812785" y="1280071"/>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Tốc </a:t>
            </a:r>
            <a:r>
              <a:rPr lang="en-US" sz="3200" b="1" dirty="0" err="1">
                <a:solidFill>
                  <a:srgbClr val="11242C"/>
                </a:solidFill>
                <a:latin typeface="IBM Plex Sans" pitchFamily="34" charset="0"/>
                <a:ea typeface="IBM Plex Sans" pitchFamily="34" charset="-122"/>
                <a:cs typeface="IBM Plex Sans" pitchFamily="34" charset="-120"/>
              </a:rPr>
              <a:t>độ</a:t>
            </a:r>
            <a:r>
              <a:rPr lang="en-US" sz="3200" b="1" dirty="0">
                <a:solidFill>
                  <a:srgbClr val="11242C"/>
                </a:solidFill>
                <a:latin typeface="IBM Plex Sans" pitchFamily="34" charset="0"/>
                <a:ea typeface="IBM Plex Sans" pitchFamily="34" charset="-122"/>
                <a:cs typeface="IBM Plex Sans" pitchFamily="34" charset="-120"/>
              </a:rPr>
              <a:t> </a:t>
            </a:r>
            <a:r>
              <a:rPr lang="en-US" sz="3200" b="1" dirty="0" err="1" smtClean="0">
                <a:solidFill>
                  <a:srgbClr val="11242C"/>
                </a:solidFill>
                <a:latin typeface="IBM Plex Sans" pitchFamily="34" charset="0"/>
                <a:ea typeface="IBM Plex Sans" pitchFamily="34" charset="-122"/>
                <a:cs typeface="IBM Plex Sans" pitchFamily="34" charset="-120"/>
              </a:rPr>
              <a:t>khung</a:t>
            </a:r>
            <a:r>
              <a:rPr lang="en-US" sz="3200" b="1" dirty="0" smtClean="0">
                <a:solidFill>
                  <a:srgbClr val="11242C"/>
                </a:solidFill>
                <a:latin typeface="IBM Plex Sans" pitchFamily="34" charset="0"/>
                <a:ea typeface="IBM Plex Sans" pitchFamily="34" charset="-122"/>
                <a:cs typeface="IBM Plex Sans" pitchFamily="34" charset="-120"/>
              </a:rPr>
              <a:t> </a:t>
            </a:r>
            <a:r>
              <a:rPr lang="en-US" sz="3200" b="1" dirty="0" err="1" smtClean="0">
                <a:solidFill>
                  <a:srgbClr val="11242C"/>
                </a:solidFill>
                <a:latin typeface="IBM Plex Sans" pitchFamily="34" charset="0"/>
                <a:ea typeface="IBM Plex Sans" pitchFamily="34" charset="-122"/>
                <a:cs typeface="IBM Plex Sans" pitchFamily="34" charset="-120"/>
              </a:rPr>
              <a:t>hình</a:t>
            </a:r>
            <a:r>
              <a:rPr lang="en-US" sz="3200" b="1" dirty="0" smtClean="0">
                <a:solidFill>
                  <a:srgbClr val="11242C"/>
                </a:solidFill>
                <a:latin typeface="IBM Plex Sans" pitchFamily="34" charset="0"/>
                <a:ea typeface="IBM Plex Sans" pitchFamily="34" charset="-122"/>
                <a:cs typeface="IBM Plex Sans" pitchFamily="34" charset="-120"/>
              </a:rPr>
              <a:t> </a:t>
            </a:r>
            <a:r>
              <a:rPr lang="en-US" sz="3200" b="1" dirty="0">
                <a:solidFill>
                  <a:srgbClr val="11242C"/>
                </a:solidFill>
                <a:latin typeface="IBM Plex Sans" pitchFamily="34" charset="0"/>
                <a:ea typeface="IBM Plex Sans" pitchFamily="34" charset="-122"/>
                <a:cs typeface="IBM Plex Sans" pitchFamily="34" charset="-120"/>
              </a:rPr>
              <a:t>không cố định</a:t>
            </a:r>
            <a:endParaRPr lang="en-US" sz="3200" dirty="0"/>
          </a:p>
        </p:txBody>
      </p:sp>
      <p:sp>
        <p:nvSpPr>
          <p:cNvPr id="4" name="Text 2"/>
          <p:cNvSpPr/>
          <p:nvPr/>
        </p:nvSpPr>
        <p:spPr>
          <a:xfrm>
            <a:off x="812785" y="2001354"/>
            <a:ext cx="10883348" cy="55868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Camera </a:t>
            </a:r>
            <a:r>
              <a:rPr lang="en-US" sz="1500" dirty="0" err="1">
                <a:solidFill>
                  <a:srgbClr val="4A5A60"/>
                </a:solidFill>
                <a:latin typeface="IBM Plex Sans" pitchFamily="34" charset="0"/>
                <a:ea typeface="IBM Plex Sans" pitchFamily="34" charset="-122"/>
                <a:cs typeface="IBM Plex Sans" pitchFamily="34" charset="-120"/>
              </a:rPr>
              <a:t>không</a:t>
            </a:r>
            <a:r>
              <a:rPr lang="en-US" sz="1500" dirty="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cho</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ra</a:t>
            </a:r>
            <a:r>
              <a:rPr lang="en-US" sz="1500" dirty="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các</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a:solidFill>
                  <a:srgbClr val="4A5A60"/>
                </a:solidFill>
                <a:latin typeface="IBM Plex Sans" pitchFamily="34" charset="0"/>
                <a:ea typeface="IBM Plex Sans" pitchFamily="34" charset="-122"/>
                <a:cs typeface="IBM Plex Sans" pitchFamily="34" charset="-120"/>
              </a:rPr>
              <a:t>frame đều đặn. </a:t>
            </a:r>
            <a:endParaRPr lang="en-US" sz="1500" dirty="0"/>
          </a:p>
        </p:txBody>
      </p:sp>
      <p:sp>
        <p:nvSpPr>
          <p:cNvPr id="5" name="Shape 3"/>
          <p:cNvSpPr/>
          <p:nvPr/>
        </p:nvSpPr>
        <p:spPr>
          <a:xfrm>
            <a:off x="6127935" y="2435034"/>
            <a:ext cx="5175221" cy="2839093"/>
          </a:xfrm>
          <a:prstGeom prst="roundRect">
            <a:avLst>
              <a:gd name="adj" fmla="val 5026"/>
            </a:avLst>
          </a:prstGeom>
          <a:solidFill>
            <a:srgbClr val="FDFDFC"/>
          </a:solidFill>
          <a:ln w="6350">
            <a:solidFill>
              <a:srgbClr val="DCE3E1"/>
            </a:solidFill>
            <a:prstDash val="solid"/>
          </a:ln>
        </p:spPr>
      </p:sp>
      <p:sp>
        <p:nvSpPr>
          <p:cNvPr id="6" name="Text 4"/>
          <p:cNvSpPr/>
          <p:nvPr/>
        </p:nvSpPr>
        <p:spPr>
          <a:xfrm>
            <a:off x="6383391" y="2623469"/>
            <a:ext cx="4804240" cy="330185"/>
          </a:xfrm>
          <a:prstGeom prst="rect">
            <a:avLst/>
          </a:prstGeom>
          <a:noFill/>
          <a:ln/>
        </p:spPr>
        <p:txBody>
          <a:bodyPr wrap="square" lIns="0" tIns="0" rIns="0" bIns="0" rtlCol="0" anchor="t">
            <a:normAutofit/>
          </a:bodyPr>
          <a:lstStyle/>
          <a:p>
            <a:pPr marL="0" indent="0" algn="l">
              <a:lnSpc>
                <a:spcPts val="2400"/>
              </a:lnSpc>
              <a:buNone/>
            </a:pPr>
            <a:r>
              <a:rPr lang="en-US" sz="2000" b="1" dirty="0" err="1" smtClean="0">
                <a:solidFill>
                  <a:srgbClr val="17706A"/>
                </a:solidFill>
                <a:latin typeface="IBM Plex Sans" pitchFamily="34" charset="0"/>
                <a:ea typeface="IBM Plex Sans" pitchFamily="34" charset="-122"/>
              </a:rPr>
              <a:t>Đính</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kèm</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mốc</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thời</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gian</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cho</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mỗi</a:t>
            </a:r>
            <a:r>
              <a:rPr lang="en-US" sz="2000" b="1" dirty="0" smtClean="0">
                <a:solidFill>
                  <a:srgbClr val="17706A"/>
                </a:solidFill>
                <a:latin typeface="IBM Plex Sans" pitchFamily="34" charset="0"/>
                <a:ea typeface="IBM Plex Sans" pitchFamily="34" charset="-122"/>
              </a:rPr>
              <a:t> frame</a:t>
            </a:r>
            <a:endParaRPr lang="en-US" sz="2000" dirty="0"/>
          </a:p>
        </p:txBody>
      </p:sp>
      <p:sp>
        <p:nvSpPr>
          <p:cNvPr id="7" name="Text 5"/>
          <p:cNvSpPr/>
          <p:nvPr/>
        </p:nvSpPr>
        <p:spPr>
          <a:xfrm>
            <a:off x="6383390" y="3061988"/>
            <a:ext cx="4804240" cy="2008033"/>
          </a:xfrm>
          <a:prstGeom prst="rect">
            <a:avLst/>
          </a:prstGeom>
          <a:noFill/>
          <a:ln/>
        </p:spPr>
        <p:txBody>
          <a:bodyPr wrap="square" lIns="0" tIns="0" rIns="0" bIns="0" rtlCol="0" anchor="t">
            <a:normAutofit/>
          </a:bodyPr>
          <a:lstStyle/>
          <a:p>
            <a:pPr marL="285750" indent="-285750" algn="l">
              <a:lnSpc>
                <a:spcPts val="2100"/>
              </a:lnSpc>
              <a:buFontTx/>
              <a:buChar char="-"/>
            </a:pPr>
            <a:r>
              <a:rPr lang="en-US" sz="1500" dirty="0" err="1" smtClean="0">
                <a:solidFill>
                  <a:srgbClr val="4A5A60"/>
                </a:solidFill>
                <a:latin typeface="IBM Plex Sans" pitchFamily="34" charset="0"/>
                <a:ea typeface="IBM Plex Sans" pitchFamily="34" charset="-122"/>
                <a:cs typeface="IBM Plex Sans" pitchFamily="34" charset="-120"/>
              </a:rPr>
              <a:t>Khoảng</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a:solidFill>
                  <a:srgbClr val="4A5A60"/>
                </a:solidFill>
                <a:latin typeface="IBM Plex Sans" pitchFamily="34" charset="0"/>
                <a:ea typeface="IBM Plex Sans" pitchFamily="34" charset="-122"/>
                <a:cs typeface="IBM Plex Sans" pitchFamily="34" charset="-120"/>
              </a:rPr>
              <a:t>cách thật giữa hai frame chỉ biết được đúng lúc đọc frame ra khỏi camera. Sau đó thì không khôi phục được, vì ảnh lưu lại không mang theo thời điểm nó được </a:t>
            </a:r>
            <a:r>
              <a:rPr lang="en-US" sz="1500" dirty="0" err="1">
                <a:solidFill>
                  <a:srgbClr val="4A5A60"/>
                </a:solidFill>
                <a:latin typeface="IBM Plex Sans" pitchFamily="34" charset="0"/>
                <a:ea typeface="IBM Plex Sans" pitchFamily="34" charset="-122"/>
                <a:cs typeface="IBM Plex Sans" pitchFamily="34" charset="-120"/>
              </a:rPr>
              <a:t>chụp</a:t>
            </a:r>
            <a:r>
              <a:rPr lang="en-US" sz="1500" dirty="0" smtClean="0">
                <a:solidFill>
                  <a:srgbClr val="4A5A60"/>
                </a:solidFill>
                <a:latin typeface="IBM Plex Sans" pitchFamily="34" charset="0"/>
                <a:ea typeface="IBM Plex Sans" pitchFamily="34" charset="-122"/>
                <a:cs typeface="IBM Plex Sans" pitchFamily="34" charset="-120"/>
              </a:rPr>
              <a:t>.</a:t>
            </a:r>
            <a:endParaRPr lang="en-US" sz="1500" dirty="0" smtClean="0">
              <a:solidFill>
                <a:srgbClr val="4A5A60"/>
              </a:solidFill>
              <a:latin typeface="IBM Plex Sans" pitchFamily="34" charset="0"/>
              <a:ea typeface="IBM Plex Sans" pitchFamily="34" charset="-122"/>
            </a:endParaRPr>
          </a:p>
          <a:p>
            <a:pPr marL="285750" indent="-285750" algn="l">
              <a:lnSpc>
                <a:spcPts val="2100"/>
              </a:lnSpc>
              <a:buFontTx/>
              <a:buChar char="-"/>
            </a:pPr>
            <a:r>
              <a:rPr lang="en-US" sz="1500" dirty="0" err="1" smtClean="0">
                <a:solidFill>
                  <a:srgbClr val="4A5A60"/>
                </a:solidFill>
                <a:latin typeface="IBM Plex Sans" pitchFamily="34" charset="0"/>
                <a:ea typeface="IBM Plex Sans" pitchFamily="34" charset="-122"/>
                <a:cs typeface="IBM Plex Sans" pitchFamily="34" charset="-120"/>
              </a:rPr>
              <a:t>Mục</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đích</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cuối</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cùng</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là</a:t>
            </a:r>
            <a:r>
              <a:rPr lang="en-US" sz="1500" dirty="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dùng</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dữ</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liệu</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cho</a:t>
            </a:r>
            <a:r>
              <a:rPr lang="en-US" sz="1500" dirty="0" smtClean="0">
                <a:solidFill>
                  <a:srgbClr val="4A5A60"/>
                </a:solidFill>
                <a:latin typeface="IBM Plex Sans" pitchFamily="34" charset="0"/>
                <a:ea typeface="IBM Plex Sans" pitchFamily="34" charset="-122"/>
                <a:cs typeface="IBM Plex Sans" pitchFamily="34" charset="-120"/>
              </a:rPr>
              <a:t> phase </a:t>
            </a:r>
            <a:r>
              <a:rPr lang="en-US" sz="1500" dirty="0" err="1" smtClean="0">
                <a:solidFill>
                  <a:srgbClr val="4A5A60"/>
                </a:solidFill>
                <a:latin typeface="IBM Plex Sans" pitchFamily="34" charset="0"/>
                <a:ea typeface="IBM Plex Sans" pitchFamily="34" charset="-122"/>
                <a:cs typeface="IBM Plex Sans" pitchFamily="34" charset="-120"/>
              </a:rPr>
              <a:t>sau</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biến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dữ</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liệu</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từ</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một</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chuỗi</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dãy</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hình</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ảnh</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thành</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một</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chuyển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động</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trên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trục</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thời</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gian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err="1" smtClean="0">
                <a:solidFill>
                  <a:srgbClr val="4A5A60"/>
                </a:solidFill>
                <a:latin typeface="IBM Plex Sans" pitchFamily="34" charset="0"/>
                <a:ea typeface="IBM Plex Sans" pitchFamily="34" charset="-122"/>
                <a:cs typeface="IBM Plex Sans" pitchFamily="34" charset="-120"/>
              </a:rPr>
              <a:t>thực</a:t>
            </a:r>
            <a:r>
              <a:rPr lang="en-US" sz="1500" dirty="0" smtClean="0">
                <a:solidFill>
                  <a:srgbClr val="4A5A60"/>
                </a:solidFill>
                <a:latin typeface="IBM Plex Sans" pitchFamily="34" charset="0"/>
                <a:ea typeface="IBM Plex Sans" pitchFamily="34" charset="-122"/>
                <a:cs typeface="IBM Plex Sans" pitchFamily="34" charset="-120"/>
              </a:rPr>
              <a:t>.</a:t>
            </a:r>
          </a:p>
        </p:txBody>
      </p:sp>
      <p:sp>
        <p:nvSpPr>
          <p:cNvPr id="8" name="Shape 6"/>
          <p:cNvSpPr/>
          <p:nvPr/>
        </p:nvSpPr>
        <p:spPr>
          <a:xfrm>
            <a:off x="812785" y="2435035"/>
            <a:ext cx="5175295" cy="2839093"/>
          </a:xfrm>
          <a:prstGeom prst="roundRect">
            <a:avLst>
              <a:gd name="adj" fmla="val 5026"/>
            </a:avLst>
          </a:prstGeom>
          <a:solidFill>
            <a:srgbClr val="FDFDFC"/>
          </a:solidFill>
          <a:ln w="6350">
            <a:solidFill>
              <a:srgbClr val="DCE3E1"/>
            </a:solidFill>
            <a:prstDash val="solid"/>
          </a:ln>
        </p:spPr>
      </p:sp>
      <p:sp>
        <p:nvSpPr>
          <p:cNvPr id="9" name="Text 7"/>
          <p:cNvSpPr/>
          <p:nvPr/>
        </p:nvSpPr>
        <p:spPr>
          <a:xfrm>
            <a:off x="1068240" y="2571822"/>
            <a:ext cx="4804316" cy="330185"/>
          </a:xfrm>
          <a:prstGeom prst="rect">
            <a:avLst/>
          </a:prstGeom>
          <a:noFill/>
          <a:ln/>
        </p:spPr>
        <p:txBody>
          <a:bodyPr wrap="square" lIns="0" tIns="0" rIns="0" bIns="0" rtlCol="0" anchor="t">
            <a:normAutofit/>
          </a:bodyPr>
          <a:lstStyle/>
          <a:p>
            <a:pPr marL="0" indent="0" algn="l">
              <a:lnSpc>
                <a:spcPts val="2400"/>
              </a:lnSpc>
              <a:buNone/>
            </a:pPr>
            <a:r>
              <a:rPr lang="en-US" sz="2000" b="1" dirty="0" err="1" smtClean="0">
                <a:solidFill>
                  <a:srgbClr val="17706A"/>
                </a:solidFill>
                <a:latin typeface="IBM Plex Sans" pitchFamily="34" charset="0"/>
                <a:ea typeface="IBM Plex Sans" pitchFamily="34" charset="-122"/>
              </a:rPr>
              <a:t>Nguyên</a:t>
            </a:r>
            <a:r>
              <a:rPr lang="en-US" sz="2000" b="1" dirty="0" smtClean="0">
                <a:solidFill>
                  <a:srgbClr val="17706A"/>
                </a:solidFill>
                <a:latin typeface="IBM Plex Sans" pitchFamily="34" charset="0"/>
                <a:ea typeface="IBM Plex Sans" pitchFamily="34" charset="-122"/>
              </a:rPr>
              <a:t> </a:t>
            </a:r>
            <a:r>
              <a:rPr lang="en-US" sz="2000" b="1" dirty="0" err="1" smtClean="0">
                <a:solidFill>
                  <a:srgbClr val="17706A"/>
                </a:solidFill>
                <a:latin typeface="IBM Plex Sans" pitchFamily="34" charset="0"/>
                <a:ea typeface="IBM Plex Sans" pitchFamily="34" charset="-122"/>
              </a:rPr>
              <a:t>nhân</a:t>
            </a:r>
            <a:endParaRPr lang="en-US" sz="2000" dirty="0"/>
          </a:p>
        </p:txBody>
      </p:sp>
      <p:sp>
        <p:nvSpPr>
          <p:cNvPr id="10" name="Text 8"/>
          <p:cNvSpPr/>
          <p:nvPr/>
        </p:nvSpPr>
        <p:spPr>
          <a:xfrm>
            <a:off x="1068240" y="3414315"/>
            <a:ext cx="4804316" cy="1091965"/>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
        <p:nvSpPr>
          <p:cNvPr id="12" name="Text 10"/>
          <p:cNvSpPr/>
          <p:nvPr/>
        </p:nvSpPr>
        <p:spPr>
          <a:xfrm>
            <a:off x="812785" y="6238215"/>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2</a:t>
            </a:r>
            <a:endParaRPr lang="en-US" sz="1200" dirty="0"/>
          </a:p>
        </p:txBody>
      </p:sp>
      <p:sp>
        <p:nvSpPr>
          <p:cNvPr id="13" name="Text 5"/>
          <p:cNvSpPr/>
          <p:nvPr/>
        </p:nvSpPr>
        <p:spPr>
          <a:xfrm>
            <a:off x="1068240" y="3061988"/>
            <a:ext cx="4804240" cy="1945390"/>
          </a:xfrm>
          <a:prstGeom prst="rect">
            <a:avLst/>
          </a:prstGeom>
          <a:noFill/>
          <a:ln/>
        </p:spPr>
        <p:txBody>
          <a:bodyPr wrap="square" lIns="0" tIns="0" rIns="0" bIns="0" rtlCol="0" anchor="t">
            <a:noAutofit/>
          </a:bodyPr>
          <a:lstStyle/>
          <a:p>
            <a:pPr marL="285750" indent="-285750">
              <a:lnSpc>
                <a:spcPts val="2100"/>
              </a:lnSpc>
              <a:buFontTx/>
              <a:buChar char="-"/>
            </a:pPr>
            <a:r>
              <a:rPr lang="en-US" sz="1500" dirty="0" err="1" smtClean="0">
                <a:solidFill>
                  <a:srgbClr val="4A5A60"/>
                </a:solidFill>
                <a:latin typeface="IBM Plex Sans"/>
                <a:ea typeface="IBM Plex Sans"/>
              </a:rPr>
              <a:t>Ánh</a:t>
            </a:r>
            <a:r>
              <a:rPr lang="en-US" sz="1500" dirty="0" smtClean="0">
                <a:solidFill>
                  <a:srgbClr val="4A5A60"/>
                </a:solidFill>
                <a:latin typeface="IBM Plex Sans"/>
                <a:ea typeface="IBM Plex Sans"/>
              </a:rPr>
              <a:t> sang: </a:t>
            </a:r>
            <a:r>
              <a:rPr lang="en-US" sz="1500" dirty="0" err="1" smtClean="0">
                <a:solidFill>
                  <a:srgbClr val="4A5A60"/>
                </a:solidFill>
                <a:latin typeface="IBM Plex Sans"/>
                <a:ea typeface="IBM Plex Sans"/>
              </a:rPr>
              <a:t>Ko</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đủ</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nguồn</a:t>
            </a:r>
            <a:r>
              <a:rPr lang="en-US" sz="1500" dirty="0" smtClean="0">
                <a:solidFill>
                  <a:srgbClr val="4A5A60"/>
                </a:solidFill>
                <a:latin typeface="IBM Plex Sans"/>
                <a:ea typeface="IBM Plex Sans"/>
              </a:rPr>
              <a:t> sang </a:t>
            </a:r>
            <a:r>
              <a:rPr lang="en-US" sz="1500" dirty="0" err="1" smtClean="0">
                <a:solidFill>
                  <a:srgbClr val="4A5A60"/>
                </a:solidFill>
                <a:latin typeface="IBM Plex Sans"/>
                <a:ea typeface="IBM Plex Sans"/>
              </a:rPr>
              <a:t>có</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thể</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làm</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giảm</a:t>
            </a:r>
            <a:r>
              <a:rPr lang="en-US" sz="1500" dirty="0">
                <a:solidFill>
                  <a:srgbClr val="4A5A60"/>
                </a:solidFill>
                <a:latin typeface="IBM Plex Sans"/>
                <a:ea typeface="IBM Plex Sans"/>
              </a:rPr>
              <a:t> </a:t>
            </a:r>
            <a:r>
              <a:rPr lang="en-US" sz="1500" dirty="0" err="1" smtClean="0">
                <a:solidFill>
                  <a:srgbClr val="4A5A60"/>
                </a:solidFill>
                <a:latin typeface="IBM Plex Sans"/>
                <a:ea typeface="IBM Plex Sans"/>
              </a:rPr>
              <a:t>số</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khung</a:t>
            </a:r>
            <a:r>
              <a:rPr lang="en-US" sz="1500" dirty="0" smtClean="0">
                <a:solidFill>
                  <a:srgbClr val="4A5A60"/>
                </a:solidFill>
                <a:latin typeface="IBM Plex Sans"/>
                <a:ea typeface="IBM Plex Sans"/>
              </a:rPr>
              <a:t> </a:t>
            </a:r>
            <a:r>
              <a:rPr lang="en-US" sz="1500" dirty="0" err="1" smtClean="0">
                <a:solidFill>
                  <a:srgbClr val="4A5A60"/>
                </a:solidFill>
                <a:latin typeface="IBM Plex Sans"/>
                <a:ea typeface="IBM Plex Sans"/>
              </a:rPr>
              <a:t>hình</a:t>
            </a:r>
            <a:endParaRPr lang="en-US" sz="1500" dirty="0" smtClean="0">
              <a:solidFill>
                <a:srgbClr val="4A5A60"/>
              </a:solidFill>
              <a:latin typeface="IBM Plex Sans"/>
              <a:ea typeface="IBM Plex Sans"/>
            </a:endParaRPr>
          </a:p>
          <a:p>
            <a:pPr marL="285750" indent="-285750">
              <a:lnSpc>
                <a:spcPts val="2100"/>
              </a:lnSpc>
              <a:buFontTx/>
              <a:buChar char="-"/>
            </a:pPr>
            <a:endParaRPr lang="en-US" sz="1500" dirty="0" smtClean="0">
              <a:solidFill>
                <a:srgbClr val="4A5A60"/>
              </a:solidFill>
              <a:latin typeface="IBM Plex Sans"/>
              <a:ea typeface="IBM Plex Sans"/>
            </a:endParaRPr>
          </a:p>
          <a:p>
            <a:pPr marL="285750" indent="-285750">
              <a:lnSpc>
                <a:spcPts val="2100"/>
              </a:lnSpc>
              <a:buFontTx/>
              <a:buChar char="-"/>
            </a:pPr>
            <a:r>
              <a:rPr lang="en-US" sz="1500" dirty="0" err="1" smtClean="0">
                <a:solidFill>
                  <a:srgbClr val="4A5A60"/>
                </a:solidFill>
                <a:latin typeface="IBM Plex Sans"/>
                <a:ea typeface="IBM Plex Sans"/>
                <a:cs typeface="Times New Roman" panose="02020603050405020304" pitchFamily="18" charset="0"/>
              </a:rPr>
              <a:t>Bản</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thân</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của</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mô</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hình</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Bình</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thường</a:t>
            </a:r>
            <a:r>
              <a:rPr lang="en-US" sz="1500" dirty="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bám</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theo</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vị</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trí</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tay</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của</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mô</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hình</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trước</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nên</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trong</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trường</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hợp</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bị</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mất</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dấu</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thì</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mô</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hình</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phải</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dò</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lại</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từ</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đầu</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dẫn</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đến</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khung</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hình</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không</a:t>
            </a:r>
            <a:r>
              <a:rPr lang="en-US" sz="1500" dirty="0" smtClean="0">
                <a:solidFill>
                  <a:srgbClr val="4A5A60"/>
                </a:solidFill>
                <a:latin typeface="IBM Plex Sans"/>
                <a:ea typeface="IBM Plex Sans"/>
                <a:cs typeface="Times New Roman" panose="02020603050405020304" pitchFamily="18" charset="0"/>
              </a:rPr>
              <a:t> </a:t>
            </a:r>
            <a:r>
              <a:rPr lang="en-US" sz="1500" dirty="0" err="1" smtClean="0">
                <a:solidFill>
                  <a:srgbClr val="4A5A60"/>
                </a:solidFill>
                <a:latin typeface="IBM Plex Sans"/>
                <a:ea typeface="IBM Plex Sans"/>
                <a:cs typeface="Times New Roman" panose="02020603050405020304" pitchFamily="18" charset="0"/>
              </a:rPr>
              <a:t>đều</a:t>
            </a:r>
            <a:endParaRPr lang="en-US" sz="1500" dirty="0">
              <a:latin typeface="IBM Plex Sans"/>
              <a:ea typeface="IBM Plex Sans"/>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3 · TÌM 21 ĐIỂM MỐC MỖI FRAME</a:t>
            </a:r>
            <a:endParaRPr lang="en-US" sz="1200" dirty="0"/>
          </a:p>
        </p:txBody>
      </p:sp>
      <p:sp>
        <p:nvSpPr>
          <p:cNvPr id="3" name="Text 1"/>
          <p:cNvSpPr/>
          <p:nvPr/>
        </p:nvSpPr>
        <p:spPr>
          <a:xfrm>
            <a:off x="812785" y="1280071"/>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Ba việc trên mỗi frame</a:t>
            </a:r>
            <a:endParaRPr lang="en-US" sz="3200" dirty="0"/>
          </a:p>
        </p:txBody>
      </p:sp>
      <p:sp>
        <p:nvSpPr>
          <p:cNvPr id="4" name="Text 2"/>
          <p:cNvSpPr/>
          <p:nvPr/>
        </p:nvSpPr>
        <p:spPr>
          <a:xfrm>
            <a:off x="812785" y="2001354"/>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Mỗi frame đi qua ba việc, luôn theo đúng thứ tự này, ở cùng một chỗ trong hệ thống.</a:t>
            </a:r>
            <a:endParaRPr lang="en-US" sz="1500" dirty="0"/>
          </a:p>
        </p:txBody>
      </p:sp>
      <p:sp>
        <p:nvSpPr>
          <p:cNvPr id="5" name="Shape 3"/>
          <p:cNvSpPr/>
          <p:nvPr/>
        </p:nvSpPr>
        <p:spPr>
          <a:xfrm>
            <a:off x="815960" y="2525095"/>
            <a:ext cx="3380317" cy="2116858"/>
          </a:xfrm>
          <a:prstGeom prst="roundRect">
            <a:avLst>
              <a:gd name="adj" fmla="val 4650"/>
            </a:avLst>
          </a:prstGeom>
          <a:solidFill>
            <a:srgbClr val="FDFDFC"/>
          </a:solidFill>
          <a:ln w="6350">
            <a:solidFill>
              <a:srgbClr val="DCE3E1"/>
            </a:solidFill>
            <a:prstDash val="solid"/>
          </a:ln>
        </p:spPr>
      </p:sp>
      <p:sp>
        <p:nvSpPr>
          <p:cNvPr id="6" name="Text 4"/>
          <p:cNvSpPr/>
          <p:nvPr/>
        </p:nvSpPr>
        <p:spPr>
          <a:xfrm>
            <a:off x="1071416" y="2780550"/>
            <a:ext cx="2955489"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706A"/>
                </a:solidFill>
                <a:latin typeface="IBM Plex Sans" pitchFamily="34" charset="0"/>
                <a:ea typeface="IBM Plex Sans" pitchFamily="34" charset="-122"/>
                <a:cs typeface="IBM Plex Sans" pitchFamily="34" charset="-120"/>
              </a:rPr>
              <a:t>01</a:t>
            </a:r>
            <a:endParaRPr lang="en-US" sz="1400" dirty="0"/>
          </a:p>
        </p:txBody>
      </p:sp>
      <p:sp>
        <p:nvSpPr>
          <p:cNvPr id="7" name="Text 5"/>
          <p:cNvSpPr/>
          <p:nvPr/>
        </p:nvSpPr>
        <p:spPr>
          <a:xfrm>
            <a:off x="1071416" y="3105547"/>
            <a:ext cx="2955489" cy="273006"/>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242C"/>
                </a:solidFill>
                <a:latin typeface="IBM Plex Sans" pitchFamily="34" charset="0"/>
                <a:ea typeface="IBM Plex Sans" pitchFamily="34" charset="-122"/>
                <a:cs typeface="IBM Plex Sans" pitchFamily="34" charset="-120"/>
              </a:rPr>
              <a:t>Chuẩn hoá ảnh vào</a:t>
            </a:r>
            <a:endParaRPr lang="en-US" sz="1500" dirty="0"/>
          </a:p>
        </p:txBody>
      </p:sp>
      <p:sp>
        <p:nvSpPr>
          <p:cNvPr id="8" name="Text 6"/>
          <p:cNvSpPr/>
          <p:nvPr/>
        </p:nvSpPr>
        <p:spPr>
          <a:xfrm>
            <a:off x="1071416" y="3429295"/>
            <a:ext cx="2955489" cy="98260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0"/>
                </a:solidFill>
                <a:latin typeface="IBM Plex Sans" pitchFamily="34" charset="0"/>
                <a:ea typeface="IBM Plex Sans" pitchFamily="34" charset="-122"/>
                <a:cs typeface="IBM Plex Sans" pitchFamily="34" charset="-120"/>
              </a:rPr>
              <a:t>Đổi thứ tự kênh màu cho khớp với dữ liệu mà mô hình đã học, và giữ nguyên ảnh — không lật gương, đúng quy ước của dữ liệu huấn luyện.</a:t>
            </a:r>
            <a:endParaRPr lang="en-US" sz="1300" dirty="0"/>
          </a:p>
        </p:txBody>
      </p:sp>
      <p:sp>
        <p:nvSpPr>
          <p:cNvPr id="9" name="Shape 7"/>
          <p:cNvSpPr/>
          <p:nvPr/>
        </p:nvSpPr>
        <p:spPr>
          <a:xfrm>
            <a:off x="4405769" y="2525095"/>
            <a:ext cx="3380391" cy="2116858"/>
          </a:xfrm>
          <a:prstGeom prst="roundRect">
            <a:avLst>
              <a:gd name="adj" fmla="val 4650"/>
            </a:avLst>
          </a:prstGeom>
          <a:solidFill>
            <a:srgbClr val="FDFDFC"/>
          </a:solidFill>
          <a:ln w="6350">
            <a:solidFill>
              <a:srgbClr val="DCE3E1"/>
            </a:solidFill>
            <a:prstDash val="solid"/>
          </a:ln>
        </p:spPr>
      </p:sp>
      <p:sp>
        <p:nvSpPr>
          <p:cNvPr id="10" name="Text 8"/>
          <p:cNvSpPr/>
          <p:nvPr/>
        </p:nvSpPr>
        <p:spPr>
          <a:xfrm>
            <a:off x="4661224" y="2780550"/>
            <a:ext cx="2955564"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706A"/>
                </a:solidFill>
                <a:latin typeface="IBM Plex Sans" pitchFamily="34" charset="0"/>
                <a:ea typeface="IBM Plex Sans" pitchFamily="34" charset="-122"/>
                <a:cs typeface="IBM Plex Sans" pitchFamily="34" charset="-120"/>
              </a:rPr>
              <a:t>02</a:t>
            </a:r>
            <a:endParaRPr lang="en-US" sz="1400" dirty="0"/>
          </a:p>
        </p:txBody>
      </p:sp>
      <p:sp>
        <p:nvSpPr>
          <p:cNvPr id="11" name="Text 9"/>
          <p:cNvSpPr/>
          <p:nvPr/>
        </p:nvSpPr>
        <p:spPr>
          <a:xfrm>
            <a:off x="4661224" y="3105547"/>
            <a:ext cx="2955564" cy="273006"/>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242C"/>
                </a:solidFill>
                <a:latin typeface="IBM Plex Sans" pitchFamily="34" charset="0"/>
                <a:ea typeface="IBM Plex Sans" pitchFamily="34" charset="-122"/>
                <a:cs typeface="IBM Plex Sans" pitchFamily="34" charset="-120"/>
              </a:rPr>
              <a:t>Lấy điểm mốc</a:t>
            </a:r>
            <a:endParaRPr lang="en-US" sz="1500" dirty="0"/>
          </a:p>
        </p:txBody>
      </p:sp>
      <p:sp>
        <p:nvSpPr>
          <p:cNvPr id="12" name="Text 10"/>
          <p:cNvSpPr/>
          <p:nvPr/>
        </p:nvSpPr>
        <p:spPr>
          <a:xfrm>
            <a:off x="4661224" y="3429295"/>
            <a:ext cx="2955564" cy="743303"/>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0"/>
                </a:solidFill>
                <a:latin typeface="IBM Plex Sans" pitchFamily="34" charset="0"/>
                <a:ea typeface="IBM Plex Sans" pitchFamily="34" charset="-122"/>
                <a:cs typeface="IBM Plex Sans" pitchFamily="34" charset="-120"/>
              </a:rPr>
              <a:t>Mô hình trả về 21 điểm mốc của một bàn tay, kèm điểm tin cậy và nhãn tay trái hay tay phải.</a:t>
            </a:r>
            <a:endParaRPr lang="en-US" sz="1300" dirty="0"/>
          </a:p>
        </p:txBody>
      </p:sp>
      <p:sp>
        <p:nvSpPr>
          <p:cNvPr id="13" name="Shape 11"/>
          <p:cNvSpPr/>
          <p:nvPr/>
        </p:nvSpPr>
        <p:spPr>
          <a:xfrm>
            <a:off x="7995651" y="2525095"/>
            <a:ext cx="3380317" cy="2116858"/>
          </a:xfrm>
          <a:prstGeom prst="roundRect">
            <a:avLst>
              <a:gd name="adj" fmla="val 4650"/>
            </a:avLst>
          </a:prstGeom>
          <a:solidFill>
            <a:srgbClr val="FDFDFC"/>
          </a:solidFill>
          <a:ln w="6350">
            <a:solidFill>
              <a:srgbClr val="DCE3E1"/>
            </a:solidFill>
            <a:prstDash val="solid"/>
          </a:ln>
        </p:spPr>
      </p:sp>
      <p:sp>
        <p:nvSpPr>
          <p:cNvPr id="14" name="Text 12"/>
          <p:cNvSpPr/>
          <p:nvPr/>
        </p:nvSpPr>
        <p:spPr>
          <a:xfrm>
            <a:off x="8251106" y="2780550"/>
            <a:ext cx="2955489"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706A"/>
                </a:solidFill>
                <a:latin typeface="IBM Plex Sans" pitchFamily="34" charset="0"/>
                <a:ea typeface="IBM Plex Sans" pitchFamily="34" charset="-122"/>
                <a:cs typeface="IBM Plex Sans" pitchFamily="34" charset="-120"/>
              </a:rPr>
              <a:t>03</a:t>
            </a:r>
            <a:endParaRPr lang="en-US" sz="1400" dirty="0"/>
          </a:p>
        </p:txBody>
      </p:sp>
      <p:sp>
        <p:nvSpPr>
          <p:cNvPr id="15" name="Text 13"/>
          <p:cNvSpPr/>
          <p:nvPr/>
        </p:nvSpPr>
        <p:spPr>
          <a:xfrm>
            <a:off x="8251106" y="3105547"/>
            <a:ext cx="2955489" cy="273006"/>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242C"/>
                </a:solidFill>
                <a:latin typeface="IBM Plex Sans" pitchFamily="34" charset="0"/>
                <a:ea typeface="IBM Plex Sans" pitchFamily="34" charset="-122"/>
                <a:cs typeface="IBM Plex Sans" pitchFamily="34" charset="-120"/>
              </a:rPr>
              <a:t>Xử lý lúc mất tay</a:t>
            </a:r>
            <a:endParaRPr lang="en-US" sz="1500" dirty="0"/>
          </a:p>
        </p:txBody>
      </p:sp>
      <p:sp>
        <p:nvSpPr>
          <p:cNvPr id="16" name="Text 14"/>
          <p:cNvSpPr/>
          <p:nvPr/>
        </p:nvSpPr>
        <p:spPr>
          <a:xfrm>
            <a:off x="8251106" y="3429295"/>
            <a:ext cx="2955489" cy="743303"/>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0"/>
                </a:solidFill>
                <a:latin typeface="IBM Plex Sans" pitchFamily="34" charset="0"/>
                <a:ea typeface="IBM Plex Sans" pitchFamily="34" charset="-122"/>
                <a:cs typeface="IBM Plex Sans" pitchFamily="34" charset="-120"/>
              </a:rPr>
              <a:t>Không thấy tay thì đánh dấu là không có số liệu, tuyệt đối không bỏ frame đó đi.</a:t>
            </a:r>
            <a:endParaRPr lang="en-US" sz="1300" dirty="0"/>
          </a:p>
        </p:txBody>
      </p:sp>
      <p:sp>
        <p:nvSpPr>
          <p:cNvPr id="18" name="Text 16"/>
          <p:cNvSpPr/>
          <p:nvPr/>
        </p:nvSpPr>
        <p:spPr>
          <a:xfrm>
            <a:off x="812785" y="6238211"/>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3 · TÌM 21 ĐIỂM MỐC MỖI FRAME</a:t>
            </a:r>
            <a:endParaRPr lang="en-US" sz="1200" dirty="0"/>
          </a:p>
        </p:txBody>
      </p:sp>
      <p:sp>
        <p:nvSpPr>
          <p:cNvPr id="3" name="Text 1"/>
          <p:cNvSpPr/>
          <p:nvPr/>
        </p:nvSpPr>
        <p:spPr>
          <a:xfrm>
            <a:off x="812785" y="1229283"/>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Hai mươi mốt điểm mốc bàn tay</a:t>
            </a:r>
            <a:endParaRPr lang="en-US" sz="3200" dirty="0"/>
          </a:p>
        </p:txBody>
      </p:sp>
      <p:sp>
        <p:nvSpPr>
          <p:cNvPr id="4" name="Text 2"/>
          <p:cNvSpPr/>
          <p:nvPr/>
        </p:nvSpPr>
        <p:spPr>
          <a:xfrm>
            <a:off x="812785" y="1899785"/>
            <a:ext cx="10883348" cy="55868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Mô hình luôn trả về đúng 21 điểm theo một thứ tự cố định. Chỉ số là vị trí của điểm trong danh sách đó: điểm 8 luôn là đầu ngón trỏ, dù tay trái hay tay phải, dù bàn tay xoay thế nào.</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785" y="2636205"/>
          <a:ext cx="10566357" cy="2492084"/>
        </p:xfrm>
        <a:graphic>
          <a:graphicData uri="http://schemas.openxmlformats.org/drawingml/2006/table">
            <a:tbl>
              <a:tblPr/>
              <a:tblGrid>
                <a:gridCol w="2324599">
                  <a:extLst>
                    <a:ext uri="{9D8B030D-6E8A-4147-A177-3AD203B41FA5}">
                      <a16:colId xmlns:a16="http://schemas.microsoft.com/office/drawing/2014/main" val="20000"/>
                    </a:ext>
                  </a:extLst>
                </a:gridCol>
                <a:gridCol w="1901944">
                  <a:extLst>
                    <a:ext uri="{9D8B030D-6E8A-4147-A177-3AD203B41FA5}">
                      <a16:colId xmlns:a16="http://schemas.microsoft.com/office/drawing/2014/main" val="20001"/>
                    </a:ext>
                  </a:extLst>
                </a:gridCol>
                <a:gridCol w="6339814">
                  <a:extLst>
                    <a:ext uri="{9D8B030D-6E8A-4147-A177-3AD203B41FA5}">
                      <a16:colId xmlns:a16="http://schemas.microsoft.com/office/drawing/2014/main" val="20002"/>
                    </a:ext>
                  </a:extLst>
                </a:gridCol>
              </a:tblGrid>
              <a:tr h="356012">
                <a:tc>
                  <a:txBody>
                    <a:bodyPr/>
                    <a:lstStyle/>
                    <a:p>
                      <a:pPr marL="0" indent="0">
                        <a:lnSpc>
                          <a:spcPts val="1820"/>
                        </a:lnSpc>
                        <a:buNone/>
                      </a:pPr>
                      <a:r>
                        <a:rPr lang="en-US" sz="1300" b="1" dirty="0">
                          <a:solidFill>
                            <a:srgbClr val="11242C"/>
                          </a:solidFill>
                          <a:latin typeface="IBM Plex Sans" pitchFamily="34" charset="0"/>
                          <a:ea typeface="IBM Plex Sans" pitchFamily="34" charset="-122"/>
                          <a:cs typeface="IBM Plex Sans" pitchFamily="34" charset="-120"/>
                        </a:rPr>
                        <a:t>Ngón</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tc>
                  <a:txBody>
                    <a:bodyPr/>
                    <a:lstStyle/>
                    <a:p>
                      <a:pPr marL="0" indent="0">
                        <a:lnSpc>
                          <a:spcPts val="1820"/>
                        </a:lnSpc>
                        <a:buNone/>
                      </a:pPr>
                      <a:r>
                        <a:rPr lang="en-US" sz="1300" b="1" dirty="0">
                          <a:solidFill>
                            <a:srgbClr val="11242C"/>
                          </a:solidFill>
                          <a:latin typeface="IBM Plex Sans" pitchFamily="34" charset="0"/>
                          <a:ea typeface="IBM Plex Sans" pitchFamily="34" charset="-122"/>
                          <a:cs typeface="IBM Plex Sans" pitchFamily="34" charset="-120"/>
                        </a:rPr>
                        <a:t>Chỉ số</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tc>
                  <a:txBody>
                    <a:bodyPr/>
                    <a:lstStyle/>
                    <a:p>
                      <a:pPr marL="0" indent="0">
                        <a:lnSpc>
                          <a:spcPts val="1820"/>
                        </a:lnSpc>
                        <a:buNone/>
                      </a:pPr>
                      <a:r>
                        <a:rPr lang="en-US" sz="1300" b="1" dirty="0">
                          <a:solidFill>
                            <a:srgbClr val="11242C"/>
                          </a:solidFill>
                          <a:latin typeface="IBM Plex Sans" pitchFamily="34" charset="0"/>
                          <a:ea typeface="IBM Plex Sans" pitchFamily="34" charset="-122"/>
                          <a:cs typeface="IBM Plex Sans" pitchFamily="34" charset="-120"/>
                        </a:rPr>
                        <a:t>Vai trò trong đề tài</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extLst>
                  <a:ext uri="{0D108BD9-81ED-4DB2-BD59-A6C34878D82A}">
                    <a16:rowId xmlns:a16="http://schemas.microsoft.com/office/drawing/2014/main" val="10000"/>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Cổ tay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Gốc toạ độ khi chuẩn hoá theo bàn tay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1"/>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Ngón cái</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1 → 4</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Bốn điểm từ gốc ngón ra tới đầu ngón, đầu ngón là điểm 4</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2"/>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Ngón trỏ</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5 → 8</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Đầu ngón trỏ, tức điểm 8, là điểm dùng để đo độ rung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3"/>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Ngón giữa</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9 → 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Đoạn từ điểm 0 tới điểm 9 là đơn vị cỡ lòng bàn tay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4"/>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Ngón nhẫn</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13 → 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Đầu ngón là điểm 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5"/>
                  </a:ext>
                </a:extLst>
              </a:tr>
              <a:tr h="356012">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Ngón út</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17 → 20</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820"/>
                        </a:lnSpc>
                        <a:buNone/>
                      </a:pPr>
                      <a:r>
                        <a:rPr lang="en-US" sz="1300" dirty="0">
                          <a:solidFill>
                            <a:srgbClr val="11242C"/>
                          </a:solidFill>
                          <a:latin typeface="IBM Plex Sans" pitchFamily="34" charset="0"/>
                          <a:ea typeface="IBM Plex Sans" pitchFamily="34" charset="-122"/>
                          <a:cs typeface="IBM Plex Sans" pitchFamily="34" charset="-120"/>
                        </a:rPr>
                        <a:t>Đầu ngón là điểm 20</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785" y="5340840"/>
            <a:ext cx="10883348" cy="4674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D666B"/>
                </a:solidFill>
                <a:latin typeface="IBM Plex Sans" pitchFamily="34" charset="0"/>
                <a:ea typeface="IBM Plex Sans" pitchFamily="34" charset="-122"/>
                <a:cs typeface="IBM Plex Sans" pitchFamily="34" charset="-120"/>
              </a:rPr>
              <a:t>Nhờ thứ tự cố định này, mọi phép tính về sau chỉ cần gọi điểm bằng số: lấy điểm 0 làm gốc, lấy khoảng cách từ điểm 0 tới điểm 9 làm đơn vị đo, và theo dõi điểm 8 để biết mô hình rung tới mức nào.</a:t>
            </a:r>
            <a:endParaRPr lang="en-US" sz="1200" dirty="0"/>
          </a:p>
        </p:txBody>
      </p:sp>
      <p:sp>
        <p:nvSpPr>
          <p:cNvPr id="7" name="Text 4"/>
          <p:cNvSpPr/>
          <p:nvPr/>
        </p:nvSpPr>
        <p:spPr>
          <a:xfrm>
            <a:off x="812785" y="6238218"/>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3 · TÌM 21 ĐIỂM MỐC MỖI FRAME</a:t>
            </a:r>
            <a:endParaRPr lang="en-US" sz="1200" dirty="0"/>
          </a:p>
        </p:txBody>
      </p:sp>
      <p:sp>
        <p:nvSpPr>
          <p:cNvPr id="3" name="Text 1"/>
          <p:cNvSpPr/>
          <p:nvPr/>
        </p:nvSpPr>
        <p:spPr>
          <a:xfrm>
            <a:off x="812785" y="1280065"/>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Bên trong: hai tầng mô hình</a:t>
            </a:r>
            <a:endParaRPr lang="en-US" sz="3200" dirty="0"/>
          </a:p>
        </p:txBody>
      </p:sp>
      <p:sp>
        <p:nvSpPr>
          <p:cNvPr id="4" name="Shape 2"/>
          <p:cNvSpPr/>
          <p:nvPr/>
        </p:nvSpPr>
        <p:spPr>
          <a:xfrm>
            <a:off x="815960" y="2004523"/>
            <a:ext cx="3380317" cy="3187963"/>
          </a:xfrm>
          <a:prstGeom prst="roundRect">
            <a:avLst>
              <a:gd name="adj" fmla="val 3979"/>
            </a:avLst>
          </a:prstGeom>
          <a:solidFill>
            <a:srgbClr val="FDFDFC"/>
          </a:solidFill>
          <a:ln w="6350">
            <a:solidFill>
              <a:srgbClr val="DCE3E1"/>
            </a:solidFill>
            <a:prstDash val="solid"/>
          </a:ln>
        </p:spPr>
      </p:sp>
      <p:sp>
        <p:nvSpPr>
          <p:cNvPr id="5" name="Text 3"/>
          <p:cNvSpPr/>
          <p:nvPr/>
        </p:nvSpPr>
        <p:spPr>
          <a:xfrm>
            <a:off x="1071416" y="2259980"/>
            <a:ext cx="2955489"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E4E1E"/>
                </a:solidFill>
                <a:latin typeface="IBM Plex Sans" pitchFamily="34" charset="0"/>
                <a:ea typeface="IBM Plex Sans" pitchFamily="34" charset="-122"/>
                <a:cs typeface="IBM Plex Sans" pitchFamily="34" charset="-120"/>
              </a:rPr>
              <a:t>Tầng 1</a:t>
            </a:r>
            <a:endParaRPr lang="en-US" sz="1400" dirty="0"/>
          </a:p>
        </p:txBody>
      </p:sp>
      <p:sp>
        <p:nvSpPr>
          <p:cNvPr id="6" name="Text 4"/>
          <p:cNvSpPr/>
          <p:nvPr/>
        </p:nvSpPr>
        <p:spPr>
          <a:xfrm>
            <a:off x="1071416" y="2584977"/>
            <a:ext cx="2955489"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1242C"/>
                </a:solidFill>
                <a:latin typeface="IBM Plex Sans" pitchFamily="34" charset="0"/>
                <a:ea typeface="IBM Plex Sans" pitchFamily="34" charset="-122"/>
                <a:cs typeface="IBM Plex Sans" pitchFamily="34" charset="-120"/>
              </a:rPr>
              <a:t>Tìm vùng có bàn tay</a:t>
            </a:r>
            <a:endParaRPr lang="en-US" sz="1500" dirty="0"/>
          </a:p>
        </p:txBody>
      </p:sp>
      <p:sp>
        <p:nvSpPr>
          <p:cNvPr id="7" name="Text 5"/>
          <p:cNvSpPr/>
          <p:nvPr/>
        </p:nvSpPr>
        <p:spPr>
          <a:xfrm>
            <a:off x="1071416" y="2889690"/>
            <a:ext cx="2955489" cy="2180331"/>
          </a:xfrm>
          <a:prstGeom prst="rect">
            <a:avLst/>
          </a:prstGeom>
          <a:noFill/>
          <a:ln/>
        </p:spPr>
        <p:txBody>
          <a:bodyPr wrap="square" lIns="0" tIns="0" rIns="0" bIns="0" rtlCol="0" anchor="t">
            <a:normAutofit/>
          </a:bodyPr>
          <a:lstStyle/>
          <a:p>
            <a:pPr marL="285750" indent="-285750" algn="l">
              <a:lnSpc>
                <a:spcPts val="2100"/>
              </a:lnSpc>
              <a:buFontTx/>
              <a:buChar char="-"/>
            </a:pPr>
            <a:r>
              <a:rPr lang="en-US" sz="1500" dirty="0" err="1" smtClean="0">
                <a:solidFill>
                  <a:srgbClr val="4A5A60"/>
                </a:solidFill>
                <a:latin typeface="IBM Plex Sans" pitchFamily="34" charset="0"/>
                <a:ea typeface="IBM Plex Sans" pitchFamily="34" charset="-122"/>
              </a:rPr>
              <a:t>Quét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cả</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khung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hình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trả</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về</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khung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chữ</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nhật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bao</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quanh</a:t>
            </a:r>
            <a:r>
              <a:rPr lang="en-US" sz="1500" dirty="0" smtClean="0">
                <a:solidFill>
                  <a:srgbClr val="4A5A60"/>
                </a:solidFill>
                <a:latin typeface="IBM Plex Sans" pitchFamily="34" charset="0"/>
                <a:ea typeface="IBM Plex Sans" pitchFamily="34" charset="-122"/>
              </a:rPr>
              <a:t> long </a:t>
            </a:r>
            <a:r>
              <a:rPr lang="en-US" sz="1500" dirty="0" err="1" smtClean="0">
                <a:solidFill>
                  <a:srgbClr val="4A5A60"/>
                </a:solidFill>
                <a:latin typeface="IBM Plex Sans" pitchFamily="34" charset="0"/>
                <a:ea typeface="IBM Plex Sans" pitchFamily="34" charset="-122"/>
              </a:rPr>
              <a:t>bàn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kèm</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theo</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hướng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nghiêng</a:t>
            </a:r>
            <a:r>
              <a:rPr lang="en-US" sz="1500" dirty="0" smtClean="0">
                <a:solidFill>
                  <a:srgbClr val="4A5A60"/>
                </a:solidFill>
                <a:latin typeface="IBM Plex Sans" pitchFamily="34" charset="0"/>
                <a:ea typeface="IBM Plex Sans" pitchFamily="34" charset="-122"/>
              </a:rPr>
              <a:t>.</a:t>
            </a:r>
          </a:p>
          <a:p>
            <a:pPr marL="285750" indent="-285750" algn="l">
              <a:lnSpc>
                <a:spcPts val="2100"/>
              </a:lnSpc>
              <a:buFontTx/>
              <a:buChar char="-"/>
            </a:pPr>
            <a:r>
              <a:rPr lang="en-US" sz="1500" dirty="0" err="1" smtClean="0">
                <a:solidFill>
                  <a:srgbClr val="4A5A60"/>
                </a:solidFill>
                <a:latin typeface="IBM Plex Sans" pitchFamily="34" charset="0"/>
                <a:ea typeface="IBM Plex Sans" pitchFamily="34" charset="-122"/>
              </a:rPr>
              <a:t>Dò</a:t>
            </a:r>
            <a:r>
              <a:rPr lang="en-US" sz="1500" dirty="0" smtClean="0">
                <a:solidFill>
                  <a:srgbClr val="4A5A60"/>
                </a:solidFill>
                <a:latin typeface="IBM Plex Sans" pitchFamily="34" charset="0"/>
                <a:ea typeface="IBM Plex Sans" pitchFamily="34" charset="-122"/>
              </a:rPr>
              <a:t> long </a:t>
            </a:r>
            <a:r>
              <a:rPr lang="en-US" sz="1500" dirty="0" err="1" smtClean="0">
                <a:solidFill>
                  <a:srgbClr val="4A5A60"/>
                </a:solidFill>
                <a:latin typeface="IBM Plex Sans" pitchFamily="34" charset="0"/>
                <a:ea typeface="IBM Plex Sans" pitchFamily="34" charset="-122"/>
              </a:rPr>
              <a:t>bàn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chứ</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ko</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dò</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cả</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bàn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do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khi</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xòe</a:t>
            </a:r>
            <a:r>
              <a:rPr lang="en-US" sz="1500" dirty="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nắm</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thì</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biến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đổi</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còn</a:t>
            </a:r>
            <a:r>
              <a:rPr lang="en-US" sz="1500" dirty="0" smtClean="0">
                <a:solidFill>
                  <a:srgbClr val="4A5A60"/>
                </a:solidFill>
                <a:latin typeface="IBM Plex Sans" pitchFamily="34" charset="0"/>
                <a:ea typeface="IBM Plex Sans" pitchFamily="34" charset="-122"/>
              </a:rPr>
              <a:t> long </a:t>
            </a:r>
            <a:r>
              <a:rPr lang="en-US" sz="1500" dirty="0" err="1" smtClean="0">
                <a:solidFill>
                  <a:srgbClr val="4A5A60"/>
                </a:solidFill>
                <a:latin typeface="IBM Plex Sans" pitchFamily="34" charset="0"/>
                <a:ea typeface="IBM Plex Sans" pitchFamily="34" charset="-122"/>
              </a:rPr>
              <a:t>bàn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thì</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gần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như</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là</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một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khối</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cố</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định</a:t>
            </a:r>
            <a:endParaRPr lang="en-US" sz="1500" dirty="0" smtClean="0">
              <a:solidFill>
                <a:srgbClr val="4A5A60"/>
              </a:solidFill>
              <a:latin typeface="IBM Plex Sans" pitchFamily="34" charset="0"/>
              <a:ea typeface="IBM Plex Sans" pitchFamily="34" charset="-122"/>
            </a:endParaRPr>
          </a:p>
          <a:p>
            <a:pPr marL="0" indent="0" algn="l">
              <a:lnSpc>
                <a:spcPts val="2100"/>
              </a:lnSpc>
              <a:buNone/>
            </a:pPr>
            <a:endParaRPr lang="en-US" sz="1500" dirty="0" smtClean="0">
              <a:solidFill>
                <a:srgbClr val="4A5A60"/>
              </a:solidFill>
              <a:latin typeface="IBM Plex Sans" pitchFamily="34" charset="0"/>
              <a:ea typeface="IBM Plex Sans" pitchFamily="34" charset="-122"/>
            </a:endParaRPr>
          </a:p>
          <a:p>
            <a:pPr marL="0" indent="0" algn="l">
              <a:lnSpc>
                <a:spcPts val="2100"/>
              </a:lnSpc>
              <a:buNone/>
            </a:pPr>
            <a:endParaRPr lang="en-US" sz="1500" dirty="0"/>
          </a:p>
        </p:txBody>
      </p:sp>
      <p:sp>
        <p:nvSpPr>
          <p:cNvPr id="8" name="Shape 6"/>
          <p:cNvSpPr/>
          <p:nvPr/>
        </p:nvSpPr>
        <p:spPr>
          <a:xfrm>
            <a:off x="4405769" y="2004523"/>
            <a:ext cx="3380391" cy="3187963"/>
          </a:xfrm>
          <a:prstGeom prst="roundRect">
            <a:avLst>
              <a:gd name="adj" fmla="val 3979"/>
            </a:avLst>
          </a:prstGeom>
          <a:solidFill>
            <a:srgbClr val="FDFDFC"/>
          </a:solidFill>
          <a:ln w="6350">
            <a:solidFill>
              <a:srgbClr val="DCE3E1"/>
            </a:solidFill>
            <a:prstDash val="solid"/>
          </a:ln>
        </p:spPr>
      </p:sp>
      <p:sp>
        <p:nvSpPr>
          <p:cNvPr id="9" name="Text 7"/>
          <p:cNvSpPr/>
          <p:nvPr/>
        </p:nvSpPr>
        <p:spPr>
          <a:xfrm>
            <a:off x="4661224" y="2259980"/>
            <a:ext cx="2955564" cy="274255"/>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9E4E1E"/>
                </a:solidFill>
                <a:latin typeface="IBM Plex Sans" pitchFamily="34" charset="0"/>
                <a:ea typeface="IBM Plex Sans" pitchFamily="34" charset="-122"/>
                <a:cs typeface="IBM Plex Sans" pitchFamily="34" charset="-120"/>
              </a:rPr>
              <a:t>Tầng</a:t>
            </a:r>
            <a:r>
              <a:rPr lang="en-US" sz="1400" b="1" dirty="0">
                <a:solidFill>
                  <a:srgbClr val="9E4E1E"/>
                </a:solidFill>
                <a:latin typeface="IBM Plex Sans" pitchFamily="34" charset="0"/>
                <a:ea typeface="IBM Plex Sans" pitchFamily="34" charset="-122"/>
                <a:cs typeface="IBM Plex Sans" pitchFamily="34" charset="-120"/>
              </a:rPr>
              <a:t> </a:t>
            </a:r>
            <a:r>
              <a:rPr lang="en-US" sz="1400" b="1" dirty="0" err="1" smtClean="0">
                <a:solidFill>
                  <a:srgbClr val="9E4E1E"/>
                </a:solidFill>
                <a:latin typeface="IBM Plex Sans" pitchFamily="34" charset="0"/>
                <a:ea typeface="IBM Plex Sans" pitchFamily="34" charset="-122"/>
                <a:cs typeface="IBM Plex Sans" pitchFamily="34" charset="-120"/>
              </a:rPr>
              <a:t>trung</a:t>
            </a:r>
            <a:r>
              <a:rPr lang="en-US" sz="1400" b="1" dirty="0" smtClean="0">
                <a:solidFill>
                  <a:srgbClr val="9E4E1E"/>
                </a:solidFill>
                <a:latin typeface="IBM Plex Sans" pitchFamily="34" charset="0"/>
                <a:ea typeface="IBM Plex Sans" pitchFamily="34" charset="-122"/>
                <a:cs typeface="IBM Plex Sans" pitchFamily="34" charset="-120"/>
              </a:rPr>
              <a:t> </a:t>
            </a:r>
            <a:r>
              <a:rPr lang="en-US" sz="1400" b="1" dirty="0" err="1" smtClean="0">
                <a:solidFill>
                  <a:srgbClr val="9E4E1E"/>
                </a:solidFill>
                <a:latin typeface="IBM Plex Sans" pitchFamily="34" charset="0"/>
                <a:ea typeface="IBM Plex Sans" pitchFamily="34" charset="-122"/>
                <a:cs typeface="IBM Plex Sans" pitchFamily="34" charset="-120"/>
              </a:rPr>
              <a:t>gian</a:t>
            </a:r>
            <a:endParaRPr lang="en-US" sz="1400" dirty="0"/>
          </a:p>
        </p:txBody>
      </p:sp>
      <p:sp>
        <p:nvSpPr>
          <p:cNvPr id="10" name="Text 8"/>
          <p:cNvSpPr/>
          <p:nvPr/>
        </p:nvSpPr>
        <p:spPr>
          <a:xfrm>
            <a:off x="4661224" y="2584977"/>
            <a:ext cx="2955564" cy="253971"/>
          </a:xfrm>
          <a:prstGeom prst="rect">
            <a:avLst/>
          </a:prstGeom>
          <a:noFill/>
          <a:ln/>
        </p:spPr>
        <p:txBody>
          <a:bodyPr wrap="square" lIns="0" tIns="0" rIns="0" bIns="0" rtlCol="0" anchor="t">
            <a:normAutofit/>
          </a:bodyPr>
          <a:lstStyle/>
          <a:p>
            <a:pPr marL="0" indent="0" algn="l">
              <a:lnSpc>
                <a:spcPts val="1800"/>
              </a:lnSpc>
              <a:buNone/>
            </a:pPr>
            <a:r>
              <a:rPr lang="en-US" sz="1500" b="1" dirty="0" err="1" smtClean="0">
                <a:solidFill>
                  <a:srgbClr val="11242C"/>
                </a:solidFill>
                <a:latin typeface="IBM Plex Sans" pitchFamily="34" charset="0"/>
                <a:ea typeface="IBM Plex Sans" pitchFamily="34" charset="-122"/>
              </a:rPr>
              <a:t>Cắt</a:t>
            </a:r>
            <a:r>
              <a:rPr lang="en-US" sz="1500" b="1" dirty="0" smtClean="0">
                <a:solidFill>
                  <a:srgbClr val="11242C"/>
                </a:solidFill>
                <a:latin typeface="IBM Plex Sans" pitchFamily="34" charset="0"/>
                <a:ea typeface="IBM Plex Sans" pitchFamily="34" charset="-122"/>
              </a:rPr>
              <a:t> </a:t>
            </a:r>
            <a:r>
              <a:rPr lang="en-US" sz="1500" b="1" dirty="0" err="1" smtClean="0">
                <a:solidFill>
                  <a:srgbClr val="11242C"/>
                </a:solidFill>
                <a:latin typeface="IBM Plex Sans" pitchFamily="34" charset="0"/>
                <a:ea typeface="IBM Plex Sans" pitchFamily="34" charset="-122"/>
              </a:rPr>
              <a:t>và</a:t>
            </a:r>
            <a:r>
              <a:rPr lang="en-US" sz="1500" b="1" dirty="0" smtClean="0">
                <a:solidFill>
                  <a:srgbClr val="11242C"/>
                </a:solidFill>
                <a:latin typeface="IBM Plex Sans" pitchFamily="34" charset="0"/>
                <a:ea typeface="IBM Plex Sans" pitchFamily="34" charset="-122"/>
              </a:rPr>
              <a:t> </a:t>
            </a:r>
            <a:r>
              <a:rPr lang="en-US" sz="1500" b="1" dirty="0" err="1" smtClean="0">
                <a:solidFill>
                  <a:srgbClr val="11242C"/>
                </a:solidFill>
                <a:latin typeface="IBM Plex Sans" pitchFamily="34" charset="0"/>
                <a:ea typeface="IBM Plex Sans" pitchFamily="34" charset="-122"/>
              </a:rPr>
              <a:t>nắn</a:t>
            </a:r>
            <a:r>
              <a:rPr lang="en-US" sz="1500" b="1" dirty="0" smtClean="0">
                <a:solidFill>
                  <a:srgbClr val="11242C"/>
                </a:solidFill>
                <a:latin typeface="IBM Plex Sans" pitchFamily="34" charset="0"/>
                <a:ea typeface="IBM Plex Sans" pitchFamily="34" charset="-122"/>
              </a:rPr>
              <a:t> </a:t>
            </a:r>
            <a:r>
              <a:rPr lang="en-US" sz="1500" b="1" dirty="0" err="1" smtClean="0">
                <a:solidFill>
                  <a:srgbClr val="11242C"/>
                </a:solidFill>
                <a:latin typeface="IBM Plex Sans" pitchFamily="34" charset="0"/>
                <a:ea typeface="IBM Plex Sans" pitchFamily="34" charset="-122"/>
              </a:rPr>
              <a:t>thẳng</a:t>
            </a:r>
            <a:endParaRPr lang="en-US" sz="1500" dirty="0"/>
          </a:p>
        </p:txBody>
      </p:sp>
      <p:sp>
        <p:nvSpPr>
          <p:cNvPr id="11" name="Text 9"/>
          <p:cNvSpPr/>
          <p:nvPr/>
        </p:nvSpPr>
        <p:spPr>
          <a:xfrm>
            <a:off x="4661224" y="2889690"/>
            <a:ext cx="2955564" cy="2180331"/>
          </a:xfrm>
          <a:prstGeom prst="rect">
            <a:avLst/>
          </a:prstGeom>
          <a:noFill/>
          <a:ln/>
        </p:spPr>
        <p:txBody>
          <a:bodyPr wrap="square" lIns="0" tIns="0" rIns="0" bIns="0" rtlCol="0" anchor="t">
            <a:normAutofit/>
          </a:bodyPr>
          <a:lstStyle/>
          <a:p>
            <a:pPr marL="0" indent="0" algn="l">
              <a:lnSpc>
                <a:spcPts val="2100"/>
              </a:lnSpc>
              <a:buNone/>
            </a:pP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Ảnh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được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nới</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rộng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cho</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đủ</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chứa</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các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ngón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và</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xoay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về</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tư</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thế</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chuẩn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Hướng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từ</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cổ</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tay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lên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gốc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ngón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giữa</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luôn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dựng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đứng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Sau</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đó</a:t>
            </a:r>
            <a:r>
              <a:rPr lang="en-US" sz="1500" dirty="0" smtClean="0">
                <a:solidFill>
                  <a:srgbClr val="4A5A60"/>
                </a:solidFill>
                <a:latin typeface="IBM Plex Sans" pitchFamily="34" charset="0"/>
                <a:ea typeface="IBM Plex Sans" pitchFamily="34" charset="-122"/>
              </a:rPr>
              <a:t> co </a:t>
            </a:r>
            <a:r>
              <a:rPr lang="en-US" sz="1500" dirty="0" err="1" smtClean="0">
                <a:solidFill>
                  <a:srgbClr val="4A5A60"/>
                </a:solidFill>
                <a:latin typeface="IBM Plex Sans" pitchFamily="34" charset="0"/>
                <a:ea typeface="IBM Plex Sans" pitchFamily="34" charset="-122"/>
              </a:rPr>
              <a:t>về</a:t>
            </a:r>
            <a:r>
              <a:rPr lang="en-US" sz="1500" dirty="0" smtClean="0">
                <a:solidFill>
                  <a:srgbClr val="4A5A60"/>
                </a:solidFill>
                <a:latin typeface="IBM Plex Sans" pitchFamily="34" charset="0"/>
                <a:ea typeface="IBM Plex Sans" pitchFamily="34" charset="-122"/>
              </a:rPr>
              <a:t> 1 </a:t>
            </a:r>
            <a:r>
              <a:rPr lang="en-US" sz="1500" dirty="0" err="1" smtClean="0">
                <a:solidFill>
                  <a:srgbClr val="4A5A60"/>
                </a:solidFill>
                <a:latin typeface="IBM Plex Sans" pitchFamily="34" charset="0"/>
                <a:ea typeface="IBM Plex Sans" pitchFamily="34" charset="-122"/>
              </a:rPr>
              <a:t>kích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thước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cố</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định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Nhờ</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vậy</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mọi</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ảnh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đưa</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đến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tầng</a:t>
            </a:r>
            <a:r>
              <a:rPr lang="en-US" sz="1500" dirty="0" smtClean="0">
                <a:solidFill>
                  <a:srgbClr val="4A5A60"/>
                </a:solidFill>
                <a:latin typeface="IBM Plex Sans" pitchFamily="34" charset="0"/>
                <a:ea typeface="IBM Plex Sans" pitchFamily="34" charset="-122"/>
              </a:rPr>
              <a:t> 2 </a:t>
            </a:r>
            <a:r>
              <a:rPr lang="en-US" sz="1500" dirty="0" err="1" smtClean="0">
                <a:solidFill>
                  <a:srgbClr val="4A5A60"/>
                </a:solidFill>
                <a:latin typeface="IBM Plex Sans" pitchFamily="34" charset="0"/>
                <a:ea typeface="IBM Plex Sans" pitchFamily="34" charset="-122"/>
              </a:rPr>
              <a:t>đều</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giống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nhau</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về</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vị</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trí</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độ</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lớn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và</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góc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nghiêng</a:t>
            </a:r>
            <a:endParaRPr lang="en-US" sz="1500" dirty="0"/>
          </a:p>
        </p:txBody>
      </p:sp>
      <p:sp>
        <p:nvSpPr>
          <p:cNvPr id="17" name="Text 15"/>
          <p:cNvSpPr/>
          <p:nvPr/>
        </p:nvSpPr>
        <p:spPr>
          <a:xfrm>
            <a:off x="812785" y="6238211"/>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3</a:t>
            </a:r>
            <a:endParaRPr lang="en-US" sz="1200" dirty="0"/>
          </a:p>
        </p:txBody>
      </p:sp>
      <p:sp>
        <p:nvSpPr>
          <p:cNvPr id="18" name="Shape 6"/>
          <p:cNvSpPr/>
          <p:nvPr/>
        </p:nvSpPr>
        <p:spPr>
          <a:xfrm>
            <a:off x="8084656" y="1927871"/>
            <a:ext cx="3380391" cy="3264615"/>
          </a:xfrm>
          <a:prstGeom prst="roundRect">
            <a:avLst>
              <a:gd name="adj" fmla="val 3979"/>
            </a:avLst>
          </a:prstGeom>
          <a:solidFill>
            <a:srgbClr val="FDFDFC"/>
          </a:solidFill>
          <a:ln w="6350">
            <a:solidFill>
              <a:srgbClr val="DCE3E1"/>
            </a:solidFill>
            <a:prstDash val="solid"/>
          </a:ln>
        </p:spPr>
      </p:sp>
      <p:sp>
        <p:nvSpPr>
          <p:cNvPr id="19" name="Text 7"/>
          <p:cNvSpPr/>
          <p:nvPr/>
        </p:nvSpPr>
        <p:spPr>
          <a:xfrm>
            <a:off x="8297070" y="2256806"/>
            <a:ext cx="2955564"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E4E1E"/>
                </a:solidFill>
                <a:latin typeface="IBM Plex Sans" pitchFamily="34" charset="0"/>
                <a:ea typeface="IBM Plex Sans" pitchFamily="34" charset="-122"/>
                <a:cs typeface="IBM Plex Sans" pitchFamily="34" charset="-120"/>
              </a:rPr>
              <a:t>Tầng 2</a:t>
            </a:r>
            <a:endParaRPr lang="en-US" sz="1400" dirty="0"/>
          </a:p>
        </p:txBody>
      </p:sp>
      <p:sp>
        <p:nvSpPr>
          <p:cNvPr id="20" name="Text 8"/>
          <p:cNvSpPr/>
          <p:nvPr/>
        </p:nvSpPr>
        <p:spPr>
          <a:xfrm>
            <a:off x="8297070" y="2581803"/>
            <a:ext cx="2955564"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1242C"/>
                </a:solidFill>
                <a:latin typeface="IBM Plex Sans" pitchFamily="34" charset="0"/>
                <a:ea typeface="IBM Plex Sans" pitchFamily="34" charset="-122"/>
                <a:cs typeface="IBM Plex Sans" pitchFamily="34" charset="-120"/>
              </a:rPr>
              <a:t>Suy ra 21 điểm mốc</a:t>
            </a:r>
            <a:endParaRPr lang="en-US" sz="1500" dirty="0"/>
          </a:p>
        </p:txBody>
      </p:sp>
      <p:sp>
        <p:nvSpPr>
          <p:cNvPr id="21" name="Text 9"/>
          <p:cNvSpPr/>
          <p:nvPr/>
        </p:nvSpPr>
        <p:spPr>
          <a:xfrm>
            <a:off x="8297070" y="2886516"/>
            <a:ext cx="2955564" cy="1685484"/>
          </a:xfrm>
          <a:prstGeom prst="rect">
            <a:avLst/>
          </a:prstGeom>
          <a:noFill/>
          <a:ln/>
        </p:spPr>
        <p:txBody>
          <a:bodyPr wrap="square" lIns="0" tIns="0" rIns="0" bIns="0" rtlCol="0" anchor="t">
            <a:normAutofit/>
          </a:bodyPr>
          <a:lstStyle/>
          <a:p>
            <a:pPr marL="285750" indent="-285750" algn="l">
              <a:lnSpc>
                <a:spcPts val="2100"/>
              </a:lnSpc>
              <a:buFontTx/>
              <a:buChar char="-"/>
            </a:pPr>
            <a:r>
              <a:rPr lang="en-US" sz="1500" dirty="0" err="1" smtClean="0">
                <a:solidFill>
                  <a:srgbClr val="4A5A60"/>
                </a:solidFill>
                <a:latin typeface="IBM Plex Sans" pitchFamily="34" charset="0"/>
                <a:ea typeface="IBM Plex Sans" pitchFamily="34" charset="-122"/>
              </a:rPr>
              <a:t>Mạng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tích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chập</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rút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đặc</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trung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từ</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ảnh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cắt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lớp</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đầu</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bắt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cạnh</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lớp</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sau</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bắt</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hình</a:t>
            </a:r>
            <a:r>
              <a:rPr lang="en-US" sz="1500" dirty="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dạng</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ngón</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và</a:t>
            </a:r>
            <a:r>
              <a:rPr lang="en-US" sz="1500" dirty="0" smtClean="0">
                <a:solidFill>
                  <a:srgbClr val="4A5A60"/>
                </a:solidFill>
                <a:latin typeface="IBM Plex Sans" pitchFamily="34" charset="0"/>
                <a:ea typeface="IBM Plex Sans" pitchFamily="34" charset="-122"/>
              </a:rPr>
              <a:t> </a:t>
            </a:r>
            <a:r>
              <a:rPr lang="en-US" sz="1500" dirty="0" err="1" smtClean="0">
                <a:solidFill>
                  <a:srgbClr val="4A5A60"/>
                </a:solidFill>
                <a:latin typeface="IBM Plex Sans" pitchFamily="34" charset="0"/>
                <a:ea typeface="IBM Plex Sans" pitchFamily="34" charset="-122"/>
              </a:rPr>
              <a:t>khớp</a:t>
            </a:r>
            <a:r>
              <a:rPr lang="en-US" sz="1500" dirty="0" smtClean="0">
                <a:solidFill>
                  <a:srgbClr val="4A5A60"/>
                </a:solidFill>
                <a:latin typeface="IBM Plex Sans" pitchFamily="34" charset="0"/>
                <a:ea typeface="IBM Plex Sans" pitchFamily="34" charset="-122"/>
              </a:rPr>
              <a:t>.</a:t>
            </a:r>
          </a:p>
          <a:p>
            <a:pPr marL="285750" indent="-285750" algn="l">
              <a:lnSpc>
                <a:spcPts val="2100"/>
              </a:lnSpc>
              <a:buFontTx/>
              <a:buChar char="-"/>
            </a:pPr>
            <a:r>
              <a:rPr lang="en-US" sz="1500" dirty="0" err="1" smtClean="0"/>
              <a:t>Đầu</a:t>
            </a:r>
            <a:r>
              <a:rPr lang="en-US" sz="1500" dirty="0" smtClean="0"/>
              <a:t> </a:t>
            </a:r>
            <a:r>
              <a:rPr lang="en-US" sz="1500" dirty="0" err="1" smtClean="0"/>
              <a:t>ra</a:t>
            </a:r>
            <a:r>
              <a:rPr lang="en-US" sz="1500" dirty="0" smtClean="0"/>
              <a:t> </a:t>
            </a:r>
            <a:r>
              <a:rPr lang="en-US" sz="1500" dirty="0" err="1" smtClean="0"/>
              <a:t>là</a:t>
            </a:r>
            <a:r>
              <a:rPr lang="en-US" sz="1500" dirty="0" smtClean="0"/>
              <a:t> 21 </a:t>
            </a:r>
            <a:r>
              <a:rPr lang="en-US" sz="1500" dirty="0" err="1" smtClean="0"/>
              <a:t>cặp</a:t>
            </a:r>
            <a:r>
              <a:rPr lang="en-US" sz="1500" dirty="0" smtClean="0"/>
              <a:t> </a:t>
            </a:r>
            <a:r>
              <a:rPr lang="en-US" sz="1500" dirty="0" err="1" smtClean="0"/>
              <a:t>tọa</a:t>
            </a:r>
            <a:r>
              <a:rPr lang="en-US" sz="1500" dirty="0" smtClean="0"/>
              <a:t> </a:t>
            </a:r>
            <a:r>
              <a:rPr lang="en-US" sz="1500" dirty="0" err="1" smtClean="0"/>
              <a:t>độ</a:t>
            </a:r>
            <a:r>
              <a:rPr lang="en-US" sz="1500" dirty="0" smtClean="0"/>
              <a:t> </a:t>
            </a:r>
            <a:r>
              <a:rPr lang="en-US" sz="1500" dirty="0" err="1" smtClean="0"/>
              <a:t>đánh</a:t>
            </a:r>
            <a:r>
              <a:rPr lang="en-US" sz="1500" dirty="0" smtClean="0"/>
              <a:t> </a:t>
            </a:r>
            <a:r>
              <a:rPr lang="en-US" sz="1500" dirty="0" err="1" smtClean="0"/>
              <a:t>dấu</a:t>
            </a:r>
            <a:r>
              <a:rPr lang="en-US" sz="1500" dirty="0" smtClean="0"/>
              <a:t> </a:t>
            </a:r>
            <a:r>
              <a:rPr lang="en-US" sz="1500" dirty="0" err="1" smtClean="0"/>
              <a:t>trên</a:t>
            </a:r>
            <a:r>
              <a:rPr lang="en-US" sz="1500" dirty="0" smtClean="0"/>
              <a:t> </a:t>
            </a:r>
            <a:r>
              <a:rPr lang="en-US" sz="1500" dirty="0" err="1" smtClean="0"/>
              <a:t>bàn</a:t>
            </a:r>
            <a:r>
              <a:rPr lang="en-US" sz="1500" dirty="0" smtClean="0"/>
              <a:t> </a:t>
            </a:r>
            <a:r>
              <a:rPr lang="en-US" sz="1500" dirty="0" err="1" smtClean="0"/>
              <a:t>tay</a:t>
            </a:r>
            <a:r>
              <a:rPr lang="en-US" sz="1500" dirty="0" smtClean="0"/>
              <a: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4 · GHI LẠI THEO TRỤC THỜI GIAN</a:t>
            </a:r>
            <a:endParaRPr lang="en-US" sz="1200" dirty="0"/>
          </a:p>
        </p:txBody>
      </p:sp>
      <p:sp>
        <p:nvSpPr>
          <p:cNvPr id="3" name="Text 1"/>
          <p:cNvSpPr/>
          <p:nvPr/>
        </p:nvSpPr>
        <p:spPr>
          <a:xfrm>
            <a:off x="812785" y="1280071"/>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Mỗi frame đúng một dòng</a:t>
            </a:r>
            <a:endParaRPr lang="en-US" sz="3200" dirty="0"/>
          </a:p>
        </p:txBody>
      </p:sp>
      <p:sp>
        <p:nvSpPr>
          <p:cNvPr id="4" name="Text 2"/>
          <p:cNvSpPr/>
          <p:nvPr/>
        </p:nvSpPr>
        <p:spPr>
          <a:xfrm>
            <a:off x="812785" y="2001354"/>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Kết quả mỗi lần chạy là một bảng: mỗi frame đúng một dòng, xếp theo thời gian, không sắp xếp lại và không lọc bỏ.</a:t>
            </a:r>
            <a:endParaRPr lang="en-US" sz="1500" dirty="0"/>
          </a:p>
        </p:txBody>
      </p:sp>
      <p:sp>
        <p:nvSpPr>
          <p:cNvPr id="5" name="Shape 3"/>
          <p:cNvSpPr/>
          <p:nvPr/>
        </p:nvSpPr>
        <p:spPr>
          <a:xfrm>
            <a:off x="815960" y="2525092"/>
            <a:ext cx="3380317" cy="1691761"/>
          </a:xfrm>
          <a:prstGeom prst="roundRect">
            <a:avLst>
              <a:gd name="adj" fmla="val 5818"/>
            </a:avLst>
          </a:prstGeom>
          <a:solidFill>
            <a:srgbClr val="FDFDFC"/>
          </a:solidFill>
          <a:ln w="6350">
            <a:solidFill>
              <a:srgbClr val="DCE3E1"/>
            </a:solidFill>
            <a:prstDash val="solid"/>
          </a:ln>
        </p:spPr>
      </p:sp>
      <p:sp>
        <p:nvSpPr>
          <p:cNvPr id="6" name="Text 4"/>
          <p:cNvSpPr/>
          <p:nvPr/>
        </p:nvSpPr>
        <p:spPr>
          <a:xfrm>
            <a:off x="1071416" y="2780550"/>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Mỗi dòng có gì</a:t>
            </a:r>
            <a:endParaRPr lang="en-US" sz="2000" dirty="0"/>
          </a:p>
        </p:txBody>
      </p:sp>
      <p:sp>
        <p:nvSpPr>
          <p:cNvPr id="7" name="Text 5"/>
          <p:cNvSpPr/>
          <p:nvPr/>
        </p:nvSpPr>
        <p:spPr>
          <a:xfrm>
            <a:off x="1071416" y="3161475"/>
            <a:ext cx="2955489" cy="82532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Mốc thời gian, có thấy tay hay không, điểm tin cậy, kích thước khung, và 21 cặp toạ độ.</a:t>
            </a:r>
            <a:endParaRPr lang="en-US" sz="1500" dirty="0"/>
          </a:p>
        </p:txBody>
      </p:sp>
      <p:sp>
        <p:nvSpPr>
          <p:cNvPr id="8" name="Shape 6"/>
          <p:cNvSpPr/>
          <p:nvPr/>
        </p:nvSpPr>
        <p:spPr>
          <a:xfrm>
            <a:off x="4405769" y="2525092"/>
            <a:ext cx="3380391" cy="1691761"/>
          </a:xfrm>
          <a:prstGeom prst="roundRect">
            <a:avLst>
              <a:gd name="adj" fmla="val 5818"/>
            </a:avLst>
          </a:prstGeom>
          <a:solidFill>
            <a:srgbClr val="FDFDFC"/>
          </a:solidFill>
          <a:ln w="6350">
            <a:solidFill>
              <a:srgbClr val="DCE3E1"/>
            </a:solidFill>
            <a:prstDash val="solid"/>
          </a:ln>
        </p:spPr>
      </p:sp>
      <p:sp>
        <p:nvSpPr>
          <p:cNvPr id="9" name="Text 7"/>
          <p:cNvSpPr/>
          <p:nvPr/>
        </p:nvSpPr>
        <p:spPr>
          <a:xfrm>
            <a:off x="4661224" y="2780550"/>
            <a:ext cx="2955564"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Khi không thấy tay</a:t>
            </a:r>
            <a:endParaRPr lang="en-US" sz="2000" dirty="0"/>
          </a:p>
        </p:txBody>
      </p:sp>
      <p:sp>
        <p:nvSpPr>
          <p:cNvPr id="10" name="Text 8"/>
          <p:cNvSpPr/>
          <p:nvPr/>
        </p:nvSpPr>
        <p:spPr>
          <a:xfrm>
            <a:off x="4661224" y="3161475"/>
            <a:ext cx="2955564" cy="82532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Vẫn có một dòng: mốc thời gian và kích thước khung còn nguyên, phần toạ độ để trống.</a:t>
            </a:r>
            <a:endParaRPr lang="en-US" sz="1500" dirty="0"/>
          </a:p>
        </p:txBody>
      </p:sp>
      <p:sp>
        <p:nvSpPr>
          <p:cNvPr id="11" name="Shape 9"/>
          <p:cNvSpPr/>
          <p:nvPr/>
        </p:nvSpPr>
        <p:spPr>
          <a:xfrm>
            <a:off x="7995651" y="2525092"/>
            <a:ext cx="3380317" cy="1691761"/>
          </a:xfrm>
          <a:prstGeom prst="roundRect">
            <a:avLst>
              <a:gd name="adj" fmla="val 5818"/>
            </a:avLst>
          </a:prstGeom>
          <a:solidFill>
            <a:srgbClr val="FDFDFC"/>
          </a:solidFill>
          <a:ln w="6350">
            <a:solidFill>
              <a:srgbClr val="DCE3E1"/>
            </a:solidFill>
            <a:prstDash val="solid"/>
          </a:ln>
        </p:spPr>
      </p:sp>
      <p:sp>
        <p:nvSpPr>
          <p:cNvPr id="12" name="Text 10"/>
          <p:cNvSpPr/>
          <p:nvPr/>
        </p:nvSpPr>
        <p:spPr>
          <a:xfrm>
            <a:off x="8251106" y="2780550"/>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Toạ độ tương đối</a:t>
            </a:r>
            <a:endParaRPr lang="en-US" sz="2000" dirty="0"/>
          </a:p>
        </p:txBody>
      </p:sp>
      <p:sp>
        <p:nvSpPr>
          <p:cNvPr id="13" name="Text 11"/>
          <p:cNvSpPr/>
          <p:nvPr/>
        </p:nvSpPr>
        <p:spPr>
          <a:xfrm>
            <a:off x="8251106" y="3161475"/>
            <a:ext cx="2955489" cy="82532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Lưu kèm kích thước khung, để bước sau đổi sang pixel trước mọi phép tính hình học.</a:t>
            </a:r>
            <a:endParaRPr lang="en-US" sz="1500" dirty="0"/>
          </a:p>
        </p:txBody>
      </p:sp>
      <p:sp>
        <p:nvSpPr>
          <p:cNvPr id="14" name="Text 12"/>
          <p:cNvSpPr/>
          <p:nvPr/>
        </p:nvSpPr>
        <p:spPr>
          <a:xfrm>
            <a:off x="812785" y="4473959"/>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E4E1E"/>
                </a:solidFill>
                <a:latin typeface="IBM Plex Sans" pitchFamily="34" charset="0"/>
                <a:ea typeface="IBM Plex Sans" pitchFamily="34" charset="-122"/>
                <a:cs typeface="IBM Plex Sans" pitchFamily="34" charset="-120"/>
              </a:rPr>
              <a:t>Hai quyết định trên — lưu toạ độ tương đối, và giữ cả dòng không </a:t>
            </a:r>
            <a:r>
              <a:rPr lang="en-US" sz="1500" dirty="0" err="1">
                <a:solidFill>
                  <a:srgbClr val="9E4E1E"/>
                </a:solidFill>
                <a:latin typeface="IBM Plex Sans" pitchFamily="34" charset="0"/>
                <a:ea typeface="IBM Plex Sans" pitchFamily="34" charset="-122"/>
                <a:cs typeface="IBM Plex Sans" pitchFamily="34" charset="-120"/>
              </a:rPr>
              <a:t>có</a:t>
            </a:r>
            <a:r>
              <a:rPr lang="en-US" sz="1500" dirty="0">
                <a:solidFill>
                  <a:srgbClr val="9E4E1E"/>
                </a:solidFill>
                <a:latin typeface="IBM Plex Sans" pitchFamily="34" charset="0"/>
                <a:ea typeface="IBM Plex Sans" pitchFamily="34" charset="-122"/>
                <a:cs typeface="IBM Plex Sans" pitchFamily="34" charset="-120"/>
              </a:rPr>
              <a:t> </a:t>
            </a:r>
            <a:r>
              <a:rPr lang="en-US" sz="1500" dirty="0" err="1" smtClean="0">
                <a:solidFill>
                  <a:srgbClr val="9E4E1E"/>
                </a:solidFill>
                <a:latin typeface="IBM Plex Sans" pitchFamily="34" charset="0"/>
                <a:ea typeface="IBM Plex Sans" pitchFamily="34" charset="-122"/>
                <a:cs typeface="IBM Plex Sans" pitchFamily="34" charset="-120"/>
              </a:rPr>
              <a:t>tay</a:t>
            </a:r>
            <a:r>
              <a:rPr lang="en-US" sz="1500" dirty="0" smtClean="0">
                <a:solidFill>
                  <a:srgbClr val="9E4E1E"/>
                </a:solidFill>
                <a:latin typeface="IBM Plex Sans" pitchFamily="34" charset="0"/>
                <a:ea typeface="IBM Plex Sans" pitchFamily="34" charset="-122"/>
                <a:cs typeface="IBM Plex Sans" pitchFamily="34" charset="-120"/>
              </a:rPr>
              <a:t>.</a:t>
            </a:r>
            <a:endParaRPr lang="en-US" sz="1500" dirty="0"/>
          </a:p>
        </p:txBody>
      </p:sp>
      <p:sp>
        <p:nvSpPr>
          <p:cNvPr id="15" name="Text 13"/>
          <p:cNvSpPr/>
          <p:nvPr/>
        </p:nvSpPr>
        <p:spPr>
          <a:xfrm>
            <a:off x="812785" y="6238211"/>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27292"/>
          </a:xfrm>
          <a:prstGeom prst="rect">
            <a:avLst/>
          </a:prstGeom>
          <a:noFill/>
          <a:ln/>
        </p:spPr>
        <p:txBody>
          <a:bodyPr wrap="square" lIns="0" tIns="0" rIns="0" bIns="0" rtlCol="0" anchor="t">
            <a:normAutofit/>
          </a:bodyPr>
          <a:lstStyle/>
          <a:p>
            <a:pPr marL="0" indent="0" algn="l">
              <a:lnSpc>
                <a:spcPts val="1622"/>
              </a:lnSpc>
              <a:buNone/>
            </a:pPr>
            <a:r>
              <a:rPr lang="en-US" sz="1159" b="1" kern="0" spc="150" dirty="0">
                <a:solidFill>
                  <a:srgbClr val="17706A"/>
                </a:solidFill>
                <a:latin typeface="IBM Plex Sans" pitchFamily="34" charset="0"/>
                <a:ea typeface="IBM Plex Sans" pitchFamily="34" charset="-122"/>
                <a:cs typeface="IBM Plex Sans" pitchFamily="34" charset="-120"/>
              </a:rPr>
              <a:t>BƯỚC 4 · GHI LẠI THEO TRỤC THỜI GIAN</a:t>
            </a:r>
            <a:endParaRPr lang="en-US" sz="1159" dirty="0"/>
          </a:p>
        </p:txBody>
      </p:sp>
      <p:sp>
        <p:nvSpPr>
          <p:cNvPr id="3" name="Text 1"/>
          <p:cNvSpPr/>
          <p:nvPr/>
        </p:nvSpPr>
        <p:spPr>
          <a:xfrm>
            <a:off x="812785" y="1217823"/>
            <a:ext cx="10883348" cy="467842"/>
          </a:xfrm>
          <a:prstGeom prst="rect">
            <a:avLst/>
          </a:prstGeom>
          <a:noFill/>
          <a:ln/>
        </p:spPr>
        <p:txBody>
          <a:bodyPr wrap="square" lIns="0" tIns="0" rIns="0" bIns="0" rtlCol="0" anchor="t">
            <a:normAutofit/>
          </a:bodyPr>
          <a:lstStyle/>
          <a:p>
            <a:pPr marL="0" indent="0" algn="l">
              <a:lnSpc>
                <a:spcPts val="3519"/>
              </a:lnSpc>
              <a:buNone/>
            </a:pPr>
            <a:r>
              <a:rPr lang="en-US" sz="3060" b="1" dirty="0" err="1">
                <a:solidFill>
                  <a:srgbClr val="11242C"/>
                </a:solidFill>
                <a:latin typeface="IBM Plex Sans" pitchFamily="34" charset="0"/>
                <a:ea typeface="IBM Plex Sans" pitchFamily="34" charset="-122"/>
              </a:rPr>
              <a:t>K</a:t>
            </a:r>
            <a:r>
              <a:rPr lang="en-US" sz="3060" b="1" dirty="0" err="1" smtClean="0">
                <a:solidFill>
                  <a:srgbClr val="11242C"/>
                </a:solidFill>
                <a:latin typeface="IBM Plex Sans" pitchFamily="34" charset="0"/>
                <a:ea typeface="IBM Plex Sans" pitchFamily="34" charset="-122"/>
              </a:rPr>
              <a:t>hi</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không</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nhận</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diện</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được</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tay</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trong</a:t>
            </a:r>
            <a:r>
              <a:rPr lang="en-US" sz="3060" b="1" dirty="0" smtClean="0">
                <a:solidFill>
                  <a:srgbClr val="11242C"/>
                </a:solidFill>
                <a:latin typeface="IBM Plex Sans" pitchFamily="34" charset="0"/>
                <a:ea typeface="IBM Plex Sans" pitchFamily="34" charset="-122"/>
              </a:rPr>
              <a:t> </a:t>
            </a:r>
            <a:r>
              <a:rPr lang="en-US" sz="3060" b="1" dirty="0" err="1" smtClean="0">
                <a:solidFill>
                  <a:srgbClr val="11242C"/>
                </a:solidFill>
                <a:latin typeface="IBM Plex Sans" pitchFamily="34" charset="0"/>
                <a:ea typeface="IBM Plex Sans" pitchFamily="34" charset="-122"/>
              </a:rPr>
              <a:t>một</a:t>
            </a:r>
            <a:r>
              <a:rPr lang="en-US" sz="3060" b="1" dirty="0" smtClean="0">
                <a:solidFill>
                  <a:srgbClr val="11242C"/>
                </a:solidFill>
                <a:latin typeface="IBM Plex Sans" pitchFamily="34" charset="0"/>
                <a:ea typeface="IBM Plex Sans" pitchFamily="34" charset="-122"/>
              </a:rPr>
              <a:t> frame</a:t>
            </a:r>
            <a:endParaRPr lang="en-US" sz="3060" dirty="0"/>
          </a:p>
        </p:txBody>
      </p:sp>
      <p:sp>
        <p:nvSpPr>
          <p:cNvPr id="4" name="Text 2"/>
          <p:cNvSpPr/>
          <p:nvPr/>
        </p:nvSpPr>
        <p:spPr>
          <a:xfrm>
            <a:off x="812785" y="1787888"/>
            <a:ext cx="10883348" cy="277783"/>
          </a:xfrm>
          <a:prstGeom prst="rect">
            <a:avLst/>
          </a:prstGeom>
          <a:noFill/>
          <a:ln/>
        </p:spPr>
        <p:txBody>
          <a:bodyPr wrap="square" lIns="0" tIns="0" rIns="0" bIns="0" rtlCol="0" anchor="t">
            <a:normAutofit/>
          </a:bodyPr>
          <a:lstStyle/>
          <a:p>
            <a:pPr marL="0" indent="0" algn="l">
              <a:lnSpc>
                <a:spcPts val="2021"/>
              </a:lnSpc>
              <a:buNone/>
            </a:pPr>
            <a:r>
              <a:rPr lang="en-US" sz="1444" dirty="0" err="1" smtClean="0">
                <a:solidFill>
                  <a:srgbClr val="4A5A60"/>
                </a:solidFill>
                <a:latin typeface="IBM Plex Sans" pitchFamily="34" charset="0"/>
                <a:ea typeface="IBM Plex Sans" pitchFamily="34" charset="-122"/>
              </a:rPr>
              <a:t>Với</a:t>
            </a:r>
            <a:r>
              <a:rPr lang="en-US" sz="1444" dirty="0" smtClean="0">
                <a:solidFill>
                  <a:srgbClr val="4A5A60"/>
                </a:solidFill>
                <a:latin typeface="IBM Plex Sans" pitchFamily="34" charset="0"/>
                <a:ea typeface="IBM Plex Sans" pitchFamily="34" charset="-122"/>
              </a:rPr>
              <a:t> camera 30 FPS </a:t>
            </a:r>
            <a:r>
              <a:rPr lang="en-US" sz="1444" dirty="0" err="1" smtClean="0">
                <a:solidFill>
                  <a:srgbClr val="4A5A60"/>
                </a:solidFill>
                <a:latin typeface="IBM Plex Sans" pitchFamily="34" charset="0"/>
                <a:ea typeface="IBM Plex Sans" pitchFamily="34" charset="-122"/>
              </a:rPr>
              <a:t>thì</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mỗi</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khung</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hình</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chiếm</a:t>
            </a:r>
            <a:r>
              <a:rPr lang="en-US" sz="1444" dirty="0" smtClean="0">
                <a:solidFill>
                  <a:srgbClr val="4A5A60"/>
                </a:solidFill>
                <a:latin typeface="IBM Plex Sans" pitchFamily="34" charset="0"/>
                <a:ea typeface="IBM Plex Sans" pitchFamily="34" charset="-122"/>
              </a:rPr>
              <a:t> ~0.03s, </a:t>
            </a:r>
            <a:r>
              <a:rPr lang="en-US" sz="1444" dirty="0" err="1" smtClean="0">
                <a:solidFill>
                  <a:srgbClr val="4A5A60"/>
                </a:solidFill>
                <a:latin typeface="IBM Plex Sans" pitchFamily="34" charset="0"/>
                <a:ea typeface="IBM Plex Sans" pitchFamily="34" charset="-122"/>
              </a:rPr>
              <a:t>giả</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sử</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có</a:t>
            </a:r>
            <a:r>
              <a:rPr lang="en-US" sz="1444" dirty="0" smtClean="0">
                <a:solidFill>
                  <a:srgbClr val="4A5A60"/>
                </a:solidFill>
                <a:latin typeface="IBM Plex Sans" pitchFamily="34" charset="0"/>
                <a:ea typeface="IBM Plex Sans" pitchFamily="34" charset="-122"/>
              </a:rPr>
              <a:t> 90 </a:t>
            </a:r>
            <a:r>
              <a:rPr lang="en-US" sz="1444" dirty="0" err="1" smtClean="0">
                <a:solidFill>
                  <a:srgbClr val="4A5A60"/>
                </a:solidFill>
                <a:latin typeface="IBM Plex Sans" pitchFamily="34" charset="0"/>
                <a:ea typeface="IBM Plex Sans" pitchFamily="34" charset="-122"/>
              </a:rPr>
              <a:t>khung</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hình</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mô</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hình</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không</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thấy</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tay</a:t>
            </a:r>
            <a:r>
              <a:rPr lang="en-US" sz="1444" dirty="0" smtClean="0">
                <a:solidFill>
                  <a:srgbClr val="4A5A60"/>
                </a:solidFill>
                <a:latin typeface="IBM Plex Sans" pitchFamily="34" charset="0"/>
                <a:ea typeface="IBM Plex Sans" pitchFamily="34" charset="-122"/>
              </a:rPr>
              <a:t> ở </a:t>
            </a:r>
            <a:r>
              <a:rPr lang="en-US" sz="1444" dirty="0" err="1" smtClean="0">
                <a:solidFill>
                  <a:srgbClr val="4A5A60"/>
                </a:solidFill>
                <a:latin typeface="IBM Plex Sans" pitchFamily="34" charset="0"/>
                <a:ea typeface="IBM Plex Sans" pitchFamily="34" charset="-122"/>
              </a:rPr>
              <a:t>các</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khung</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hình</a:t>
            </a:r>
            <a:r>
              <a:rPr lang="en-US" sz="1444" dirty="0" smtClean="0">
                <a:solidFill>
                  <a:srgbClr val="4A5A60"/>
                </a:solidFill>
                <a:latin typeface="IBM Plex Sans" pitchFamily="34" charset="0"/>
                <a:ea typeface="IBM Plex Sans" pitchFamily="34" charset="-122"/>
              </a:rPr>
              <a:t> </a:t>
            </a:r>
            <a:r>
              <a:rPr lang="en-US" sz="1444" dirty="0" err="1" smtClean="0">
                <a:solidFill>
                  <a:srgbClr val="4A5A60"/>
                </a:solidFill>
                <a:latin typeface="IBM Plex Sans" pitchFamily="34" charset="0"/>
                <a:ea typeface="IBM Plex Sans" pitchFamily="34" charset="-122"/>
              </a:rPr>
              <a:t>số</a:t>
            </a:r>
            <a:r>
              <a:rPr lang="en-US" sz="1444" dirty="0" smtClean="0">
                <a:solidFill>
                  <a:srgbClr val="4A5A60"/>
                </a:solidFill>
                <a:latin typeface="IBM Plex Sans" pitchFamily="34" charset="0"/>
                <a:ea typeface="IBM Plex Sans" pitchFamily="34" charset="-122"/>
              </a:rPr>
              <a:t> 40 – 44</a:t>
            </a:r>
            <a:endParaRPr lang="en-US" sz="1444" dirty="0"/>
          </a:p>
        </p:txBody>
      </p:sp>
      <p:sp>
        <p:nvSpPr>
          <p:cNvPr id="5" name="Shape 3"/>
          <p:cNvSpPr/>
          <p:nvPr/>
        </p:nvSpPr>
        <p:spPr>
          <a:xfrm>
            <a:off x="815960" y="2322103"/>
            <a:ext cx="5175221" cy="2895101"/>
          </a:xfrm>
          <a:prstGeom prst="roundRect">
            <a:avLst>
              <a:gd name="adj" fmla="val 3400"/>
            </a:avLst>
          </a:prstGeom>
          <a:solidFill>
            <a:srgbClr val="F6EDE5"/>
          </a:solidFill>
          <a:ln w="6350">
            <a:solidFill>
              <a:srgbClr val="E2CDBB"/>
            </a:solidFill>
            <a:prstDash val="solid"/>
          </a:ln>
        </p:spPr>
      </p:sp>
      <p:sp>
        <p:nvSpPr>
          <p:cNvPr id="6" name="Text 4"/>
          <p:cNvSpPr/>
          <p:nvPr/>
        </p:nvSpPr>
        <p:spPr>
          <a:xfrm>
            <a:off x="1071416" y="2577560"/>
            <a:ext cx="4804240" cy="255735"/>
          </a:xfrm>
          <a:prstGeom prst="rect">
            <a:avLst/>
          </a:prstGeom>
          <a:noFill/>
          <a:ln/>
        </p:spPr>
        <p:txBody>
          <a:bodyPr wrap="square" lIns="0" tIns="0" rIns="0" bIns="0" rtlCol="0" anchor="t">
            <a:normAutofit/>
          </a:bodyPr>
          <a:lstStyle/>
          <a:p>
            <a:pPr marL="0" indent="0" algn="l">
              <a:lnSpc>
                <a:spcPts val="1822"/>
              </a:lnSpc>
              <a:buNone/>
            </a:pPr>
            <a:r>
              <a:rPr lang="en-US" sz="1402" b="1" dirty="0">
                <a:solidFill>
                  <a:srgbClr val="9E4E1E"/>
                </a:solidFill>
                <a:latin typeface="IBM Plex Sans" pitchFamily="34" charset="0"/>
                <a:ea typeface="IBM Plex Sans" pitchFamily="34" charset="-122"/>
                <a:cs typeface="IBM Plex Sans" pitchFamily="34" charset="-120"/>
              </a:rPr>
              <a:t>Nếu bỏ dòng </a:t>
            </a:r>
            <a:r>
              <a:rPr lang="en-US" sz="1402" b="1" dirty="0" err="1">
                <a:solidFill>
                  <a:srgbClr val="9E4E1E"/>
                </a:solidFill>
                <a:latin typeface="IBM Plex Sans" pitchFamily="34" charset="0"/>
                <a:ea typeface="IBM Plex Sans" pitchFamily="34" charset="-122"/>
                <a:cs typeface="IBM Plex Sans" pitchFamily="34" charset="-120"/>
              </a:rPr>
              <a:t>mất</a:t>
            </a:r>
            <a:r>
              <a:rPr lang="en-US" sz="1402" b="1" dirty="0">
                <a:solidFill>
                  <a:srgbClr val="9E4E1E"/>
                </a:solidFill>
                <a:latin typeface="IBM Plex Sans" pitchFamily="34" charset="0"/>
                <a:ea typeface="IBM Plex Sans" pitchFamily="34" charset="-122"/>
                <a:cs typeface="IBM Plex Sans" pitchFamily="34" charset="-120"/>
              </a:rPr>
              <a:t> </a:t>
            </a:r>
            <a:r>
              <a:rPr lang="en-US" sz="1402" b="1" dirty="0" err="1" smtClean="0">
                <a:solidFill>
                  <a:srgbClr val="9E4E1E"/>
                </a:solidFill>
                <a:latin typeface="IBM Plex Sans" pitchFamily="34" charset="0"/>
                <a:ea typeface="IBM Plex Sans" pitchFamily="34" charset="-122"/>
                <a:cs typeface="IBM Plex Sans" pitchFamily="34" charset="-120"/>
              </a:rPr>
              <a:t>tay</a:t>
            </a:r>
            <a:r>
              <a:rPr lang="en-US" sz="1402" b="1" dirty="0" smtClean="0">
                <a:solidFill>
                  <a:srgbClr val="9E4E1E"/>
                </a:solidFill>
                <a:latin typeface="IBM Plex Sans" pitchFamily="34" charset="0"/>
                <a:ea typeface="IBM Plex Sans" pitchFamily="34" charset="-122"/>
                <a:cs typeface="IBM Plex Sans" pitchFamily="34" charset="-120"/>
              </a:rPr>
              <a:t> – </a:t>
            </a:r>
            <a:r>
              <a:rPr lang="en-US" sz="1402" b="1" dirty="0" err="1" smtClean="0">
                <a:solidFill>
                  <a:srgbClr val="9E4E1E"/>
                </a:solidFill>
                <a:latin typeface="IBM Plex Sans" pitchFamily="34" charset="0"/>
                <a:ea typeface="IBM Plex Sans" pitchFamily="34" charset="-122"/>
                <a:cs typeface="IBM Plex Sans" pitchFamily="34" charset="-120"/>
              </a:rPr>
              <a:t>chỉ</a:t>
            </a:r>
            <a:r>
              <a:rPr lang="en-US" sz="1402" b="1" dirty="0" smtClean="0">
                <a:solidFill>
                  <a:srgbClr val="9E4E1E"/>
                </a:solidFill>
                <a:latin typeface="IBM Plex Sans" pitchFamily="34" charset="0"/>
                <a:ea typeface="IBM Plex Sans" pitchFamily="34" charset="-122"/>
                <a:cs typeface="IBM Plex Sans" pitchFamily="34" charset="-120"/>
              </a:rPr>
              <a:t> </a:t>
            </a:r>
            <a:r>
              <a:rPr lang="en-US" sz="1402" b="1" dirty="0" err="1" smtClean="0">
                <a:solidFill>
                  <a:srgbClr val="9E4E1E"/>
                </a:solidFill>
                <a:latin typeface="IBM Plex Sans" pitchFamily="34" charset="0"/>
                <a:ea typeface="IBM Plex Sans" pitchFamily="34" charset="-122"/>
                <a:cs typeface="IBM Plex Sans" pitchFamily="34" charset="-120"/>
              </a:rPr>
              <a:t>còn</a:t>
            </a:r>
            <a:r>
              <a:rPr lang="en-US" sz="1402" b="1" dirty="0" smtClean="0">
                <a:solidFill>
                  <a:srgbClr val="9E4E1E"/>
                </a:solidFill>
                <a:latin typeface="IBM Plex Sans" pitchFamily="34" charset="0"/>
                <a:ea typeface="IBM Plex Sans" pitchFamily="34" charset="-122"/>
                <a:cs typeface="IBM Plex Sans" pitchFamily="34" charset="-120"/>
              </a:rPr>
              <a:t> 85 </a:t>
            </a:r>
            <a:r>
              <a:rPr lang="en-US" sz="1402" b="1" dirty="0" err="1" smtClean="0">
                <a:solidFill>
                  <a:srgbClr val="9E4E1E"/>
                </a:solidFill>
                <a:latin typeface="IBM Plex Sans" pitchFamily="34" charset="0"/>
                <a:ea typeface="IBM Plex Sans" pitchFamily="34" charset="-122"/>
                <a:cs typeface="IBM Plex Sans" pitchFamily="34" charset="-120"/>
              </a:rPr>
              <a:t>dòng</a:t>
            </a:r>
            <a:r>
              <a:rPr lang="en-US" sz="1402" b="1" dirty="0" smtClean="0">
                <a:solidFill>
                  <a:srgbClr val="9E4E1E"/>
                </a:solidFill>
                <a:latin typeface="IBM Plex Sans" pitchFamily="34" charset="0"/>
                <a:ea typeface="IBM Plex Sans" pitchFamily="34" charset="-122"/>
                <a:cs typeface="IBM Plex Sans" pitchFamily="34" charset="-120"/>
              </a:rPr>
              <a:t> </a:t>
            </a:r>
            <a:r>
              <a:rPr lang="en-US" sz="1402" b="1" dirty="0" err="1" smtClean="0">
                <a:solidFill>
                  <a:srgbClr val="9E4E1E"/>
                </a:solidFill>
                <a:latin typeface="IBM Plex Sans" pitchFamily="34" charset="0"/>
                <a:ea typeface="IBM Plex Sans" pitchFamily="34" charset="-122"/>
                <a:cs typeface="IBM Plex Sans" pitchFamily="34" charset="-120"/>
              </a:rPr>
              <a:t>dữ</a:t>
            </a:r>
            <a:r>
              <a:rPr lang="en-US" sz="1402" b="1" dirty="0" smtClean="0">
                <a:solidFill>
                  <a:srgbClr val="9E4E1E"/>
                </a:solidFill>
                <a:latin typeface="IBM Plex Sans" pitchFamily="34" charset="0"/>
                <a:ea typeface="IBM Plex Sans" pitchFamily="34" charset="-122"/>
                <a:cs typeface="IBM Plex Sans" pitchFamily="34" charset="-120"/>
              </a:rPr>
              <a:t> </a:t>
            </a:r>
            <a:r>
              <a:rPr lang="en-US" sz="1402" b="1" dirty="0" err="1" smtClean="0">
                <a:solidFill>
                  <a:srgbClr val="9E4E1E"/>
                </a:solidFill>
                <a:latin typeface="IBM Plex Sans" pitchFamily="34" charset="0"/>
                <a:ea typeface="IBM Plex Sans" pitchFamily="34" charset="-122"/>
                <a:cs typeface="IBM Plex Sans" pitchFamily="34" charset="-120"/>
              </a:rPr>
              <a:t>liệu</a:t>
            </a:r>
            <a:endParaRPr lang="en-US" sz="1402"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71416" y="2909466"/>
          <a:ext cx="4664311" cy="1324607"/>
        </p:xfrm>
        <a:graphic>
          <a:graphicData uri="http://schemas.openxmlformats.org/drawingml/2006/table">
            <a:tbl>
              <a:tblPr/>
              <a:tblGrid>
                <a:gridCol w="2098940">
                  <a:extLst>
                    <a:ext uri="{9D8B030D-6E8A-4147-A177-3AD203B41FA5}">
                      <a16:colId xmlns:a16="http://schemas.microsoft.com/office/drawing/2014/main" val="20000"/>
                    </a:ext>
                  </a:extLst>
                </a:gridCol>
                <a:gridCol w="2565371">
                  <a:extLst>
                    <a:ext uri="{9D8B030D-6E8A-4147-A177-3AD203B41FA5}">
                      <a16:colId xmlns:a16="http://schemas.microsoft.com/office/drawing/2014/main" val="20001"/>
                    </a:ext>
                  </a:extLst>
                </a:gridCol>
              </a:tblGrid>
              <a:tr h="331097">
                <a:tc>
                  <a:txBody>
                    <a:bodyPr/>
                    <a:lstStyle/>
                    <a:p>
                      <a:pPr marL="0" indent="0">
                        <a:lnSpc>
                          <a:spcPts val="1689"/>
                        </a:lnSpc>
                        <a:buNone/>
                      </a:pPr>
                      <a:r>
                        <a:rPr lang="en-US" sz="1207" b="1" dirty="0">
                          <a:solidFill>
                            <a:srgbClr val="11242C"/>
                          </a:solidFill>
                          <a:latin typeface="IBM Plex Sans" pitchFamily="34" charset="0"/>
                          <a:ea typeface="IBM Plex Sans" pitchFamily="34" charset="-122"/>
                          <a:cs typeface="IBM Plex Sans" pitchFamily="34" charset="-120"/>
                        </a:rPr>
                        <a:t>Thời điểm</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tc>
                  <a:txBody>
                    <a:bodyPr/>
                    <a:lstStyle/>
                    <a:p>
                      <a:pPr marL="0" indent="0">
                        <a:lnSpc>
                          <a:spcPts val="1689"/>
                        </a:lnSpc>
                        <a:buNone/>
                      </a:pPr>
                      <a:r>
                        <a:rPr lang="en-US" sz="1207" b="1" dirty="0">
                          <a:solidFill>
                            <a:srgbClr val="11242C"/>
                          </a:solidFill>
                          <a:latin typeface="IBM Plex Sans" pitchFamily="34" charset="0"/>
                          <a:ea typeface="IBM Plex Sans" pitchFamily="34" charset="-122"/>
                          <a:cs typeface="IBM Plex Sans" pitchFamily="34" charset="-120"/>
                        </a:rPr>
                        <a:t>Vị trí cổ tay</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extLst>
                  <a:ext uri="{0D108BD9-81ED-4DB2-BD59-A6C34878D82A}">
                    <a16:rowId xmlns:a16="http://schemas.microsoft.com/office/drawing/2014/main" val="10000"/>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1,30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0,31</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1"/>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1,50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0,58</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2"/>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1,53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0,60</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1071416" y="4345050"/>
            <a:ext cx="4804240" cy="642100"/>
          </a:xfrm>
          <a:prstGeom prst="rect">
            <a:avLst/>
          </a:prstGeom>
          <a:noFill/>
          <a:ln/>
        </p:spPr>
        <p:txBody>
          <a:bodyPr wrap="square" lIns="0" tIns="0" rIns="0" bIns="0" rtlCol="0" anchor="t">
            <a:normAutofit/>
          </a:bodyPr>
          <a:lstStyle/>
          <a:p>
            <a:pPr marL="0" indent="0" algn="l">
              <a:lnSpc>
                <a:spcPts val="1620"/>
              </a:lnSpc>
              <a:buNone/>
            </a:pPr>
            <a:r>
              <a:rPr lang="en-US" sz="1118" dirty="0">
                <a:solidFill>
                  <a:srgbClr val="4A5A60"/>
                </a:solidFill>
                <a:latin typeface="IBM Plex Sans" pitchFamily="34" charset="0"/>
                <a:ea typeface="IBM Plex Sans" pitchFamily="34" charset="-122"/>
                <a:cs typeface="IBM Plex Sans" pitchFamily="34" charset="-120"/>
              </a:rPr>
              <a:t>Hai dòng đầu nằm sát nhau như mọi cặp khác, nhưng cách nhau 0,20 giây chứ không phải 0,03. </a:t>
            </a:r>
            <a:r>
              <a:rPr lang="en-US" sz="1118" dirty="0" err="1" smtClean="0">
                <a:solidFill>
                  <a:srgbClr val="4A5A60"/>
                </a:solidFill>
                <a:latin typeface="IBM Plex Sans" pitchFamily="34" charset="0"/>
                <a:ea typeface="IBM Plex Sans" pitchFamily="34" charset="-122"/>
                <a:cs typeface="IBM Plex Sans" pitchFamily="34" charset="-120"/>
              </a:rPr>
              <a:t>Dữ</a:t>
            </a:r>
            <a:r>
              <a:rPr lang="en-US" sz="1118" dirty="0" smtClean="0">
                <a:solidFill>
                  <a:srgbClr val="4A5A60"/>
                </a:solidFill>
                <a:latin typeface="IBM Plex Sans" pitchFamily="34" charset="0"/>
                <a:ea typeface="IBM Plex Sans" pitchFamily="34" charset="-122"/>
                <a:cs typeface="IBM Plex Sans" pitchFamily="34" charset="-120"/>
              </a:rPr>
              <a:t> lieu </a:t>
            </a:r>
            <a:r>
              <a:rPr lang="en-US" sz="1118" dirty="0" err="1" smtClean="0">
                <a:solidFill>
                  <a:srgbClr val="4A5A60"/>
                </a:solidFill>
                <a:latin typeface="IBM Plex Sans" pitchFamily="34" charset="0"/>
                <a:ea typeface="IBM Plex Sans" pitchFamily="34" charset="-122"/>
                <a:cs typeface="IBM Plex Sans" pitchFamily="34" charset="-120"/>
              </a:rPr>
              <a:t>jvaanx</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đúng</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định</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dạng</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nhưng</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đang</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mô</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tả</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sai</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sự</a:t>
            </a:r>
            <a:r>
              <a:rPr lang="en-US" sz="1118" dirty="0" smtClean="0">
                <a:solidFill>
                  <a:srgbClr val="4A5A60"/>
                </a:solidFill>
                <a:latin typeface="IBM Plex Sans" pitchFamily="34" charset="0"/>
                <a:ea typeface="IBM Plex Sans" pitchFamily="34" charset="-122"/>
                <a:cs typeface="IBM Plex Sans" pitchFamily="34" charset="-120"/>
              </a:rPr>
              <a:t> </a:t>
            </a:r>
            <a:r>
              <a:rPr lang="en-US" sz="1118" dirty="0" err="1" smtClean="0">
                <a:solidFill>
                  <a:srgbClr val="4A5A60"/>
                </a:solidFill>
                <a:latin typeface="IBM Plex Sans" pitchFamily="34" charset="0"/>
                <a:ea typeface="IBM Plex Sans" pitchFamily="34" charset="-122"/>
                <a:cs typeface="IBM Plex Sans" pitchFamily="34" charset="-120"/>
              </a:rPr>
              <a:t>thật</a:t>
            </a:r>
            <a:endParaRPr lang="en-US" sz="1118" dirty="0"/>
          </a:p>
        </p:txBody>
      </p:sp>
      <p:sp>
        <p:nvSpPr>
          <p:cNvPr id="9" name="Shape 6"/>
          <p:cNvSpPr/>
          <p:nvPr/>
        </p:nvSpPr>
        <p:spPr>
          <a:xfrm>
            <a:off x="6200673" y="2322103"/>
            <a:ext cx="5175295" cy="2895101"/>
          </a:xfrm>
          <a:prstGeom prst="roundRect">
            <a:avLst>
              <a:gd name="adj" fmla="val 3400"/>
            </a:avLst>
          </a:prstGeom>
          <a:solidFill>
            <a:srgbClr val="FDFDFC"/>
          </a:solidFill>
          <a:ln w="6350">
            <a:solidFill>
              <a:srgbClr val="DCE3E1"/>
            </a:solidFill>
            <a:prstDash val="solid"/>
          </a:ln>
        </p:spPr>
      </p:sp>
      <p:sp>
        <p:nvSpPr>
          <p:cNvPr id="10" name="Text 7"/>
          <p:cNvSpPr/>
          <p:nvPr/>
        </p:nvSpPr>
        <p:spPr>
          <a:xfrm>
            <a:off x="6456128" y="2577560"/>
            <a:ext cx="4804316" cy="255735"/>
          </a:xfrm>
          <a:prstGeom prst="rect">
            <a:avLst/>
          </a:prstGeom>
          <a:noFill/>
          <a:ln/>
        </p:spPr>
        <p:txBody>
          <a:bodyPr wrap="square" lIns="0" tIns="0" rIns="0" bIns="0" rtlCol="0" anchor="t">
            <a:normAutofit/>
          </a:bodyPr>
          <a:lstStyle/>
          <a:p>
            <a:pPr marL="0" indent="0" algn="l">
              <a:lnSpc>
                <a:spcPts val="1822"/>
              </a:lnSpc>
              <a:buNone/>
            </a:pPr>
            <a:r>
              <a:rPr lang="en-US" sz="1402" b="1" dirty="0">
                <a:solidFill>
                  <a:srgbClr val="17706A"/>
                </a:solidFill>
                <a:latin typeface="IBM Plex Sans" pitchFamily="34" charset="0"/>
                <a:ea typeface="IBM Plex Sans" pitchFamily="34" charset="-122"/>
                <a:cs typeface="IBM Plex Sans" pitchFamily="34" charset="-120"/>
              </a:rPr>
              <a:t>Cách </a:t>
            </a:r>
            <a:r>
              <a:rPr lang="en-US" sz="1402" b="1" dirty="0" err="1">
                <a:solidFill>
                  <a:srgbClr val="17706A"/>
                </a:solidFill>
                <a:latin typeface="IBM Plex Sans" pitchFamily="34" charset="0"/>
                <a:ea typeface="IBM Plex Sans" pitchFamily="34" charset="-122"/>
                <a:cs typeface="IBM Plex Sans" pitchFamily="34" charset="-120"/>
              </a:rPr>
              <a:t>đang</a:t>
            </a:r>
            <a:r>
              <a:rPr lang="en-US" sz="1402" b="1" dirty="0">
                <a:solidFill>
                  <a:srgbClr val="17706A"/>
                </a:solidFill>
                <a:latin typeface="IBM Plex Sans" pitchFamily="34" charset="0"/>
                <a:ea typeface="IBM Plex Sans" pitchFamily="34" charset="-122"/>
                <a:cs typeface="IBM Plex Sans" pitchFamily="34" charset="-120"/>
              </a:rPr>
              <a:t> </a:t>
            </a:r>
            <a:r>
              <a:rPr lang="en-US" sz="1402" b="1" dirty="0" smtClean="0">
                <a:solidFill>
                  <a:srgbClr val="17706A"/>
                </a:solidFill>
                <a:latin typeface="IBM Plex Sans" pitchFamily="34" charset="0"/>
                <a:ea typeface="IBM Plex Sans" pitchFamily="34" charset="-122"/>
                <a:cs typeface="IBM Plex Sans" pitchFamily="34" charset="-120"/>
              </a:rPr>
              <a:t>dung – </a:t>
            </a:r>
            <a:r>
              <a:rPr lang="en-US" sz="1402" b="1" dirty="0" err="1" smtClean="0">
                <a:solidFill>
                  <a:srgbClr val="17706A"/>
                </a:solidFill>
                <a:latin typeface="IBM Plex Sans" pitchFamily="34" charset="0"/>
                <a:ea typeface="IBM Plex Sans" pitchFamily="34" charset="-122"/>
                <a:cs typeface="IBM Plex Sans" pitchFamily="34" charset="-120"/>
              </a:rPr>
              <a:t>giữ</a:t>
            </a:r>
            <a:r>
              <a:rPr lang="en-US" sz="1402" b="1" dirty="0" smtClean="0">
                <a:solidFill>
                  <a:srgbClr val="17706A"/>
                </a:solidFill>
                <a:latin typeface="IBM Plex Sans" pitchFamily="34" charset="0"/>
                <a:ea typeface="IBM Plex Sans" pitchFamily="34" charset="-122"/>
                <a:cs typeface="IBM Plex Sans" pitchFamily="34" charset="-120"/>
              </a:rPr>
              <a:t> </a:t>
            </a:r>
            <a:r>
              <a:rPr lang="en-US" sz="1402" b="1" dirty="0" err="1" smtClean="0">
                <a:solidFill>
                  <a:srgbClr val="17706A"/>
                </a:solidFill>
                <a:latin typeface="IBM Plex Sans" pitchFamily="34" charset="0"/>
                <a:ea typeface="IBM Plex Sans" pitchFamily="34" charset="-122"/>
                <a:cs typeface="IBM Plex Sans" pitchFamily="34" charset="-120"/>
              </a:rPr>
              <a:t>nguyên</a:t>
            </a:r>
            <a:r>
              <a:rPr lang="en-US" sz="1402" b="1" dirty="0" smtClean="0">
                <a:solidFill>
                  <a:srgbClr val="17706A"/>
                </a:solidFill>
                <a:latin typeface="IBM Plex Sans" pitchFamily="34" charset="0"/>
                <a:ea typeface="IBM Plex Sans" pitchFamily="34" charset="-122"/>
                <a:cs typeface="IBM Plex Sans" pitchFamily="34" charset="-120"/>
              </a:rPr>
              <a:t> </a:t>
            </a:r>
            <a:r>
              <a:rPr lang="en-US" sz="1402" b="1" dirty="0" err="1" smtClean="0">
                <a:solidFill>
                  <a:srgbClr val="17706A"/>
                </a:solidFill>
                <a:latin typeface="IBM Plex Sans" pitchFamily="34" charset="0"/>
                <a:ea typeface="IBM Plex Sans" pitchFamily="34" charset="-122"/>
                <a:cs typeface="IBM Plex Sans" pitchFamily="34" charset="-120"/>
              </a:rPr>
              <a:t>các</a:t>
            </a:r>
            <a:r>
              <a:rPr lang="en-US" sz="1402" b="1" dirty="0" smtClean="0">
                <a:solidFill>
                  <a:srgbClr val="17706A"/>
                </a:solidFill>
                <a:latin typeface="IBM Plex Sans" pitchFamily="34" charset="0"/>
                <a:ea typeface="IBM Plex Sans" pitchFamily="34" charset="-122"/>
                <a:cs typeface="IBM Plex Sans" pitchFamily="34" charset="-120"/>
              </a:rPr>
              <a:t> frame </a:t>
            </a:r>
            <a:r>
              <a:rPr lang="en-US" sz="1402" b="1" dirty="0" err="1" smtClean="0">
                <a:solidFill>
                  <a:srgbClr val="17706A"/>
                </a:solidFill>
                <a:latin typeface="IBM Plex Sans" pitchFamily="34" charset="0"/>
                <a:ea typeface="IBM Plex Sans" pitchFamily="34" charset="-122"/>
                <a:cs typeface="IBM Plex Sans" pitchFamily="34" charset="-120"/>
              </a:rPr>
              <a:t>bị</a:t>
            </a:r>
            <a:r>
              <a:rPr lang="en-US" sz="1402" b="1" dirty="0" smtClean="0">
                <a:solidFill>
                  <a:srgbClr val="17706A"/>
                </a:solidFill>
                <a:latin typeface="IBM Plex Sans" pitchFamily="34" charset="0"/>
                <a:ea typeface="IBM Plex Sans" pitchFamily="34" charset="-122"/>
                <a:cs typeface="IBM Plex Sans" pitchFamily="34" charset="-120"/>
              </a:rPr>
              <a:t> </a:t>
            </a:r>
            <a:r>
              <a:rPr lang="en-US" sz="1402" b="1" dirty="0" err="1" smtClean="0">
                <a:solidFill>
                  <a:srgbClr val="17706A"/>
                </a:solidFill>
                <a:latin typeface="IBM Plex Sans" pitchFamily="34" charset="0"/>
                <a:ea typeface="IBM Plex Sans" pitchFamily="34" charset="-122"/>
                <a:cs typeface="IBM Plex Sans" pitchFamily="34" charset="-120"/>
              </a:rPr>
              <a:t>mất</a:t>
            </a:r>
            <a:endParaRPr lang="en-US" sz="1402"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56128" y="2909466"/>
          <a:ext cx="4664384" cy="1324607"/>
        </p:xfrm>
        <a:graphic>
          <a:graphicData uri="http://schemas.openxmlformats.org/drawingml/2006/table">
            <a:tbl>
              <a:tblPr/>
              <a:tblGrid>
                <a:gridCol w="2098973">
                  <a:extLst>
                    <a:ext uri="{9D8B030D-6E8A-4147-A177-3AD203B41FA5}">
                      <a16:colId xmlns:a16="http://schemas.microsoft.com/office/drawing/2014/main" val="20000"/>
                    </a:ext>
                  </a:extLst>
                </a:gridCol>
                <a:gridCol w="2565411">
                  <a:extLst>
                    <a:ext uri="{9D8B030D-6E8A-4147-A177-3AD203B41FA5}">
                      <a16:colId xmlns:a16="http://schemas.microsoft.com/office/drawing/2014/main" val="20001"/>
                    </a:ext>
                  </a:extLst>
                </a:gridCol>
              </a:tblGrid>
              <a:tr h="331097">
                <a:tc>
                  <a:txBody>
                    <a:bodyPr/>
                    <a:lstStyle/>
                    <a:p>
                      <a:pPr marL="0" indent="0">
                        <a:lnSpc>
                          <a:spcPts val="1689"/>
                        </a:lnSpc>
                        <a:buNone/>
                      </a:pPr>
                      <a:r>
                        <a:rPr lang="en-US" sz="1207" b="1" dirty="0">
                          <a:solidFill>
                            <a:srgbClr val="11242C"/>
                          </a:solidFill>
                          <a:latin typeface="IBM Plex Sans" pitchFamily="34" charset="0"/>
                          <a:ea typeface="IBM Plex Sans" pitchFamily="34" charset="-122"/>
                          <a:cs typeface="IBM Plex Sans" pitchFamily="34" charset="-120"/>
                        </a:rPr>
                        <a:t>Thời điểm</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tc>
                  <a:txBody>
                    <a:bodyPr/>
                    <a:lstStyle/>
                    <a:p>
                      <a:pPr marL="0" indent="0">
                        <a:lnSpc>
                          <a:spcPts val="1689"/>
                        </a:lnSpc>
                        <a:buNone/>
                      </a:pPr>
                      <a:r>
                        <a:rPr lang="en-US" sz="1207" b="1" dirty="0">
                          <a:solidFill>
                            <a:srgbClr val="11242C"/>
                          </a:solidFill>
                          <a:latin typeface="IBM Plex Sans" pitchFamily="34" charset="0"/>
                          <a:ea typeface="IBM Plex Sans" pitchFamily="34" charset="-122"/>
                          <a:cs typeface="IBM Plex Sans" pitchFamily="34" charset="-120"/>
                        </a:rPr>
                        <a:t>Vị trí cổ tay</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extLst>
                  <a:ext uri="{0D108BD9-81ED-4DB2-BD59-A6C34878D82A}">
                    <a16:rowId xmlns:a16="http://schemas.microsoft.com/office/drawing/2014/main" val="10000"/>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1,30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0,31</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1"/>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1,33 → 1,47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để trống</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2"/>
                  </a:ext>
                </a:extLst>
              </a:tr>
              <a:tr h="331170">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1,50 s</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9"/>
                        </a:lnSpc>
                        <a:buNone/>
                      </a:pPr>
                      <a:r>
                        <a:rPr lang="en-US" sz="1207" dirty="0">
                          <a:solidFill>
                            <a:srgbClr val="11242C"/>
                          </a:solidFill>
                          <a:latin typeface="IBM Plex Sans" pitchFamily="34" charset="0"/>
                          <a:ea typeface="IBM Plex Sans" pitchFamily="34" charset="-122"/>
                          <a:cs typeface="IBM Plex Sans" pitchFamily="34" charset="-120"/>
                        </a:rPr>
                        <a:t>0,58</a:t>
                      </a:r>
                      <a:endParaRPr lang="en-US" sz="1207" dirty="0">
                        <a:latin typeface="IBM Plex Sans" charset="0"/>
                        <a:ea typeface="IBM Plex Sans" charset="0"/>
                        <a:cs typeface="IBM Plex Sans" charset="0"/>
                      </a:endParaRPr>
                    </a:p>
                  </a:txBody>
                  <a:tcPr marL="53632" marR="53632" marT="53632" marB="53632">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8"/>
          <p:cNvSpPr/>
          <p:nvPr/>
        </p:nvSpPr>
        <p:spPr>
          <a:xfrm>
            <a:off x="6456128" y="4345050"/>
            <a:ext cx="4804316" cy="642100"/>
          </a:xfrm>
          <a:prstGeom prst="rect">
            <a:avLst/>
          </a:prstGeom>
          <a:noFill/>
          <a:ln/>
        </p:spPr>
        <p:txBody>
          <a:bodyPr wrap="square" lIns="0" tIns="0" rIns="0" bIns="0" rtlCol="0" anchor="t">
            <a:normAutofit/>
          </a:bodyPr>
          <a:lstStyle/>
          <a:p>
            <a:pPr marL="0" indent="0" algn="l">
              <a:lnSpc>
                <a:spcPts val="1724"/>
              </a:lnSpc>
              <a:buNone/>
            </a:pPr>
            <a:r>
              <a:rPr lang="en-US" sz="1189" dirty="0">
                <a:solidFill>
                  <a:srgbClr val="4A5A60"/>
                </a:solidFill>
                <a:latin typeface="IBM Plex Sans" pitchFamily="34" charset="0"/>
                <a:ea typeface="IBM Plex Sans" pitchFamily="34" charset="-122"/>
                <a:cs typeface="IBM Plex Sans" pitchFamily="34" charset="-120"/>
              </a:rPr>
              <a:t>Đủ một dòng cho mỗi frame, phần toạ độ để trống. Khoảng trống hiện ra đúng độ dài thật của nó, nên bước sau biết mình đang thiếu </a:t>
            </a:r>
            <a:r>
              <a:rPr lang="en-US" sz="1189" dirty="0" err="1">
                <a:solidFill>
                  <a:srgbClr val="4A5A60"/>
                </a:solidFill>
                <a:latin typeface="IBM Plex Sans" pitchFamily="34" charset="0"/>
                <a:ea typeface="IBM Plex Sans" pitchFamily="34" charset="-122"/>
                <a:cs typeface="IBM Plex Sans" pitchFamily="34" charset="-120"/>
              </a:rPr>
              <a:t>gì</a:t>
            </a:r>
            <a:r>
              <a:rPr lang="en-US" sz="1189" dirty="0" smtClean="0">
                <a:solidFill>
                  <a:srgbClr val="4A5A60"/>
                </a:solidFill>
                <a:latin typeface="IBM Plex Sans" pitchFamily="34" charset="0"/>
                <a:ea typeface="IBM Plex Sans" pitchFamily="34" charset="-122"/>
                <a:cs typeface="IBM Plex Sans" pitchFamily="34" charset="-120"/>
              </a:rPr>
              <a:t>.</a:t>
            </a:r>
            <a:endParaRPr lang="en-US" sz="1189" dirty="0"/>
          </a:p>
        </p:txBody>
      </p:sp>
      <p:sp>
        <p:nvSpPr>
          <p:cNvPr id="13" name="Text 9"/>
          <p:cNvSpPr/>
          <p:nvPr/>
        </p:nvSpPr>
        <p:spPr>
          <a:xfrm>
            <a:off x="812785" y="5423520"/>
            <a:ext cx="10883348" cy="443883"/>
          </a:xfrm>
          <a:prstGeom prst="rect">
            <a:avLst/>
          </a:prstGeom>
          <a:noFill/>
          <a:ln/>
        </p:spPr>
        <p:txBody>
          <a:bodyPr wrap="square" lIns="0" tIns="0" rIns="0" bIns="0" rtlCol="0" anchor="t">
            <a:normAutofit/>
          </a:bodyPr>
          <a:lstStyle/>
          <a:p>
            <a:pPr marL="0" indent="0" algn="l">
              <a:lnSpc>
                <a:spcPts val="1658"/>
              </a:lnSpc>
              <a:buNone/>
            </a:pPr>
            <a:r>
              <a:rPr lang="en-US" sz="1144" dirty="0" smtClean="0">
                <a:solidFill>
                  <a:srgbClr val="5D666B"/>
                </a:solidFill>
                <a:latin typeface="IBM Plex Sans" pitchFamily="34" charset="0"/>
                <a:ea typeface="IBM Plex Sans" pitchFamily="34" charset="-122"/>
                <a:cs typeface="IBM Plex Sans" pitchFamily="34" charset="-120"/>
              </a:rPr>
              <a:t>=&gt; </a:t>
            </a:r>
            <a:r>
              <a:rPr lang="en-US" sz="1144" dirty="0" err="1" smtClean="0">
                <a:solidFill>
                  <a:srgbClr val="5D666B"/>
                </a:solidFill>
                <a:latin typeface="IBM Plex Sans" pitchFamily="34" charset="0"/>
                <a:ea typeface="IBM Plex Sans" pitchFamily="34" charset="-122"/>
                <a:cs typeface="IBM Plex Sans" pitchFamily="34" charset="-120"/>
              </a:rPr>
              <a:t>Nhờ</a:t>
            </a:r>
            <a:r>
              <a:rPr lang="en-US" sz="1144" dirty="0" smtClean="0">
                <a:solidFill>
                  <a:srgbClr val="5D666B"/>
                </a:solidFill>
                <a:latin typeface="IBM Plex Sans" pitchFamily="34" charset="0"/>
                <a:ea typeface="IBM Plex Sans" pitchFamily="34" charset="-122"/>
                <a:cs typeface="IBM Plex Sans" pitchFamily="34" charset="-120"/>
              </a:rPr>
              <a:t> </a:t>
            </a:r>
            <a:r>
              <a:rPr lang="en-US" sz="1144" dirty="0">
                <a:solidFill>
                  <a:srgbClr val="5D666B"/>
                </a:solidFill>
                <a:latin typeface="IBM Plex Sans" pitchFamily="34" charset="0"/>
                <a:ea typeface="IBM Plex Sans" pitchFamily="34" charset="-122"/>
                <a:cs typeface="IBM Plex Sans" pitchFamily="34" charset="-120"/>
              </a:rPr>
              <a:t>vậy số dòng luôn bằng </a:t>
            </a:r>
            <a:r>
              <a:rPr lang="en-US" sz="1144" dirty="0" err="1">
                <a:solidFill>
                  <a:srgbClr val="5D666B"/>
                </a:solidFill>
                <a:latin typeface="IBM Plex Sans" pitchFamily="34" charset="0"/>
                <a:ea typeface="IBM Plex Sans" pitchFamily="34" charset="-122"/>
                <a:cs typeface="IBM Plex Sans" pitchFamily="34" charset="-120"/>
              </a:rPr>
              <a:t>số</a:t>
            </a:r>
            <a:r>
              <a:rPr lang="en-US" sz="1144" dirty="0">
                <a:solidFill>
                  <a:srgbClr val="5D666B"/>
                </a:solidFill>
                <a:latin typeface="IBM Plex Sans" pitchFamily="34" charset="0"/>
                <a:ea typeface="IBM Plex Sans" pitchFamily="34" charset="-122"/>
                <a:cs typeface="IBM Plex Sans" pitchFamily="34" charset="-120"/>
              </a:rPr>
              <a:t> </a:t>
            </a:r>
            <a:r>
              <a:rPr lang="en-US" sz="1144" dirty="0" smtClean="0">
                <a:solidFill>
                  <a:srgbClr val="5D666B"/>
                </a:solidFill>
                <a:latin typeface="IBM Plex Sans" pitchFamily="34" charset="0"/>
                <a:ea typeface="IBM Plex Sans" pitchFamily="34" charset="-122"/>
                <a:cs typeface="IBM Plex Sans" pitchFamily="34" charset="-120"/>
              </a:rPr>
              <a:t>frame</a:t>
            </a:r>
            <a:endParaRPr lang="en-US" sz="1144" dirty="0"/>
          </a:p>
        </p:txBody>
      </p:sp>
      <p:sp>
        <p:nvSpPr>
          <p:cNvPr id="14" name="Text 10"/>
          <p:cNvSpPr/>
          <p:nvPr/>
        </p:nvSpPr>
        <p:spPr>
          <a:xfrm>
            <a:off x="812785" y="6238218"/>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BƯỚC 5 · HIỂN THỊ CHO NGƯỜI XEM</a:t>
            </a:r>
            <a:endParaRPr lang="en-US" sz="1200" dirty="0"/>
          </a:p>
        </p:txBody>
      </p:sp>
      <p:sp>
        <p:nvSpPr>
          <p:cNvPr id="3" name="Text 1"/>
          <p:cNvSpPr/>
          <p:nvPr/>
        </p:nvSpPr>
        <p:spPr>
          <a:xfrm>
            <a:off x="812785" y="1280065"/>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err="1" smtClean="0">
                <a:solidFill>
                  <a:srgbClr val="11242C"/>
                </a:solidFill>
                <a:latin typeface="IBM Plex Sans" pitchFamily="34" charset="0"/>
                <a:ea typeface="IBM Plex Sans" pitchFamily="34" charset="-122"/>
              </a:rPr>
              <a:t>Hiển</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thị</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kết</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quả</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khung</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xương</a:t>
            </a:r>
            <a:r>
              <a:rPr lang="en-US" sz="3200" b="1" dirty="0" smtClean="0">
                <a:solidFill>
                  <a:srgbClr val="11242C"/>
                </a:solidFill>
                <a:latin typeface="IBM Plex Sans" pitchFamily="34" charset="0"/>
                <a:ea typeface="IBM Plex Sans" pitchFamily="34" charset="-122"/>
              </a:rPr>
              <a:t> </a:t>
            </a:r>
            <a:r>
              <a:rPr lang="en-US" sz="3200" b="1" dirty="0" err="1" smtClean="0">
                <a:solidFill>
                  <a:srgbClr val="11242C"/>
                </a:solidFill>
                <a:latin typeface="IBM Plex Sans" pitchFamily="34" charset="0"/>
                <a:ea typeface="IBM Plex Sans" pitchFamily="34" charset="-122"/>
              </a:rPr>
              <a:t>trên</a:t>
            </a:r>
            <a:r>
              <a:rPr lang="en-US" sz="3200" b="1" dirty="0" smtClean="0">
                <a:solidFill>
                  <a:srgbClr val="11242C"/>
                </a:solidFill>
                <a:latin typeface="IBM Plex Sans" pitchFamily="34" charset="0"/>
                <a:ea typeface="IBM Plex Sans" pitchFamily="34" charset="-122"/>
              </a:rPr>
              <a:t> camera</a:t>
            </a:r>
            <a:endParaRPr lang="en-US" sz="3200" dirty="0"/>
          </a:p>
        </p:txBody>
      </p:sp>
      <p:sp>
        <p:nvSpPr>
          <p:cNvPr id="4" name="Text 2"/>
          <p:cNvSpPr/>
          <p:nvPr/>
        </p:nvSpPr>
        <p:spPr>
          <a:xfrm>
            <a:off x="812785" y="2001354"/>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err="1">
                <a:solidFill>
                  <a:srgbClr val="4A5A60"/>
                </a:solidFill>
                <a:latin typeface="IBM Plex Sans" pitchFamily="34" charset="0"/>
                <a:ea typeface="IBM Plex Sans" pitchFamily="34" charset="-122"/>
                <a:cs typeface="IBM Plex Sans" pitchFamily="34" charset="-120"/>
              </a:rPr>
              <a:t>B</a:t>
            </a:r>
            <a:r>
              <a:rPr lang="en-US" sz="1500" dirty="0" err="1" smtClean="0">
                <a:solidFill>
                  <a:srgbClr val="4A5A60"/>
                </a:solidFill>
                <a:latin typeface="IBM Plex Sans" pitchFamily="34" charset="0"/>
                <a:ea typeface="IBM Plex Sans" pitchFamily="34" charset="-122"/>
                <a:cs typeface="IBM Plex Sans" pitchFamily="34" charset="-120"/>
              </a:rPr>
              <a:t>ản</a:t>
            </a:r>
            <a:r>
              <a:rPr lang="en-US" sz="1500" dirty="0" smtClean="0">
                <a:solidFill>
                  <a:srgbClr val="4A5A60"/>
                </a:solidFill>
                <a:latin typeface="IBM Plex Sans" pitchFamily="34" charset="0"/>
                <a:ea typeface="IBM Plex Sans" pitchFamily="34" charset="-122"/>
                <a:cs typeface="IBM Plex Sans" pitchFamily="34" charset="-120"/>
              </a:rPr>
              <a:t> </a:t>
            </a:r>
            <a:r>
              <a:rPr lang="en-US" sz="1500" dirty="0">
                <a:solidFill>
                  <a:srgbClr val="4A5A60"/>
                </a:solidFill>
                <a:latin typeface="IBM Plex Sans" pitchFamily="34" charset="0"/>
                <a:ea typeface="IBM Plex Sans" pitchFamily="34" charset="-122"/>
                <a:cs typeface="IBM Plex Sans" pitchFamily="34" charset="-120"/>
              </a:rPr>
              <a:t>sao của frame và không đưa gì trở lại đường dữ liệu.</a:t>
            </a:r>
            <a:endParaRPr lang="en-US" sz="1500" dirty="0"/>
          </a:p>
        </p:txBody>
      </p:sp>
      <p:sp>
        <p:nvSpPr>
          <p:cNvPr id="5" name="Shape 3"/>
          <p:cNvSpPr/>
          <p:nvPr/>
        </p:nvSpPr>
        <p:spPr>
          <a:xfrm>
            <a:off x="815960" y="2525092"/>
            <a:ext cx="3380317" cy="1958402"/>
          </a:xfrm>
          <a:prstGeom prst="roundRect">
            <a:avLst>
              <a:gd name="adj" fmla="val 5026"/>
            </a:avLst>
          </a:prstGeom>
          <a:solidFill>
            <a:srgbClr val="FDFDFC"/>
          </a:solidFill>
          <a:ln w="6350">
            <a:solidFill>
              <a:srgbClr val="DCE3E1"/>
            </a:solidFill>
            <a:prstDash val="solid"/>
          </a:ln>
        </p:spPr>
      </p:sp>
      <p:sp>
        <p:nvSpPr>
          <p:cNvPr id="6" name="Text 4"/>
          <p:cNvSpPr/>
          <p:nvPr/>
        </p:nvSpPr>
        <p:spPr>
          <a:xfrm>
            <a:off x="1071416" y="2780550"/>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Ảnh gương</a:t>
            </a:r>
            <a:endParaRPr lang="en-US" sz="2000" dirty="0"/>
          </a:p>
        </p:txBody>
      </p:sp>
      <p:sp>
        <p:nvSpPr>
          <p:cNvPr id="7" name="Text 5"/>
          <p:cNvSpPr/>
          <p:nvPr/>
        </p:nvSpPr>
        <p:spPr>
          <a:xfrm>
            <a:off x="1071416" y="3161475"/>
            <a:ext cx="2955489" cy="1091965"/>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Bản cho người xem được lật gương, vì người dùng chỉ điều khiển tự nhiên khi thấy tay mình như trong gương.</a:t>
            </a:r>
            <a:endParaRPr lang="en-US" sz="1500" dirty="0"/>
          </a:p>
        </p:txBody>
      </p:sp>
      <p:sp>
        <p:nvSpPr>
          <p:cNvPr id="8" name="Shape 6"/>
          <p:cNvSpPr/>
          <p:nvPr/>
        </p:nvSpPr>
        <p:spPr>
          <a:xfrm>
            <a:off x="4405769" y="2525092"/>
            <a:ext cx="3380391" cy="1958402"/>
          </a:xfrm>
          <a:prstGeom prst="roundRect">
            <a:avLst>
              <a:gd name="adj" fmla="val 5026"/>
            </a:avLst>
          </a:prstGeom>
          <a:solidFill>
            <a:srgbClr val="FDFDFC"/>
          </a:solidFill>
          <a:ln w="6350">
            <a:solidFill>
              <a:srgbClr val="DCE3E1"/>
            </a:solidFill>
            <a:prstDash val="solid"/>
          </a:ln>
        </p:spPr>
      </p:sp>
      <p:sp>
        <p:nvSpPr>
          <p:cNvPr id="9" name="Text 7"/>
          <p:cNvSpPr/>
          <p:nvPr/>
        </p:nvSpPr>
        <p:spPr>
          <a:xfrm>
            <a:off x="4661224" y="2780550"/>
            <a:ext cx="2955564"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Khung xương</a:t>
            </a:r>
            <a:endParaRPr lang="en-US" sz="2000" dirty="0"/>
          </a:p>
        </p:txBody>
      </p:sp>
      <p:sp>
        <p:nvSpPr>
          <p:cNvPr id="10" name="Text 8"/>
          <p:cNvSpPr/>
          <p:nvPr/>
        </p:nvSpPr>
        <p:spPr>
          <a:xfrm>
            <a:off x="4661224" y="3161475"/>
            <a:ext cx="2955564" cy="82532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Vẽ 21 điểm và các đoạn nối, dùng đúng bộ đoạn nối do mô hình công bố chứ không tự khai báo.</a:t>
            </a:r>
            <a:endParaRPr lang="en-US" sz="1500" dirty="0"/>
          </a:p>
        </p:txBody>
      </p:sp>
      <p:sp>
        <p:nvSpPr>
          <p:cNvPr id="11" name="Shape 9"/>
          <p:cNvSpPr/>
          <p:nvPr/>
        </p:nvSpPr>
        <p:spPr>
          <a:xfrm>
            <a:off x="7995651" y="2525092"/>
            <a:ext cx="3380317" cy="1958402"/>
          </a:xfrm>
          <a:prstGeom prst="roundRect">
            <a:avLst>
              <a:gd name="adj" fmla="val 5026"/>
            </a:avLst>
          </a:prstGeom>
          <a:solidFill>
            <a:srgbClr val="FDFDFC"/>
          </a:solidFill>
          <a:ln w="6350">
            <a:solidFill>
              <a:srgbClr val="DCE3E1"/>
            </a:solidFill>
            <a:prstDash val="solid"/>
          </a:ln>
        </p:spPr>
      </p:sp>
      <p:sp>
        <p:nvSpPr>
          <p:cNvPr id="12" name="Text 10"/>
          <p:cNvSpPr/>
          <p:nvPr/>
        </p:nvSpPr>
        <p:spPr>
          <a:xfrm>
            <a:off x="8251106" y="2780550"/>
            <a:ext cx="2955489"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06A"/>
                </a:solidFill>
                <a:latin typeface="IBM Plex Sans" pitchFamily="34" charset="0"/>
                <a:ea typeface="IBM Plex Sans" pitchFamily="34" charset="-122"/>
                <a:cs typeface="IBM Plex Sans" pitchFamily="34" charset="-120"/>
              </a:rPr>
              <a:t>Số tốc độ khung</a:t>
            </a:r>
            <a:endParaRPr lang="en-US" sz="2000" dirty="0"/>
          </a:p>
        </p:txBody>
      </p:sp>
      <p:sp>
        <p:nvSpPr>
          <p:cNvPr id="13" name="Text 11"/>
          <p:cNvSpPr/>
          <p:nvPr/>
        </p:nvSpPr>
        <p:spPr>
          <a:xfrm>
            <a:off x="8251106" y="3161475"/>
            <a:ext cx="2955489" cy="82532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60"/>
                </a:solidFill>
                <a:latin typeface="IBM Plex Sans" pitchFamily="34" charset="0"/>
                <a:ea typeface="IBM Plex Sans" pitchFamily="34" charset="-122"/>
                <a:cs typeface="IBM Plex Sans" pitchFamily="34" charset="-120"/>
              </a:rPr>
              <a:t>Hiển thị tốc độ khung trượt theo 30 frame gần nhất, để thấy ngay khi máy không theo kịp.</a:t>
            </a:r>
            <a:endParaRPr lang="en-US" sz="1500" dirty="0"/>
          </a:p>
        </p:txBody>
      </p:sp>
      <p:sp>
        <p:nvSpPr>
          <p:cNvPr id="14" name="Text 12"/>
          <p:cNvSpPr/>
          <p:nvPr/>
        </p:nvSpPr>
        <p:spPr>
          <a:xfrm>
            <a:off x="812785" y="4740597"/>
            <a:ext cx="10883348" cy="558682"/>
          </a:xfrm>
          <a:prstGeom prst="rect">
            <a:avLst/>
          </a:prstGeom>
          <a:noFill/>
          <a:ln/>
        </p:spPr>
        <p:txBody>
          <a:bodyPr wrap="square" lIns="0" tIns="0" rIns="0" bIns="0" rtlCol="0" anchor="t">
            <a:normAutofit/>
          </a:bodyPr>
          <a:lstStyle/>
          <a:p>
            <a:pPr marL="0" indent="0" algn="l">
              <a:lnSpc>
                <a:spcPts val="2100"/>
              </a:lnSpc>
              <a:buNone/>
            </a:pPr>
            <a:r>
              <a:rPr lang="en-US" sz="1500" dirty="0" err="1">
                <a:solidFill>
                  <a:srgbClr val="9E4E1E"/>
                </a:solidFill>
                <a:latin typeface="IBM Plex Sans" pitchFamily="34" charset="0"/>
                <a:ea typeface="IBM Plex Sans" pitchFamily="34" charset="-122"/>
                <a:cs typeface="IBM Plex Sans" pitchFamily="34" charset="-120"/>
              </a:rPr>
              <a:t>B</a:t>
            </a:r>
            <a:r>
              <a:rPr lang="en-US" sz="1500" dirty="0" err="1" smtClean="0">
                <a:solidFill>
                  <a:srgbClr val="9E4E1E"/>
                </a:solidFill>
                <a:latin typeface="IBM Plex Sans" pitchFamily="34" charset="0"/>
                <a:ea typeface="IBM Plex Sans" pitchFamily="34" charset="-122"/>
                <a:cs typeface="IBM Plex Sans" pitchFamily="34" charset="-120"/>
              </a:rPr>
              <a:t>ước</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err="1" smtClean="0">
                <a:solidFill>
                  <a:srgbClr val="9E4E1E"/>
                </a:solidFill>
                <a:latin typeface="IBM Plex Sans" pitchFamily="34" charset="0"/>
                <a:ea typeface="IBM Plex Sans" pitchFamily="34" charset="-122"/>
                <a:cs typeface="IBM Plex Sans" pitchFamily="34" charset="-120"/>
              </a:rPr>
              <a:t>này</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err="1" smtClean="0">
                <a:solidFill>
                  <a:srgbClr val="9E4E1E"/>
                </a:solidFill>
                <a:latin typeface="IBM Plex Sans" pitchFamily="34" charset="0"/>
                <a:ea typeface="IBM Plex Sans" pitchFamily="34" charset="-122"/>
                <a:cs typeface="IBM Plex Sans" pitchFamily="34" charset="-120"/>
              </a:rPr>
              <a:t>cần</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err="1">
                <a:solidFill>
                  <a:srgbClr val="9E4E1E"/>
                </a:solidFill>
                <a:latin typeface="IBM Plex Sans" pitchFamily="34" charset="0"/>
                <a:ea typeface="IBM Plex Sans" pitchFamily="34" charset="-122"/>
                <a:cs typeface="IBM Plex Sans" pitchFamily="34" charset="-120"/>
              </a:rPr>
              <a:t>lật</a:t>
            </a:r>
            <a:r>
              <a:rPr lang="en-US" sz="1500" dirty="0">
                <a:solidFill>
                  <a:srgbClr val="9E4E1E"/>
                </a:solidFill>
                <a:latin typeface="IBM Plex Sans" pitchFamily="34" charset="0"/>
                <a:ea typeface="IBM Plex Sans" pitchFamily="34" charset="-122"/>
                <a:cs typeface="IBM Plex Sans" pitchFamily="34" charset="-120"/>
              </a:rPr>
              <a:t> </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err="1" smtClean="0">
                <a:solidFill>
                  <a:srgbClr val="9E4E1E"/>
                </a:solidFill>
                <a:latin typeface="IBM Plex Sans" pitchFamily="34" charset="0"/>
                <a:ea typeface="IBM Plex Sans" pitchFamily="34" charset="-122"/>
                <a:cs typeface="IBM Plex Sans" pitchFamily="34" charset="-120"/>
              </a:rPr>
              <a:t>gương</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err="1" smtClean="0">
                <a:solidFill>
                  <a:srgbClr val="9E4E1E"/>
                </a:solidFill>
                <a:latin typeface="IBM Plex Sans" pitchFamily="34" charset="0"/>
                <a:ea typeface="IBM Plex Sans" pitchFamily="34" charset="-122"/>
                <a:cs typeface="IBM Plex Sans" pitchFamily="34" charset="-120"/>
              </a:rPr>
              <a:t>vì</a:t>
            </a:r>
            <a:r>
              <a:rPr lang="en-US" sz="1500" dirty="0" smtClean="0">
                <a:solidFill>
                  <a:srgbClr val="9E4E1E"/>
                </a:solidFill>
                <a:latin typeface="IBM Plex Sans" pitchFamily="34" charset="0"/>
                <a:ea typeface="IBM Plex Sans" pitchFamily="34" charset="-122"/>
                <a:cs typeface="IBM Plex Sans" pitchFamily="34" charset="-120"/>
              </a:rPr>
              <a:t> </a:t>
            </a:r>
            <a:r>
              <a:rPr lang="en-US" sz="1500" dirty="0">
                <a:solidFill>
                  <a:srgbClr val="9E4E1E"/>
                </a:solidFill>
                <a:latin typeface="IBM Plex Sans" pitchFamily="34" charset="0"/>
                <a:ea typeface="IBM Plex Sans" pitchFamily="34" charset="-122"/>
                <a:cs typeface="IBM Plex Sans" pitchFamily="34" charset="-120"/>
              </a:rPr>
              <a:t>người dùng cần thấy ảnh </a:t>
            </a:r>
            <a:r>
              <a:rPr lang="en-US" sz="1500" dirty="0" err="1">
                <a:solidFill>
                  <a:srgbClr val="9E4E1E"/>
                </a:solidFill>
                <a:latin typeface="IBM Plex Sans" pitchFamily="34" charset="0"/>
                <a:ea typeface="IBM Plex Sans" pitchFamily="34" charset="-122"/>
                <a:cs typeface="IBM Plex Sans" pitchFamily="34" charset="-120"/>
              </a:rPr>
              <a:t>gương</a:t>
            </a:r>
            <a:r>
              <a:rPr lang="en-US" sz="1500" dirty="0" smtClean="0">
                <a:solidFill>
                  <a:srgbClr val="9E4E1E"/>
                </a:solidFill>
                <a:latin typeface="IBM Plex Sans" pitchFamily="34" charset="0"/>
                <a:ea typeface="IBM Plex Sans" pitchFamily="34" charset="-122"/>
                <a:cs typeface="IBM Plex Sans" pitchFamily="34" charset="-120"/>
              </a:rPr>
              <a:t>.</a:t>
            </a:r>
            <a:endParaRPr lang="en-US" sz="1500" dirty="0"/>
          </a:p>
        </p:txBody>
      </p:sp>
      <p:sp>
        <p:nvSpPr>
          <p:cNvPr id="15" name="Text 13"/>
          <p:cNvSpPr/>
          <p:nvPr/>
        </p:nvSpPr>
        <p:spPr>
          <a:xfrm>
            <a:off x="812785" y="6238211"/>
            <a:ext cx="137415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Bước 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A"/>
                </a:solidFill>
                <a:latin typeface="IBM Plex Sans" pitchFamily="34" charset="0"/>
                <a:ea typeface="IBM Plex Sans" pitchFamily="34" charset="-122"/>
                <a:cs typeface="IBM Plex Sans" pitchFamily="34" charset="-120"/>
              </a:rPr>
              <a:t>KHÉP LẠI · CÔNG CỤ</a:t>
            </a:r>
            <a:endParaRPr lang="en-US" sz="1200" dirty="0"/>
          </a:p>
        </p:txBody>
      </p:sp>
      <p:sp>
        <p:nvSpPr>
          <p:cNvPr id="3" name="Text 1"/>
          <p:cNvSpPr/>
          <p:nvPr/>
        </p:nvSpPr>
        <p:spPr>
          <a:xfrm>
            <a:off x="812785" y="1280071"/>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1242C"/>
                </a:solidFill>
                <a:latin typeface="IBM Plex Sans" pitchFamily="34" charset="0"/>
                <a:ea typeface="IBM Plex Sans" pitchFamily="34" charset="-122"/>
                <a:cs typeface="IBM Plex Sans" pitchFamily="34" charset="-120"/>
              </a:rPr>
              <a:t>Thư viện, mô hình và dữ liệu</a:t>
            </a:r>
            <a:endParaRPr lang="en-US" sz="3200" dirty="0"/>
          </a:p>
        </p:txBody>
      </p:sp>
      <p:sp>
        <p:nvSpPr>
          <p:cNvPr id="4" name="Shape 2"/>
          <p:cNvSpPr/>
          <p:nvPr/>
        </p:nvSpPr>
        <p:spPr>
          <a:xfrm>
            <a:off x="815960" y="2004529"/>
            <a:ext cx="5175221" cy="2951192"/>
          </a:xfrm>
          <a:prstGeom prst="roundRect">
            <a:avLst>
              <a:gd name="adj" fmla="val 2877"/>
            </a:avLst>
          </a:prstGeom>
          <a:solidFill>
            <a:srgbClr val="FDFDFC"/>
          </a:solidFill>
          <a:ln w="6350">
            <a:solidFill>
              <a:srgbClr val="DCE3E1"/>
            </a:solidFill>
            <a:prstDash val="solid"/>
          </a:ln>
        </p:spPr>
      </p:sp>
      <p:sp>
        <p:nvSpPr>
          <p:cNvPr id="5" name="Text 3"/>
          <p:cNvSpPr/>
          <p:nvPr/>
        </p:nvSpPr>
        <p:spPr>
          <a:xfrm>
            <a:off x="1071416" y="2259980"/>
            <a:ext cx="4804240"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706A"/>
                </a:solidFill>
                <a:latin typeface="IBM Plex Sans" pitchFamily="34" charset="0"/>
                <a:ea typeface="IBM Plex Sans" pitchFamily="34" charset="-122"/>
                <a:cs typeface="IBM Plex Sans" pitchFamily="34" charset="-120"/>
              </a:rPr>
              <a:t>Đang dùng ở Phase 0–1</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71416" y="2615481"/>
          <a:ext cx="4664311" cy="1975998"/>
        </p:xfrm>
        <a:graphic>
          <a:graphicData uri="http://schemas.openxmlformats.org/drawingml/2006/table">
            <a:tbl>
              <a:tblPr/>
              <a:tblGrid>
                <a:gridCol w="2098940">
                  <a:extLst>
                    <a:ext uri="{9D8B030D-6E8A-4147-A177-3AD203B41FA5}">
                      <a16:colId xmlns:a16="http://schemas.microsoft.com/office/drawing/2014/main" val="20000"/>
                    </a:ext>
                  </a:extLst>
                </a:gridCol>
                <a:gridCol w="2565371">
                  <a:extLst>
                    <a:ext uri="{9D8B030D-6E8A-4147-A177-3AD203B41FA5}">
                      <a16:colId xmlns:a16="http://schemas.microsoft.com/office/drawing/2014/main" val="20001"/>
                    </a:ext>
                  </a:extLst>
                </a:gridCol>
              </a:tblGrid>
              <a:tr h="329333">
                <a:tc>
                  <a:txBody>
                    <a:bodyPr/>
                    <a:lstStyle/>
                    <a:p>
                      <a:pPr marL="0" indent="0">
                        <a:lnSpc>
                          <a:spcPts val="1680"/>
                        </a:lnSpc>
                        <a:buNone/>
                      </a:pPr>
                      <a:r>
                        <a:rPr lang="en-US" sz="1200" b="1" dirty="0">
                          <a:solidFill>
                            <a:srgbClr val="11242C"/>
                          </a:solidFill>
                          <a:latin typeface="IBM Plex Sans" pitchFamily="34" charset="0"/>
                          <a:ea typeface="IBM Plex Sans" pitchFamily="34" charset="-122"/>
                          <a:cs typeface="IBM Plex Sans" pitchFamily="34" charset="-120"/>
                        </a:rPr>
                        <a:t>Thành phần</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tc>
                  <a:txBody>
                    <a:bodyPr/>
                    <a:lstStyle/>
                    <a:p>
                      <a:pPr marL="0" indent="0">
                        <a:lnSpc>
                          <a:spcPts val="1680"/>
                        </a:lnSpc>
                        <a:buNone/>
                      </a:pPr>
                      <a:r>
                        <a:rPr lang="en-US" sz="1200" b="1" dirty="0">
                          <a:solidFill>
                            <a:srgbClr val="11242C"/>
                          </a:solidFill>
                          <a:latin typeface="IBM Plex Sans" pitchFamily="34" charset="0"/>
                          <a:ea typeface="IBM Plex Sans" pitchFamily="34" charset="-122"/>
                          <a:cs typeface="IBM Plex Sans" pitchFamily="34" charset="-120"/>
                        </a:rPr>
                        <a:t>Phiên bản</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solidFill>
                      <a:srgbClr val="E2E5E5"/>
                    </a:solidFill>
                  </a:tcPr>
                </a:tc>
                <a:extLst>
                  <a:ext uri="{0D108BD9-81ED-4DB2-BD59-A6C34878D82A}">
                    <a16:rowId xmlns:a16="http://schemas.microsoft.com/office/drawing/2014/main" val="10000"/>
                  </a:ext>
                </a:extLst>
              </a:tr>
              <a:tr h="329333">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Python (conda env)</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3.10.21</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1"/>
                  </a:ext>
                </a:extLst>
              </a:tr>
              <a:tr h="329333">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OpenCV</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5.0.0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2"/>
                  </a:ext>
                </a:extLst>
              </a:tr>
              <a:tr h="329333">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MediaPipe</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1.0.1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3"/>
                  </a:ext>
                </a:extLst>
              </a:tr>
              <a:tr h="329333">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NumPy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2.2.6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4"/>
                  </a:ext>
                </a:extLst>
              </a:tr>
              <a:tr h="329333">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pytest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tc>
                  <a:txBody>
                    <a:bodyPr/>
                    <a:lstStyle/>
                    <a:p>
                      <a:pPr marL="0" indent="0">
                        <a:lnSpc>
                          <a:spcPts val="1680"/>
                        </a:lnSpc>
                        <a:buNone/>
                      </a:pPr>
                      <a:r>
                        <a:rPr lang="en-US" sz="1200" dirty="0">
                          <a:solidFill>
                            <a:srgbClr val="11242C"/>
                          </a:solidFill>
                          <a:latin typeface="IBM Plex Sans" pitchFamily="34" charset="0"/>
                          <a:ea typeface="IBM Plex Sans" pitchFamily="34" charset="-122"/>
                          <a:cs typeface="IBM Plex Sans" pitchFamily="34" charset="-120"/>
                        </a:rPr>
                        <a:t>9.1.1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8C9"/>
                      </a:solidFill>
                      <a:prstDash val="solid"/>
                      <a:round/>
                      <a:headEnd type="none" w="med" len="med"/>
                      <a:tailEnd type="none" w="med" len="med"/>
                    </a:lnL>
                    <a:lnR w="12700" cap="flat" cmpd="sng" algn="ctr">
                      <a:solidFill>
                        <a:srgbClr val="C2C8C9"/>
                      </a:solidFill>
                      <a:prstDash val="solid"/>
                      <a:round/>
                      <a:headEnd type="none" w="med" len="med"/>
                      <a:tailEnd type="none" w="med" len="med"/>
                    </a:lnR>
                    <a:lnT w="12700" cap="flat" cmpd="sng" algn="ctr">
                      <a:solidFill>
                        <a:srgbClr val="C2C8C9"/>
                      </a:solidFill>
                      <a:prstDash val="solid"/>
                      <a:round/>
                      <a:headEnd type="none" w="med" len="med"/>
                      <a:tailEnd type="none" w="med" len="med"/>
                    </a:lnT>
                    <a:lnB w="12700" cap="flat" cmpd="sng" algn="ctr">
                      <a:solidFill>
                        <a:srgbClr val="C2C8C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6200673" y="2004529"/>
            <a:ext cx="5175295" cy="2951192"/>
          </a:xfrm>
          <a:prstGeom prst="roundRect">
            <a:avLst>
              <a:gd name="adj" fmla="val 2877"/>
            </a:avLst>
          </a:prstGeom>
          <a:solidFill>
            <a:srgbClr val="FDFDFC"/>
          </a:solidFill>
          <a:ln w="6350">
            <a:solidFill>
              <a:srgbClr val="DCE3E1"/>
            </a:solidFill>
            <a:prstDash val="solid"/>
          </a:ln>
        </p:spPr>
      </p:sp>
      <p:sp>
        <p:nvSpPr>
          <p:cNvPr id="9" name="Text 6"/>
          <p:cNvSpPr/>
          <p:nvPr/>
        </p:nvSpPr>
        <p:spPr>
          <a:xfrm>
            <a:off x="6456128" y="2259980"/>
            <a:ext cx="4804316"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706A"/>
                </a:solidFill>
                <a:latin typeface="IBM Plex Sans" pitchFamily="34" charset="0"/>
                <a:ea typeface="IBM Plex Sans" pitchFamily="34" charset="-122"/>
                <a:cs typeface="IBM Plex Sans" pitchFamily="34" charset="-120"/>
              </a:rPr>
              <a:t>Mô hình và dữ liệu</a:t>
            </a:r>
            <a:endParaRPr lang="en-US" sz="1500" dirty="0"/>
          </a:p>
        </p:txBody>
      </p:sp>
      <p:sp>
        <p:nvSpPr>
          <p:cNvPr id="10" name="Text 7"/>
          <p:cNvSpPr/>
          <p:nvPr/>
        </p:nvSpPr>
        <p:spPr>
          <a:xfrm>
            <a:off x="6456128" y="2615481"/>
            <a:ext cx="4804316" cy="50400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0"/>
                </a:solidFill>
                <a:latin typeface="IBM Plex Sans" pitchFamily="34" charset="0"/>
                <a:ea typeface="IBM Plex Sans" pitchFamily="34" charset="-122"/>
                <a:cs typeface="IBM Plex Sans" pitchFamily="34" charset="-120"/>
              </a:rPr>
              <a:t>hand_landmarker.task — </a:t>
            </a:r>
            <a:r>
              <a:rPr lang="en-US" sz="1300" dirty="0" err="1" smtClean="0">
                <a:solidFill>
                  <a:srgbClr val="4A5A60"/>
                </a:solidFill>
                <a:latin typeface="IBM Plex Sans" pitchFamily="34" charset="0"/>
                <a:ea typeface="IBM Plex Sans" pitchFamily="34" charset="-122"/>
                <a:cs typeface="IBM Plex Sans" pitchFamily="34" charset="-120"/>
              </a:rPr>
              <a:t>bản</a:t>
            </a:r>
            <a:r>
              <a:rPr lang="en-US" sz="1300" dirty="0" smtClean="0">
                <a:solidFill>
                  <a:srgbClr val="4A5A60"/>
                </a:solidFill>
                <a:latin typeface="IBM Plex Sans" pitchFamily="34" charset="0"/>
                <a:ea typeface="IBM Plex Sans" pitchFamily="34" charset="-122"/>
                <a:cs typeface="IBM Plex Sans" pitchFamily="34" charset="-120"/>
              </a:rPr>
              <a:t> float16, 7,8 MB, </a:t>
            </a:r>
            <a:r>
              <a:rPr lang="en-US" sz="1300" dirty="0" err="1" smtClean="0">
                <a:solidFill>
                  <a:srgbClr val="4A5A60"/>
                </a:solidFill>
                <a:latin typeface="IBM Plex Sans" pitchFamily="34" charset="0"/>
                <a:ea typeface="IBM Plex Sans" pitchFamily="34" charset="-122"/>
                <a:cs typeface="IBM Plex Sans" pitchFamily="34" charset="-120"/>
              </a:rPr>
              <a:t>là</a:t>
            </a:r>
            <a:r>
              <a:rPr lang="en-US" sz="1300" dirty="0" smtClean="0">
                <a:solidFill>
                  <a:srgbClr val="4A5A60"/>
                </a:solidFill>
                <a:latin typeface="IBM Plex Sans" pitchFamily="34" charset="0"/>
                <a:ea typeface="IBM Plex Sans" pitchFamily="34" charset="-122"/>
                <a:cs typeface="IBM Plex Sans" pitchFamily="34" charset="-120"/>
              </a:rPr>
              <a:t> </a:t>
            </a:r>
            <a:r>
              <a:rPr lang="en-US" sz="1300" dirty="0" err="1" smtClean="0">
                <a:solidFill>
                  <a:srgbClr val="4A5A60"/>
                </a:solidFill>
                <a:latin typeface="IBM Plex Sans" pitchFamily="34" charset="0"/>
                <a:ea typeface="IBM Plex Sans" pitchFamily="34" charset="-122"/>
                <a:cs typeface="IBM Plex Sans" pitchFamily="34" charset="-120"/>
              </a:rPr>
              <a:t>một</a:t>
            </a:r>
            <a:r>
              <a:rPr lang="en-US" sz="1300" dirty="0" smtClean="0">
                <a:solidFill>
                  <a:srgbClr val="4A5A60"/>
                </a:solidFill>
                <a:latin typeface="IBM Plex Sans" pitchFamily="34" charset="0"/>
                <a:ea typeface="IBM Plex Sans" pitchFamily="34" charset="-122"/>
                <a:cs typeface="IBM Plex Sans" pitchFamily="34" charset="-120"/>
              </a:rPr>
              <a:t> file zip </a:t>
            </a:r>
            <a:r>
              <a:rPr lang="en-US" sz="1300" dirty="0" err="1" smtClean="0">
                <a:solidFill>
                  <a:srgbClr val="4A5A60"/>
                </a:solidFill>
                <a:latin typeface="IBM Plex Sans" pitchFamily="34" charset="0"/>
                <a:ea typeface="IBM Plex Sans" pitchFamily="34" charset="-122"/>
                <a:cs typeface="IBM Plex Sans" pitchFamily="34" charset="-120"/>
              </a:rPr>
              <a:t>chứa</a:t>
            </a:r>
            <a:r>
              <a:rPr lang="en-US" sz="1300" dirty="0" smtClean="0">
                <a:solidFill>
                  <a:srgbClr val="4A5A60"/>
                </a:solidFill>
                <a:latin typeface="IBM Plex Sans" pitchFamily="34" charset="0"/>
                <a:ea typeface="IBM Plex Sans" pitchFamily="34" charset="-122"/>
                <a:cs typeface="IBM Plex Sans" pitchFamily="34" charset="-120"/>
              </a:rPr>
              <a:t> </a:t>
            </a:r>
            <a:r>
              <a:rPr lang="en-US" sz="1300" dirty="0" err="1" smtClean="0">
                <a:solidFill>
                  <a:srgbClr val="4A5A60"/>
                </a:solidFill>
                <a:latin typeface="IBM Plex Sans" pitchFamily="34" charset="0"/>
                <a:ea typeface="IBM Plex Sans" pitchFamily="34" charset="-122"/>
                <a:cs typeface="IBM Plex Sans" pitchFamily="34" charset="-120"/>
              </a:rPr>
              <a:t>hand_detector.tflite</a:t>
            </a:r>
            <a:r>
              <a:rPr lang="en-US" sz="1300" dirty="0" smtClean="0">
                <a:solidFill>
                  <a:srgbClr val="4A5A60"/>
                </a:solidFill>
                <a:latin typeface="IBM Plex Sans" pitchFamily="34" charset="0"/>
                <a:ea typeface="IBM Plex Sans" pitchFamily="34" charset="-122"/>
                <a:cs typeface="IBM Plex Sans" pitchFamily="34" charset="-120"/>
              </a:rPr>
              <a:t> </a:t>
            </a:r>
            <a:r>
              <a:rPr lang="en-US" sz="1300" dirty="0" err="1" smtClean="0">
                <a:solidFill>
                  <a:srgbClr val="4A5A60"/>
                </a:solidFill>
                <a:latin typeface="IBM Plex Sans" pitchFamily="34" charset="0"/>
                <a:ea typeface="IBM Plex Sans" pitchFamily="34" charset="-122"/>
                <a:cs typeface="IBM Plex Sans" pitchFamily="34" charset="-120"/>
              </a:rPr>
              <a:t>và</a:t>
            </a:r>
            <a:r>
              <a:rPr lang="en-US" sz="1300" dirty="0" smtClean="0">
                <a:solidFill>
                  <a:srgbClr val="4A5A60"/>
                </a:solidFill>
                <a:latin typeface="IBM Plex Sans" pitchFamily="34" charset="0"/>
                <a:ea typeface="IBM Plex Sans" pitchFamily="34" charset="-122"/>
                <a:cs typeface="IBM Plex Sans" pitchFamily="34" charset="-120"/>
              </a:rPr>
              <a:t> </a:t>
            </a:r>
            <a:r>
              <a:rPr lang="en-US" sz="1300" dirty="0" err="1" smtClean="0">
                <a:solidFill>
                  <a:srgbClr val="4A5A60"/>
                </a:solidFill>
                <a:latin typeface="IBM Plex Sans" pitchFamily="34" charset="0"/>
                <a:ea typeface="IBM Plex Sans" pitchFamily="34" charset="-122"/>
                <a:cs typeface="IBM Plex Sans" pitchFamily="34" charset="-120"/>
              </a:rPr>
              <a:t>hand_landmarks_detector.tflite</a:t>
            </a:r>
            <a:r>
              <a:rPr lang="en-US" sz="1300" dirty="0" smtClean="0">
                <a:solidFill>
                  <a:srgbClr val="4A5A60"/>
                </a:solidFill>
                <a:latin typeface="IBM Plex Sans" pitchFamily="34" charset="0"/>
                <a:ea typeface="IBM Plex Sans" pitchFamily="34" charset="-122"/>
                <a:cs typeface="IBM Plex Sans" pitchFamily="34" charset="-120"/>
              </a:rPr>
              <a:t>.</a:t>
            </a:r>
            <a:endParaRPr lang="en-US" sz="1300" dirty="0"/>
          </a:p>
        </p:txBody>
      </p:sp>
      <p:sp>
        <p:nvSpPr>
          <p:cNvPr id="11" name="Text 8"/>
          <p:cNvSpPr/>
          <p:nvPr/>
        </p:nvSpPr>
        <p:spPr>
          <a:xfrm>
            <a:off x="6456128" y="3221013"/>
            <a:ext cx="4804316" cy="50400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0"/>
                </a:solidFill>
                <a:latin typeface="IBM Plex Sans" pitchFamily="34" charset="0"/>
                <a:ea typeface="IBM Plex Sans" pitchFamily="34" charset="-122"/>
                <a:cs typeface="IBM Plex Sans" pitchFamily="34" charset="-120"/>
              </a:rPr>
              <a:t>IPN Hand: 200 video (148 train, 52 test), 800 505 frame, 5 649 đoạn đã gán nhãn, 14 lớp, quay ở 640×480 và 30 fps.</a:t>
            </a:r>
            <a:endParaRPr lang="en-US" sz="1300" dirty="0"/>
          </a:p>
        </p:txBody>
      </p:sp>
      <p:sp>
        <p:nvSpPr>
          <p:cNvPr id="12" name="Text 9"/>
          <p:cNvSpPr/>
          <p:nvPr/>
        </p:nvSpPr>
        <p:spPr>
          <a:xfrm>
            <a:off x="6456128" y="3826545"/>
            <a:ext cx="4804316" cy="50400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9E4E1E"/>
                </a:solidFill>
                <a:latin typeface="IBM Plex Sans" pitchFamily="34" charset="0"/>
                <a:ea typeface="IBM Plex Sans" pitchFamily="34" charset="-122"/>
                <a:cs typeface="IBM Plex Sans" pitchFamily="34" charset="-120"/>
              </a:rPr>
              <a:t>Phase 0–1 chỉ dùng một video để chạy thử pipeline</a:t>
            </a:r>
            <a:r>
              <a:rPr lang="en-US" sz="1300" dirty="0" smtClean="0">
                <a:solidFill>
                  <a:srgbClr val="9E4E1E"/>
                </a:solidFill>
                <a:latin typeface="IBM Plex Sans" pitchFamily="34" charset="0"/>
                <a:ea typeface="IBM Plex Sans" pitchFamily="34" charset="-122"/>
                <a:cs typeface="IBM Plex Sans" pitchFamily="34" charset="-120"/>
              </a:rPr>
              <a:t>.</a:t>
            </a:r>
            <a:endParaRPr lang="en-US" sz="1300" dirty="0"/>
          </a:p>
        </p:txBody>
      </p:sp>
      <p:sp>
        <p:nvSpPr>
          <p:cNvPr id="13" name="Text 10"/>
          <p:cNvSpPr/>
          <p:nvPr/>
        </p:nvSpPr>
        <p:spPr>
          <a:xfrm>
            <a:off x="812785" y="6238218"/>
            <a:ext cx="1450813"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66B"/>
                </a:solidFill>
                <a:latin typeface="IBM Plex Sans" pitchFamily="34" charset="0"/>
                <a:ea typeface="IBM Plex Sans" pitchFamily="34" charset="-122"/>
                <a:cs typeface="IBM Plex Sans" pitchFamily="34" charset="-120"/>
              </a:rPr>
              <a:t>Phase 0–1 · Khép lại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42C"/>
        </a:solidFill>
        <a:effectLst/>
      </p:bgPr>
    </p:bg>
    <p:spTree>
      <p:nvGrpSpPr>
        <p:cNvPr id="1" name=""/>
        <p:cNvGrpSpPr/>
        <p:nvPr/>
      </p:nvGrpSpPr>
      <p:grpSpPr>
        <a:xfrm>
          <a:off x="0" y="0"/>
          <a:ext cx="0" cy="0"/>
          <a:chOff x="0" y="0"/>
          <a:chExt cx="0" cy="0"/>
        </a:xfrm>
      </p:grpSpPr>
      <p:sp>
        <p:nvSpPr>
          <p:cNvPr id="3" name="Text 1"/>
          <p:cNvSpPr/>
          <p:nvPr/>
        </p:nvSpPr>
        <p:spPr>
          <a:xfrm>
            <a:off x="755635" y="2653393"/>
            <a:ext cx="10883348" cy="1543050"/>
          </a:xfrm>
          <a:prstGeom prst="rect">
            <a:avLst/>
          </a:prstGeom>
          <a:noFill/>
          <a:ln/>
        </p:spPr>
        <p:txBody>
          <a:bodyPr wrap="square" lIns="0" tIns="0" rIns="0" bIns="0" rtlCol="0" anchor="t">
            <a:normAutofit/>
          </a:bodyPr>
          <a:lstStyle/>
          <a:p>
            <a:pPr marL="0" indent="0" algn="l">
              <a:lnSpc>
                <a:spcPts val="4400"/>
              </a:lnSpc>
              <a:buNone/>
            </a:pPr>
            <a:r>
              <a:rPr lang="en-US" sz="5000" b="1" dirty="0" smtClean="0">
                <a:solidFill>
                  <a:srgbClr val="F4F6F5"/>
                </a:solidFill>
                <a:latin typeface="IBM Plex Sans" pitchFamily="34" charset="0"/>
                <a:ea typeface="IBM Plex Sans" pitchFamily="34" charset="-122"/>
              </a:rPr>
              <a:t>THE END</a:t>
            </a:r>
            <a:endParaRPr lang="en-US" sz="5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2513</Words>
  <Application>Microsoft Office PowerPoint</Application>
  <PresentationFormat>Widescreen</PresentationFormat>
  <Paragraphs>220</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IBM Plex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Phase 0–1: Cách làm và lý thuyết</dc:title>
  <dc:subject>PptxGenJS Presentation</dc:subject>
  <dc:creator>PptxGenJS</dc:creator>
  <cp:lastModifiedBy>Nguyễn Tiến Lâm</cp:lastModifiedBy>
  <cp:revision>48</cp:revision>
  <dcterms:created xsi:type="dcterms:W3CDTF">2026-09-23T13:15:22Z</dcterms:created>
  <dcterms:modified xsi:type="dcterms:W3CDTF">2026-09-24T11:33:37Z</dcterms:modified>
</cp:coreProperties>
</file>