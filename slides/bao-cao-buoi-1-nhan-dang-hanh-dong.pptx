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8" d="100"/>
          <a:sy n="78" d="100"/>
        </p:scale>
        <p:origin x="192"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3995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báo cáo đầu tiên gồm hai phần: vì sao chọn đề tài này, và kế hoạch thực hiện từ nay đến buổi nộp cuối ngày 12/11.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lý do 3 và 4: đề tài kiểm chứng được bằng mắt ở mọi khâu, và vừa sức trong quỹ thời gian còn lại.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bộ chuỗi chạy trên CPU. Khâu 3 quyết định chất lượng đặc trưng, khâu 4 là chỗ đưa yếu tố thời gian vào bài toán.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Giai đoạn dựng nền. Kết thúc giai đoạn phải có thứ chạy được trên máy để thầy cô nhìn thấy, không chỉ là lý thuyết.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Khâu viết code nhiều nhất của đồ án. Nhấn mạnh việc kiểm chứng bằng số liệu, không chỉ tin là đúng.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quan trọng nhất trong kế hoạch. Nếu thầy cô hỏi về rủi ro tiến độ, đây là câu trả lời.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mặc định học sâu tốt hơn. Việc so sánh hai mô hình chính là nội dung chương thí nghiệm.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báo cáo không viết dồn vào cuối mà tích lũy từ đầu, mỗi buổi báo cáo tiến độ là một phần của báo cáo cuối.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rot="5400000">
            <a:off x="9665208" y="1522476"/>
            <a:ext cx="603504" cy="32004"/>
          </a:xfrm>
          <a:prstGeom prst="rect">
            <a:avLst/>
          </a:prstGeom>
          <a:solidFill>
            <a:srgbClr val="00A88F"/>
          </a:solidFill>
          <a:ln w="12700">
            <a:solidFill>
              <a:srgbClr val="00A88F"/>
            </a:solidFill>
            <a:prstDash val="solid"/>
          </a:ln>
        </p:spPr>
      </p:sp>
      <p:sp>
        <p:nvSpPr>
          <p:cNvPr id="3" name="Shape 1"/>
          <p:cNvSpPr/>
          <p:nvPr/>
        </p:nvSpPr>
        <p:spPr>
          <a:xfrm>
            <a:off x="9529420" y="1924812"/>
            <a:ext cx="875081" cy="32004"/>
          </a:xfrm>
          <a:prstGeom prst="rect">
            <a:avLst/>
          </a:prstGeom>
          <a:solidFill>
            <a:srgbClr val="00A88F"/>
          </a:solidFill>
          <a:ln w="12700">
            <a:solidFill>
              <a:srgbClr val="00A88F"/>
            </a:solidFill>
            <a:prstDash val="solid"/>
          </a:ln>
        </p:spPr>
      </p:sp>
      <p:sp>
        <p:nvSpPr>
          <p:cNvPr id="4" name="Shape 2"/>
          <p:cNvSpPr/>
          <p:nvPr/>
        </p:nvSpPr>
        <p:spPr>
          <a:xfrm rot="10023209">
            <a:off x="9523713" y="1874520"/>
            <a:ext cx="448953" cy="32004"/>
          </a:xfrm>
          <a:prstGeom prst="rect">
            <a:avLst/>
          </a:prstGeom>
          <a:solidFill>
            <a:srgbClr val="00A88F"/>
          </a:solidFill>
          <a:ln w="12700">
            <a:solidFill>
              <a:srgbClr val="00A88F"/>
            </a:solidFill>
            <a:prstDash val="solid"/>
          </a:ln>
        </p:spPr>
      </p:sp>
      <p:sp>
        <p:nvSpPr>
          <p:cNvPr id="5" name="Shape 3"/>
          <p:cNvSpPr/>
          <p:nvPr/>
        </p:nvSpPr>
        <p:spPr>
          <a:xfrm rot="776791">
            <a:off x="9961254" y="1874520"/>
            <a:ext cx="448953" cy="32004"/>
          </a:xfrm>
          <a:prstGeom prst="rect">
            <a:avLst/>
          </a:prstGeom>
          <a:solidFill>
            <a:srgbClr val="00A88F"/>
          </a:solidFill>
          <a:ln w="12700">
            <a:solidFill>
              <a:srgbClr val="00A88F"/>
            </a:solidFill>
            <a:prstDash val="solid"/>
          </a:ln>
        </p:spPr>
      </p:sp>
      <p:sp>
        <p:nvSpPr>
          <p:cNvPr id="6" name="Shape 4"/>
          <p:cNvSpPr/>
          <p:nvPr/>
        </p:nvSpPr>
        <p:spPr>
          <a:xfrm rot="6914432">
            <a:off x="8974253" y="2276856"/>
            <a:ext cx="778406" cy="32004"/>
          </a:xfrm>
          <a:prstGeom prst="rect">
            <a:avLst/>
          </a:prstGeom>
          <a:solidFill>
            <a:srgbClr val="00A88F"/>
          </a:solidFill>
          <a:ln w="12700">
            <a:solidFill>
              <a:srgbClr val="00A88F"/>
            </a:solidFill>
            <a:prstDash val="solid"/>
          </a:ln>
        </p:spPr>
      </p:sp>
      <p:sp>
        <p:nvSpPr>
          <p:cNvPr id="7" name="Shape 5"/>
          <p:cNvSpPr/>
          <p:nvPr/>
        </p:nvSpPr>
        <p:spPr>
          <a:xfrm rot="6265246">
            <a:off x="8743470" y="2980944"/>
            <a:ext cx="726993" cy="32004"/>
          </a:xfrm>
          <a:prstGeom prst="rect">
            <a:avLst/>
          </a:prstGeom>
          <a:solidFill>
            <a:srgbClr val="00A88F"/>
          </a:solidFill>
          <a:ln w="12700">
            <a:solidFill>
              <a:srgbClr val="00A88F"/>
            </a:solidFill>
            <a:prstDash val="solid"/>
          </a:ln>
        </p:spPr>
      </p:sp>
      <p:sp>
        <p:nvSpPr>
          <p:cNvPr id="8" name="Shape 6"/>
          <p:cNvSpPr/>
          <p:nvPr/>
        </p:nvSpPr>
        <p:spPr>
          <a:xfrm rot="2743513">
            <a:off x="10319678" y="2125980"/>
            <a:ext cx="561922" cy="32004"/>
          </a:xfrm>
          <a:prstGeom prst="rect">
            <a:avLst/>
          </a:prstGeom>
          <a:solidFill>
            <a:srgbClr val="00A88F"/>
          </a:solidFill>
          <a:ln w="12700">
            <a:solidFill>
              <a:srgbClr val="00A88F"/>
            </a:solidFill>
            <a:prstDash val="solid"/>
          </a:ln>
        </p:spPr>
      </p:sp>
      <p:sp>
        <p:nvSpPr>
          <p:cNvPr id="9" name="Shape 7"/>
          <p:cNvSpPr/>
          <p:nvPr/>
        </p:nvSpPr>
        <p:spPr>
          <a:xfrm rot="-4184058">
            <a:off x="10569009" y="2000250"/>
            <a:ext cx="696939" cy="32004"/>
          </a:xfrm>
          <a:prstGeom prst="rect">
            <a:avLst/>
          </a:prstGeom>
          <a:solidFill>
            <a:srgbClr val="00A88F"/>
          </a:solidFill>
          <a:ln w="12700">
            <a:solidFill>
              <a:srgbClr val="00A88F"/>
            </a:solidFill>
            <a:prstDash val="solid"/>
          </a:ln>
        </p:spPr>
      </p:sp>
      <p:sp>
        <p:nvSpPr>
          <p:cNvPr id="10" name="Shape 8"/>
          <p:cNvSpPr/>
          <p:nvPr/>
        </p:nvSpPr>
        <p:spPr>
          <a:xfrm rot="5068348">
            <a:off x="8821690" y="2704338"/>
            <a:ext cx="1566335" cy="32004"/>
          </a:xfrm>
          <a:prstGeom prst="rect">
            <a:avLst/>
          </a:prstGeom>
          <a:solidFill>
            <a:srgbClr val="00A88F"/>
          </a:solidFill>
          <a:ln w="12700">
            <a:solidFill>
              <a:srgbClr val="00A88F"/>
            </a:solidFill>
            <a:prstDash val="solid"/>
          </a:ln>
        </p:spPr>
      </p:sp>
      <p:sp>
        <p:nvSpPr>
          <p:cNvPr id="11" name="Shape 9"/>
          <p:cNvSpPr/>
          <p:nvPr/>
        </p:nvSpPr>
        <p:spPr>
          <a:xfrm rot="5731652">
            <a:off x="9545895" y="2704338"/>
            <a:ext cx="1566335" cy="32004"/>
          </a:xfrm>
          <a:prstGeom prst="rect">
            <a:avLst/>
          </a:prstGeom>
          <a:solidFill>
            <a:srgbClr val="00A88F"/>
          </a:solidFill>
          <a:ln w="12700">
            <a:solidFill>
              <a:srgbClr val="00A88F"/>
            </a:solidFill>
            <a:prstDash val="solid"/>
          </a:ln>
        </p:spPr>
      </p:sp>
      <p:sp>
        <p:nvSpPr>
          <p:cNvPr id="12" name="Shape 10"/>
          <p:cNvSpPr/>
          <p:nvPr/>
        </p:nvSpPr>
        <p:spPr>
          <a:xfrm>
            <a:off x="9680296" y="3483864"/>
            <a:ext cx="573329" cy="32004"/>
          </a:xfrm>
          <a:prstGeom prst="rect">
            <a:avLst/>
          </a:prstGeom>
          <a:solidFill>
            <a:srgbClr val="00A88F"/>
          </a:solidFill>
          <a:ln w="12700">
            <a:solidFill>
              <a:srgbClr val="00A88F"/>
            </a:solidFill>
            <a:prstDash val="solid"/>
          </a:ln>
        </p:spPr>
      </p:sp>
      <p:sp>
        <p:nvSpPr>
          <p:cNvPr id="13" name="Shape 11"/>
          <p:cNvSpPr/>
          <p:nvPr/>
        </p:nvSpPr>
        <p:spPr>
          <a:xfrm rot="5668494">
            <a:off x="9054906" y="4062222"/>
            <a:ext cx="1160253" cy="32004"/>
          </a:xfrm>
          <a:prstGeom prst="rect">
            <a:avLst/>
          </a:prstGeom>
          <a:solidFill>
            <a:srgbClr val="00A88F"/>
          </a:solidFill>
          <a:ln w="12700">
            <a:solidFill>
              <a:srgbClr val="00A88F"/>
            </a:solidFill>
            <a:prstDash val="solid"/>
          </a:ln>
        </p:spPr>
      </p:sp>
      <p:sp>
        <p:nvSpPr>
          <p:cNvPr id="14" name="Shape 12"/>
          <p:cNvSpPr/>
          <p:nvPr/>
        </p:nvSpPr>
        <p:spPr>
          <a:xfrm rot="5693946">
            <a:off x="9014505" y="5168646"/>
            <a:ext cx="1060005" cy="32004"/>
          </a:xfrm>
          <a:prstGeom prst="rect">
            <a:avLst/>
          </a:prstGeom>
          <a:solidFill>
            <a:srgbClr val="00A88F"/>
          </a:solidFill>
          <a:ln w="12700">
            <a:solidFill>
              <a:srgbClr val="00A88F"/>
            </a:solidFill>
            <a:prstDash val="solid"/>
          </a:ln>
        </p:spPr>
      </p:sp>
      <p:sp>
        <p:nvSpPr>
          <p:cNvPr id="15" name="Shape 13"/>
          <p:cNvSpPr/>
          <p:nvPr/>
        </p:nvSpPr>
        <p:spPr>
          <a:xfrm rot="5131506">
            <a:off x="9718761" y="4062222"/>
            <a:ext cx="1160253" cy="32004"/>
          </a:xfrm>
          <a:prstGeom prst="rect">
            <a:avLst/>
          </a:prstGeom>
          <a:solidFill>
            <a:srgbClr val="00A88F"/>
          </a:solidFill>
          <a:ln w="12700">
            <a:solidFill>
              <a:srgbClr val="00A88F"/>
            </a:solidFill>
            <a:prstDash val="solid"/>
          </a:ln>
        </p:spPr>
      </p:sp>
      <p:sp>
        <p:nvSpPr>
          <p:cNvPr id="16" name="Shape 14"/>
          <p:cNvSpPr/>
          <p:nvPr/>
        </p:nvSpPr>
        <p:spPr>
          <a:xfrm rot="5106054">
            <a:off x="9859411" y="5168646"/>
            <a:ext cx="1060005" cy="32004"/>
          </a:xfrm>
          <a:prstGeom prst="rect">
            <a:avLst/>
          </a:prstGeom>
          <a:solidFill>
            <a:srgbClr val="00A88F"/>
          </a:solidFill>
          <a:ln w="12700">
            <a:solidFill>
              <a:srgbClr val="00A88F"/>
            </a:solidFill>
            <a:prstDash val="solid"/>
          </a:ln>
        </p:spPr>
      </p:sp>
      <p:sp>
        <p:nvSpPr>
          <p:cNvPr id="17" name="Shape 15"/>
          <p:cNvSpPr/>
          <p:nvPr/>
        </p:nvSpPr>
        <p:spPr>
          <a:xfrm>
            <a:off x="9811512" y="1081278"/>
            <a:ext cx="310896" cy="310896"/>
          </a:xfrm>
          <a:prstGeom prst="ellipse">
            <a:avLst/>
          </a:prstGeom>
          <a:solidFill>
            <a:srgbClr val="00A88F"/>
          </a:solidFill>
          <a:ln w="19050">
            <a:solidFill>
              <a:srgbClr val="8FE3D6"/>
            </a:solidFill>
            <a:prstDash val="solid"/>
          </a:ln>
        </p:spPr>
      </p:sp>
      <p:sp>
        <p:nvSpPr>
          <p:cNvPr id="18" name="Shape 16"/>
          <p:cNvSpPr/>
          <p:nvPr/>
        </p:nvSpPr>
        <p:spPr>
          <a:xfrm>
            <a:off x="9905238" y="1778508"/>
            <a:ext cx="123444" cy="123444"/>
          </a:xfrm>
          <a:prstGeom prst="ellipse">
            <a:avLst/>
          </a:prstGeom>
          <a:solidFill>
            <a:srgbClr val="8FE3D6"/>
          </a:solidFill>
          <a:ln w="9525">
            <a:solidFill>
              <a:srgbClr val="8FE3D6"/>
            </a:solidFill>
            <a:prstDash val="solid"/>
          </a:ln>
        </p:spPr>
      </p:sp>
      <p:sp>
        <p:nvSpPr>
          <p:cNvPr id="19" name="Shape 17"/>
          <p:cNvSpPr/>
          <p:nvPr/>
        </p:nvSpPr>
        <p:spPr>
          <a:xfrm>
            <a:off x="9467698" y="1879092"/>
            <a:ext cx="123444" cy="123444"/>
          </a:xfrm>
          <a:prstGeom prst="ellipse">
            <a:avLst/>
          </a:prstGeom>
          <a:solidFill>
            <a:srgbClr val="8FE3D6"/>
          </a:solidFill>
          <a:ln w="9525">
            <a:solidFill>
              <a:srgbClr val="8FE3D6"/>
            </a:solidFill>
            <a:prstDash val="solid"/>
          </a:ln>
        </p:spPr>
      </p:sp>
      <p:sp>
        <p:nvSpPr>
          <p:cNvPr id="20" name="Shape 18"/>
          <p:cNvSpPr/>
          <p:nvPr/>
        </p:nvSpPr>
        <p:spPr>
          <a:xfrm>
            <a:off x="10342778" y="1879092"/>
            <a:ext cx="123444" cy="123444"/>
          </a:xfrm>
          <a:prstGeom prst="ellipse">
            <a:avLst/>
          </a:prstGeom>
          <a:solidFill>
            <a:srgbClr val="8FE3D6"/>
          </a:solidFill>
          <a:ln w="9525">
            <a:solidFill>
              <a:srgbClr val="8FE3D6"/>
            </a:solidFill>
            <a:prstDash val="solid"/>
          </a:ln>
        </p:spPr>
      </p:sp>
      <p:sp>
        <p:nvSpPr>
          <p:cNvPr id="21" name="Shape 19"/>
          <p:cNvSpPr/>
          <p:nvPr/>
        </p:nvSpPr>
        <p:spPr>
          <a:xfrm>
            <a:off x="9135770" y="2583180"/>
            <a:ext cx="123444" cy="123444"/>
          </a:xfrm>
          <a:prstGeom prst="ellipse">
            <a:avLst/>
          </a:prstGeom>
          <a:solidFill>
            <a:srgbClr val="8FE3D6"/>
          </a:solidFill>
          <a:ln w="9525">
            <a:solidFill>
              <a:srgbClr val="8FE3D6"/>
            </a:solidFill>
            <a:prstDash val="solid"/>
          </a:ln>
        </p:spPr>
      </p:sp>
      <p:sp>
        <p:nvSpPr>
          <p:cNvPr id="22" name="Shape 20"/>
          <p:cNvSpPr/>
          <p:nvPr/>
        </p:nvSpPr>
        <p:spPr>
          <a:xfrm>
            <a:off x="10735056" y="2281428"/>
            <a:ext cx="123444" cy="123444"/>
          </a:xfrm>
          <a:prstGeom prst="ellipse">
            <a:avLst/>
          </a:prstGeom>
          <a:solidFill>
            <a:srgbClr val="8FE3D6"/>
          </a:solidFill>
          <a:ln w="9525">
            <a:solidFill>
              <a:srgbClr val="8FE3D6"/>
            </a:solidFill>
            <a:prstDash val="solid"/>
          </a:ln>
        </p:spPr>
      </p:sp>
      <p:sp>
        <p:nvSpPr>
          <p:cNvPr id="23" name="Shape 21"/>
          <p:cNvSpPr/>
          <p:nvPr/>
        </p:nvSpPr>
        <p:spPr>
          <a:xfrm>
            <a:off x="8954719" y="3287268"/>
            <a:ext cx="123444" cy="123444"/>
          </a:xfrm>
          <a:prstGeom prst="ellipse">
            <a:avLst/>
          </a:prstGeom>
          <a:solidFill>
            <a:srgbClr val="8FE3D6"/>
          </a:solidFill>
          <a:ln w="9525">
            <a:solidFill>
              <a:srgbClr val="8FE3D6"/>
            </a:solidFill>
            <a:prstDash val="solid"/>
          </a:ln>
        </p:spPr>
      </p:sp>
      <p:sp>
        <p:nvSpPr>
          <p:cNvPr id="24" name="Shape 22"/>
          <p:cNvSpPr/>
          <p:nvPr/>
        </p:nvSpPr>
        <p:spPr>
          <a:xfrm>
            <a:off x="10976458" y="1627632"/>
            <a:ext cx="123444" cy="123444"/>
          </a:xfrm>
          <a:prstGeom prst="ellipse">
            <a:avLst/>
          </a:prstGeom>
          <a:solidFill>
            <a:srgbClr val="8FE3D6"/>
          </a:solidFill>
          <a:ln w="9525">
            <a:solidFill>
              <a:srgbClr val="8FE3D6"/>
            </a:solidFill>
            <a:prstDash val="solid"/>
          </a:ln>
        </p:spPr>
      </p:sp>
      <p:sp>
        <p:nvSpPr>
          <p:cNvPr id="25" name="Shape 23"/>
          <p:cNvSpPr/>
          <p:nvPr/>
        </p:nvSpPr>
        <p:spPr>
          <a:xfrm>
            <a:off x="9618574" y="3438144"/>
            <a:ext cx="123444" cy="123444"/>
          </a:xfrm>
          <a:prstGeom prst="ellipse">
            <a:avLst/>
          </a:prstGeom>
          <a:solidFill>
            <a:srgbClr val="8FE3D6"/>
          </a:solidFill>
          <a:ln w="9525">
            <a:solidFill>
              <a:srgbClr val="8FE3D6"/>
            </a:solidFill>
            <a:prstDash val="solid"/>
          </a:ln>
        </p:spPr>
      </p:sp>
      <p:sp>
        <p:nvSpPr>
          <p:cNvPr id="26" name="Shape 24"/>
          <p:cNvSpPr/>
          <p:nvPr/>
        </p:nvSpPr>
        <p:spPr>
          <a:xfrm>
            <a:off x="10191902" y="3438144"/>
            <a:ext cx="123444" cy="123444"/>
          </a:xfrm>
          <a:prstGeom prst="ellipse">
            <a:avLst/>
          </a:prstGeom>
          <a:solidFill>
            <a:srgbClr val="8FE3D6"/>
          </a:solidFill>
          <a:ln w="9525">
            <a:solidFill>
              <a:srgbClr val="8FE3D6"/>
            </a:solidFill>
            <a:prstDash val="solid"/>
          </a:ln>
        </p:spPr>
      </p:sp>
      <p:sp>
        <p:nvSpPr>
          <p:cNvPr id="27" name="Shape 25"/>
          <p:cNvSpPr/>
          <p:nvPr/>
        </p:nvSpPr>
        <p:spPr>
          <a:xfrm>
            <a:off x="9528048" y="4594860"/>
            <a:ext cx="123444" cy="123444"/>
          </a:xfrm>
          <a:prstGeom prst="ellipse">
            <a:avLst/>
          </a:prstGeom>
          <a:solidFill>
            <a:srgbClr val="8FE3D6"/>
          </a:solidFill>
          <a:ln w="9525">
            <a:solidFill>
              <a:srgbClr val="8FE3D6"/>
            </a:solidFill>
            <a:prstDash val="solid"/>
          </a:ln>
        </p:spPr>
      </p:sp>
      <p:sp>
        <p:nvSpPr>
          <p:cNvPr id="28" name="Shape 26"/>
          <p:cNvSpPr/>
          <p:nvPr/>
        </p:nvSpPr>
        <p:spPr>
          <a:xfrm>
            <a:off x="10282428" y="4594860"/>
            <a:ext cx="123444" cy="123444"/>
          </a:xfrm>
          <a:prstGeom prst="ellipse">
            <a:avLst/>
          </a:prstGeom>
          <a:solidFill>
            <a:srgbClr val="8FE3D6"/>
          </a:solidFill>
          <a:ln w="9525">
            <a:solidFill>
              <a:srgbClr val="8FE3D6"/>
            </a:solidFill>
            <a:prstDash val="solid"/>
          </a:ln>
        </p:spPr>
      </p:sp>
      <p:sp>
        <p:nvSpPr>
          <p:cNvPr id="29" name="Shape 27"/>
          <p:cNvSpPr/>
          <p:nvPr/>
        </p:nvSpPr>
        <p:spPr>
          <a:xfrm>
            <a:off x="9437522" y="5650992"/>
            <a:ext cx="123444" cy="123444"/>
          </a:xfrm>
          <a:prstGeom prst="ellipse">
            <a:avLst/>
          </a:prstGeom>
          <a:solidFill>
            <a:srgbClr val="8FE3D6"/>
          </a:solidFill>
          <a:ln w="9525">
            <a:solidFill>
              <a:srgbClr val="8FE3D6"/>
            </a:solidFill>
            <a:prstDash val="solid"/>
          </a:ln>
        </p:spPr>
      </p:sp>
      <p:sp>
        <p:nvSpPr>
          <p:cNvPr id="30" name="Shape 28"/>
          <p:cNvSpPr/>
          <p:nvPr/>
        </p:nvSpPr>
        <p:spPr>
          <a:xfrm>
            <a:off x="10372954" y="5650992"/>
            <a:ext cx="123444" cy="123444"/>
          </a:xfrm>
          <a:prstGeom prst="ellipse">
            <a:avLst/>
          </a:prstGeom>
          <a:solidFill>
            <a:srgbClr val="8FE3D6"/>
          </a:solidFill>
          <a:ln w="9525">
            <a:solidFill>
              <a:srgbClr val="8FE3D6"/>
            </a:solidFill>
            <a:prstDash val="solid"/>
          </a:ln>
        </p:spPr>
      </p:sp>
      <p:sp>
        <p:nvSpPr>
          <p:cNvPr id="31" name="Text 29"/>
          <p:cNvSpPr txBox="1"/>
          <p:nvPr/>
        </p:nvSpPr>
        <p:spPr>
          <a:xfrm>
            <a:off x="640080" y="1463040"/>
            <a:ext cx="7498080" cy="274320"/>
          </a:xfrm>
          <a:prstGeom prst="rect">
            <a:avLst/>
          </a:prstGeom>
          <a:noFill/>
          <a:ln/>
        </p:spPr>
        <p:txBody>
          <a:bodyPr wrap="square" lIns="0" tIns="0" rIns="0" bIns="0" rtlCol="0" anchor="t"/>
          <a:lstStyle/>
          <a:p>
            <a:pPr marL="0" indent="0">
              <a:buNone/>
            </a:pPr>
            <a:r>
              <a:rPr lang="en-US" sz="1200" b="1" kern="0" spc="200" dirty="0" smtClean="0">
                <a:solidFill>
                  <a:srgbClr val="00A88F"/>
                </a:solidFill>
                <a:latin typeface="Calibri" pitchFamily="34" charset="0"/>
                <a:ea typeface="Calibri" pitchFamily="34" charset="-122"/>
                <a:cs typeface="Calibri" pitchFamily="34" charset="-120"/>
              </a:rPr>
              <a:t>BÁO </a:t>
            </a:r>
            <a:r>
              <a:rPr lang="en-US" sz="1200" b="1" kern="0" spc="200" dirty="0">
                <a:solidFill>
                  <a:srgbClr val="00A88F"/>
                </a:solidFill>
                <a:latin typeface="Calibri" pitchFamily="34" charset="0"/>
                <a:ea typeface="Calibri" pitchFamily="34" charset="-122"/>
                <a:cs typeface="Calibri" pitchFamily="34" charset="-120"/>
              </a:rPr>
              <a:t>CÁO BUỔI 1</a:t>
            </a:r>
            <a:endParaRPr lang="en-US" sz="1200" dirty="0"/>
          </a:p>
        </p:txBody>
      </p:sp>
      <p:sp>
        <p:nvSpPr>
          <p:cNvPr id="32" name="Text 30"/>
          <p:cNvSpPr txBox="1"/>
          <p:nvPr/>
        </p:nvSpPr>
        <p:spPr>
          <a:xfrm>
            <a:off x="640080" y="1874520"/>
            <a:ext cx="7589520" cy="2103120"/>
          </a:xfrm>
          <a:prstGeom prst="rect">
            <a:avLst/>
          </a:prstGeom>
          <a:noFill/>
          <a:ln/>
        </p:spPr>
        <p:txBody>
          <a:bodyPr wrap="square" lIns="0" tIns="0" rIns="0" bIns="0" rtlCol="0" anchor="t"/>
          <a:lstStyle/>
          <a:p>
            <a:pPr marL="0" indent="0">
              <a:lnSpc>
                <a:spcPts val="4600"/>
              </a:lnSpc>
              <a:buNone/>
            </a:pPr>
            <a:r>
              <a:rPr lang="en-US" sz="3800" b="1" dirty="0">
                <a:solidFill>
                  <a:srgbClr val="FFFFFF"/>
                </a:solidFill>
                <a:latin typeface="Arial" pitchFamily="34" charset="0"/>
                <a:ea typeface="Arial" pitchFamily="34" charset="-122"/>
                <a:cs typeface="Arial" pitchFamily="34" charset="-120"/>
              </a:rPr>
              <a:t>Nhận dạng hành động người</a:t>
            </a:r>
            <a:endParaRPr lang="en-US" sz="3800" dirty="0"/>
          </a:p>
          <a:p>
            <a:pPr marL="0" indent="0">
              <a:lnSpc>
                <a:spcPts val="4600"/>
              </a:lnSpc>
              <a:buNone/>
            </a:pPr>
            <a:r>
              <a:rPr lang="en-US" sz="3800" b="1" dirty="0">
                <a:solidFill>
                  <a:srgbClr val="FFFFFF"/>
                </a:solidFill>
                <a:latin typeface="Arial" pitchFamily="34" charset="0"/>
                <a:ea typeface="Arial" pitchFamily="34" charset="-122"/>
                <a:cs typeface="Arial" pitchFamily="34" charset="-120"/>
              </a:rPr>
              <a:t>thời gian thực dựa trên</a:t>
            </a:r>
            <a:endParaRPr lang="en-US" sz="3800" dirty="0"/>
          </a:p>
          <a:p>
            <a:pPr marL="0" indent="0">
              <a:lnSpc>
                <a:spcPts val="4600"/>
              </a:lnSpc>
              <a:buNone/>
            </a:pPr>
            <a:r>
              <a:rPr lang="en-US" sz="3800" b="1" dirty="0">
                <a:solidFill>
                  <a:srgbClr val="FFFFFF"/>
                </a:solidFill>
                <a:latin typeface="Arial" pitchFamily="34" charset="0"/>
                <a:ea typeface="Arial" pitchFamily="34" charset="-122"/>
                <a:cs typeface="Arial" pitchFamily="34" charset="-120"/>
              </a:rPr>
              <a:t>ước lượng tư thế</a:t>
            </a:r>
            <a:endParaRPr lang="en-US" sz="3800" dirty="0"/>
          </a:p>
        </p:txBody>
      </p:sp>
      <p:sp>
        <p:nvSpPr>
          <p:cNvPr id="33" name="Shape 31"/>
          <p:cNvSpPr/>
          <p:nvPr/>
        </p:nvSpPr>
        <p:spPr>
          <a:xfrm>
            <a:off x="640080" y="4087368"/>
            <a:ext cx="1371600" cy="41148"/>
          </a:xfrm>
          <a:prstGeom prst="roundRect">
            <a:avLst>
              <a:gd name="adj" fmla="val 133333"/>
            </a:avLst>
          </a:prstGeom>
          <a:solidFill>
            <a:srgbClr val="00A88F"/>
          </a:solidFill>
          <a:ln w="12700">
            <a:solidFill>
              <a:srgbClr val="00A88F"/>
            </a:solidFill>
            <a:prstDash val="solid"/>
          </a:ln>
        </p:spPr>
      </p:sp>
      <p:sp>
        <p:nvSpPr>
          <p:cNvPr id="34" name="Text 32"/>
          <p:cNvSpPr txBox="1"/>
          <p:nvPr/>
        </p:nvSpPr>
        <p:spPr>
          <a:xfrm>
            <a:off x="640080" y="4361688"/>
            <a:ext cx="7589520" cy="365760"/>
          </a:xfrm>
          <a:prstGeom prst="rect">
            <a:avLst/>
          </a:prstGeom>
          <a:noFill/>
          <a:ln/>
        </p:spPr>
        <p:txBody>
          <a:bodyPr wrap="square" lIns="0" tIns="0" rIns="0" bIns="0" rtlCol="0" anchor="t"/>
          <a:lstStyle/>
          <a:p>
            <a:pPr marL="0" indent="0">
              <a:buNone/>
            </a:pPr>
            <a:r>
              <a:rPr lang="en-US" sz="1700" i="1" dirty="0" err="1" smtClean="0">
                <a:solidFill>
                  <a:srgbClr val="B8C6D9"/>
                </a:solidFill>
                <a:latin typeface="Calibri" pitchFamily="34" charset="0"/>
                <a:ea typeface="Calibri" pitchFamily="34" charset="-122"/>
                <a:cs typeface="Calibri" pitchFamily="34" charset="-120"/>
              </a:rPr>
              <a:t>Kế</a:t>
            </a:r>
            <a:r>
              <a:rPr lang="en-US" sz="1700" i="1" dirty="0" smtClean="0">
                <a:solidFill>
                  <a:srgbClr val="B8C6D9"/>
                </a:solidFill>
                <a:latin typeface="Calibri" pitchFamily="34" charset="0"/>
                <a:ea typeface="Calibri" pitchFamily="34" charset="-122"/>
                <a:cs typeface="Calibri" pitchFamily="34" charset="-120"/>
              </a:rPr>
              <a:t> </a:t>
            </a:r>
            <a:r>
              <a:rPr lang="en-US" sz="1700" i="1" dirty="0">
                <a:solidFill>
                  <a:srgbClr val="B8C6D9"/>
                </a:solidFill>
                <a:latin typeface="Calibri" pitchFamily="34" charset="0"/>
                <a:ea typeface="Calibri" pitchFamily="34" charset="-122"/>
                <a:cs typeface="Calibri" pitchFamily="34" charset="-120"/>
              </a:rPr>
              <a:t>hoạch thực hiện đến 12/11/2026</a:t>
            </a:r>
            <a:endParaRPr lang="en-US" sz="1700" dirty="0"/>
          </a:p>
        </p:txBody>
      </p:sp>
      <p:sp>
        <p:nvSpPr>
          <p:cNvPr id="35" name="Text 33"/>
          <p:cNvSpPr txBox="1"/>
          <p:nvPr/>
        </p:nvSpPr>
        <p:spPr>
          <a:xfrm>
            <a:off x="640080" y="5212080"/>
            <a:ext cx="7589520" cy="731520"/>
          </a:xfrm>
          <a:prstGeom prst="rect">
            <a:avLst/>
          </a:prstGeom>
          <a:noFill/>
          <a:ln/>
        </p:spPr>
        <p:txBody>
          <a:bodyPr wrap="square" lIns="0" tIns="0" rIns="0" bIns="0" rtlCol="0" anchor="t"/>
          <a:lstStyle/>
          <a:p>
            <a:pPr marL="0" indent="0">
              <a:lnSpc>
                <a:spcPts val="2100"/>
              </a:lnSpc>
              <a:buNone/>
            </a:pPr>
            <a:r>
              <a:rPr lang="en-US" sz="1250" dirty="0" err="1" smtClean="0">
                <a:solidFill>
                  <a:srgbClr val="92A2B8"/>
                </a:solidFill>
                <a:latin typeface="Calibri" pitchFamily="34" charset="0"/>
                <a:ea typeface="Calibri" pitchFamily="34" charset="-122"/>
                <a:cs typeface="Calibri" pitchFamily="34" charset="-120"/>
              </a:rPr>
              <a:t>Học</a:t>
            </a:r>
            <a:r>
              <a:rPr lang="en-US" sz="1250" dirty="0" smtClean="0">
                <a:solidFill>
                  <a:srgbClr val="92A2B8"/>
                </a:solidFill>
                <a:latin typeface="Calibri" pitchFamily="34" charset="0"/>
                <a:ea typeface="Calibri" pitchFamily="34" charset="-122"/>
                <a:cs typeface="Calibri" pitchFamily="34" charset="-120"/>
              </a:rPr>
              <a:t> </a:t>
            </a:r>
            <a:r>
              <a:rPr lang="en-US" sz="1250" dirty="0">
                <a:solidFill>
                  <a:srgbClr val="92A2B8"/>
                </a:solidFill>
                <a:latin typeface="Calibri" pitchFamily="34" charset="0"/>
                <a:ea typeface="Calibri" pitchFamily="34" charset="-122"/>
                <a:cs typeface="Calibri" pitchFamily="34" charset="-120"/>
              </a:rPr>
              <a:t>viên thực hiện:  </a:t>
            </a:r>
            <a:r>
              <a:rPr lang="en-US" sz="1250" dirty="0" smtClean="0">
                <a:solidFill>
                  <a:srgbClr val="92A2B8"/>
                </a:solidFill>
                <a:latin typeface="Calibri" pitchFamily="34" charset="0"/>
                <a:ea typeface="Calibri" pitchFamily="34" charset="-122"/>
                <a:cs typeface="Calibri" pitchFamily="34" charset="-120"/>
              </a:rPr>
              <a:t>Nguyễn Tiến Lâm</a:t>
            </a:r>
            <a:r>
              <a:rPr lang="en-US" sz="1250" dirty="0" smtClean="0">
                <a:solidFill>
                  <a:srgbClr val="92A2B8"/>
                </a:solidFill>
                <a:latin typeface="Calibri" pitchFamily="34" charset="0"/>
                <a:ea typeface="Calibri" pitchFamily="34" charset="-122"/>
                <a:cs typeface="Calibri" pitchFamily="34" charset="-120"/>
              </a:rPr>
              <a:t>  </a:t>
            </a:r>
            <a:r>
              <a:rPr lang="en-US" sz="1250" dirty="0">
                <a:solidFill>
                  <a:srgbClr val="92A2B8"/>
                </a:solidFill>
                <a:latin typeface="Calibri" pitchFamily="34" charset="0"/>
                <a:ea typeface="Calibri" pitchFamily="34" charset="-122"/>
                <a:cs typeface="Calibri" pitchFamily="34" charset="-120"/>
              </a:rPr>
              <a:t>·  </a:t>
            </a:r>
            <a:r>
              <a:rPr lang="en-US" sz="1250" dirty="0" smtClean="0">
                <a:solidFill>
                  <a:srgbClr val="92A2B8"/>
                </a:solidFill>
                <a:latin typeface="Calibri" pitchFamily="34" charset="0"/>
                <a:ea typeface="Calibri" pitchFamily="34" charset="-122"/>
                <a:cs typeface="Calibri" pitchFamily="34" charset="-120"/>
              </a:rPr>
              <a:t>MSHV</a:t>
            </a:r>
            <a:r>
              <a:rPr lang="en-US" sz="1250" dirty="0">
                <a:solidFill>
                  <a:srgbClr val="92A2B8"/>
                </a:solidFill>
                <a:latin typeface="Calibri" pitchFamily="34" charset="0"/>
                <a:ea typeface="Calibri" pitchFamily="34" charset="-122"/>
                <a:cs typeface="Calibri" pitchFamily="34" charset="-120"/>
              </a:rPr>
              <a:t>: </a:t>
            </a:r>
            <a:r>
              <a:rPr lang="en-US" sz="1250" dirty="0" smtClean="0">
                <a:solidFill>
                  <a:srgbClr val="92A2B8"/>
                </a:solidFill>
                <a:latin typeface="Calibri" pitchFamily="34" charset="0"/>
                <a:ea typeface="Calibri" pitchFamily="34" charset="-122"/>
                <a:cs typeface="Calibri" pitchFamily="34" charset="-120"/>
              </a:rPr>
              <a:t>20251061M</a:t>
            </a:r>
            <a:endParaRPr lang="en-US" sz="1250" dirty="0"/>
          </a:p>
          <a:p>
            <a:pPr marL="0" indent="0">
              <a:lnSpc>
                <a:spcPts val="2100"/>
              </a:lnSpc>
              <a:buNone/>
            </a:pPr>
            <a:r>
              <a:rPr lang="en-US" sz="1250" dirty="0">
                <a:solidFill>
                  <a:srgbClr val="92A2B8"/>
                </a:solidFill>
                <a:latin typeface="Calibri" pitchFamily="34" charset="0"/>
                <a:ea typeface="Calibri" pitchFamily="34" charset="-122"/>
                <a:cs typeface="Calibri" pitchFamily="34" charset="-120"/>
              </a:rPr>
              <a:t>Giảng viên hướng dẫn:  </a:t>
            </a:r>
            <a:r>
              <a:rPr lang="en-US" sz="1250" dirty="0" err="1" smtClean="0">
                <a:solidFill>
                  <a:srgbClr val="92A2B8"/>
                </a:solidFill>
                <a:latin typeface="Calibri" pitchFamily="34" charset="0"/>
                <a:ea typeface="Calibri" pitchFamily="34" charset="-122"/>
                <a:cs typeface="Calibri" pitchFamily="34" charset="-120"/>
              </a:rPr>
              <a:t>TS.Ngô</a:t>
            </a:r>
            <a:r>
              <a:rPr lang="en-US" sz="1250" dirty="0" smtClean="0">
                <a:solidFill>
                  <a:srgbClr val="92A2B8"/>
                </a:solidFill>
                <a:latin typeface="Calibri" pitchFamily="34" charset="0"/>
                <a:ea typeface="Calibri" pitchFamily="34" charset="-122"/>
                <a:cs typeface="Calibri" pitchFamily="34" charset="-120"/>
              </a:rPr>
              <a:t> </a:t>
            </a:r>
            <a:r>
              <a:rPr lang="en-US" sz="1250" dirty="0" err="1" smtClean="0">
                <a:solidFill>
                  <a:srgbClr val="92A2B8"/>
                </a:solidFill>
                <a:latin typeface="Calibri" pitchFamily="34" charset="0"/>
                <a:ea typeface="Calibri" pitchFamily="34" charset="-122"/>
                <a:cs typeface="Calibri" pitchFamily="34" charset="-120"/>
              </a:rPr>
              <a:t>Thành</a:t>
            </a:r>
            <a:r>
              <a:rPr lang="en-US" sz="1250" dirty="0" smtClean="0">
                <a:solidFill>
                  <a:srgbClr val="92A2B8"/>
                </a:solidFill>
                <a:latin typeface="Calibri" pitchFamily="34" charset="0"/>
                <a:ea typeface="Calibri" pitchFamily="34" charset="-122"/>
                <a:cs typeface="Calibri" pitchFamily="34" charset="-120"/>
              </a:rPr>
              <a:t> </a:t>
            </a:r>
            <a:r>
              <a:rPr lang="en-US" sz="1250" dirty="0" err="1" smtClean="0">
                <a:solidFill>
                  <a:srgbClr val="92A2B8"/>
                </a:solidFill>
                <a:latin typeface="Calibri" pitchFamily="34" charset="0"/>
                <a:ea typeface="Calibri" pitchFamily="34" charset="-122"/>
                <a:cs typeface="Calibri" pitchFamily="34" charset="-120"/>
              </a:rPr>
              <a:t>Trung</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LỰA CHỌN ĐỀ TÀI</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Vì sao chọn đề tài này</a:t>
            </a:r>
            <a:endParaRPr lang="en-US" sz="3200" dirty="0"/>
          </a:p>
        </p:txBody>
      </p:sp>
      <p:sp>
        <p:nvSpPr>
          <p:cNvPr id="4" name="Shape 2"/>
          <p:cNvSpPr/>
          <p:nvPr/>
        </p:nvSpPr>
        <p:spPr>
          <a:xfrm>
            <a:off x="640080" y="1463040"/>
            <a:ext cx="10911535" cy="868680"/>
          </a:xfrm>
          <a:prstGeom prst="roundRect">
            <a:avLst>
              <a:gd name="adj" fmla="val 6316"/>
            </a:avLst>
          </a:prstGeom>
          <a:solidFill>
            <a:srgbClr val="1E3A5F"/>
          </a:solidFill>
          <a:ln w="12700">
            <a:solidFill>
              <a:srgbClr val="1E3A5F"/>
            </a:solidFill>
            <a:prstDash val="solid"/>
          </a:ln>
        </p:spPr>
      </p:sp>
      <p:sp>
        <p:nvSpPr>
          <p:cNvPr id="5" name="Text 3"/>
          <p:cNvSpPr txBox="1"/>
          <p:nvPr/>
        </p:nvSpPr>
        <p:spPr>
          <a:xfrm>
            <a:off x="960120" y="1572768"/>
            <a:ext cx="10271455" cy="658368"/>
          </a:xfrm>
          <a:prstGeom prst="rect">
            <a:avLst/>
          </a:prstGeom>
          <a:noFill/>
          <a:ln/>
        </p:spPr>
        <p:txBody>
          <a:bodyPr wrap="square" lIns="0" tIns="0" rIns="0" bIns="0" rtlCol="0" anchor="ctr"/>
          <a:lstStyle/>
          <a:p>
            <a:pPr marL="0" indent="0">
              <a:lnSpc>
                <a:spcPts val="2000"/>
              </a:lnSpc>
              <a:buNone/>
            </a:pPr>
            <a:r>
              <a:rPr lang="en-US" sz="1450" dirty="0">
                <a:solidFill>
                  <a:srgbClr val="FFFFFF"/>
                </a:solidFill>
                <a:latin typeface="Calibri" pitchFamily="34" charset="0"/>
                <a:ea typeface="Calibri" pitchFamily="34" charset="-122"/>
                <a:cs typeface="Calibri" pitchFamily="34" charset="-120"/>
              </a:rPr>
              <a:t>Bài toán:  cho một luồng video từ webcam, xác định liên tục theo thời gian rằng người trong khung hình đang thực hiện hành động nào.</a:t>
            </a:r>
            <a:endParaRPr lang="en-US" sz="1450" dirty="0"/>
          </a:p>
        </p:txBody>
      </p:sp>
      <p:sp>
        <p:nvSpPr>
          <p:cNvPr id="6" name="Shape 4"/>
          <p:cNvSpPr/>
          <p:nvPr/>
        </p:nvSpPr>
        <p:spPr>
          <a:xfrm>
            <a:off x="640080" y="2697480"/>
            <a:ext cx="5212080" cy="1572768"/>
          </a:xfrm>
          <a:prstGeom prst="roundRect">
            <a:avLst>
              <a:gd name="adj" fmla="val 3488"/>
            </a:avLst>
          </a:prstGeom>
          <a:solidFill>
            <a:srgbClr val="F4F7FA"/>
          </a:solidFill>
          <a:ln w="9525">
            <a:solidFill>
              <a:srgbClr val="DDE4ED"/>
            </a:solidFill>
            <a:prstDash val="solid"/>
          </a:ln>
        </p:spPr>
      </p:sp>
      <p:sp>
        <p:nvSpPr>
          <p:cNvPr id="7" name="Shape 5"/>
          <p:cNvSpPr/>
          <p:nvPr/>
        </p:nvSpPr>
        <p:spPr>
          <a:xfrm>
            <a:off x="960120" y="3008376"/>
            <a:ext cx="347472" cy="347472"/>
          </a:xfrm>
          <a:prstGeom prst="ellipse">
            <a:avLst/>
          </a:prstGeom>
          <a:solidFill>
            <a:srgbClr val="00A88F"/>
          </a:solidFill>
          <a:ln w="12700">
            <a:solidFill>
              <a:srgbClr val="00A88F"/>
            </a:solidFill>
            <a:prstDash val="solid"/>
          </a:ln>
        </p:spPr>
      </p:sp>
      <p:sp>
        <p:nvSpPr>
          <p:cNvPr id="8" name="Text 6"/>
          <p:cNvSpPr txBox="1"/>
          <p:nvPr/>
        </p:nvSpPr>
        <p:spPr>
          <a:xfrm>
            <a:off x="960120" y="30083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444752" y="2990088"/>
            <a:ext cx="4069080" cy="310896"/>
          </a:xfrm>
          <a:prstGeom prst="rect">
            <a:avLst/>
          </a:prstGeom>
          <a:noFill/>
          <a:ln/>
        </p:spPr>
        <p:txBody>
          <a:bodyPr wrap="square" lIns="0" tIns="0" rIns="0" bIns="0" rtlCol="0" anchor="t"/>
          <a:lstStyle/>
          <a:p>
            <a:pPr marL="0" indent="0">
              <a:buNone/>
            </a:pPr>
            <a:r>
              <a:rPr lang="en-US" sz="1500" b="1" dirty="0">
                <a:solidFill>
                  <a:srgbClr val="1E3A5F"/>
                </a:solidFill>
                <a:latin typeface="Calibri" pitchFamily="34" charset="0"/>
                <a:ea typeface="Calibri" pitchFamily="34" charset="-122"/>
                <a:cs typeface="Calibri" pitchFamily="34" charset="-120"/>
              </a:rPr>
              <a:t>Ứng dụng thực tế rõ ràng</a:t>
            </a:r>
            <a:endParaRPr lang="en-US" sz="1500" dirty="0"/>
          </a:p>
        </p:txBody>
      </p:sp>
      <p:sp>
        <p:nvSpPr>
          <p:cNvPr id="10" name="Text 8"/>
          <p:cNvSpPr txBox="1"/>
          <p:nvPr/>
        </p:nvSpPr>
        <p:spPr>
          <a:xfrm>
            <a:off x="1444752" y="3355848"/>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Giám sát an toàn, phát hiện người cao tuổi bị ngã, tương tác người – máy, phân tích động tác thể thao.</a:t>
            </a:r>
            <a:endParaRPr lang="en-US" sz="1200" dirty="0"/>
          </a:p>
        </p:txBody>
      </p:sp>
      <p:sp>
        <p:nvSpPr>
          <p:cNvPr id="11" name="Shape 9"/>
          <p:cNvSpPr/>
          <p:nvPr/>
        </p:nvSpPr>
        <p:spPr>
          <a:xfrm>
            <a:off x="6336792" y="2697480"/>
            <a:ext cx="5212080" cy="1572768"/>
          </a:xfrm>
          <a:prstGeom prst="roundRect">
            <a:avLst>
              <a:gd name="adj" fmla="val 3488"/>
            </a:avLst>
          </a:prstGeom>
          <a:solidFill>
            <a:srgbClr val="F4F7FA"/>
          </a:solidFill>
          <a:ln w="9525">
            <a:solidFill>
              <a:srgbClr val="DDE4ED"/>
            </a:solidFill>
            <a:prstDash val="solid"/>
          </a:ln>
        </p:spPr>
      </p:sp>
      <p:sp>
        <p:nvSpPr>
          <p:cNvPr id="12" name="Shape 10"/>
          <p:cNvSpPr/>
          <p:nvPr/>
        </p:nvSpPr>
        <p:spPr>
          <a:xfrm>
            <a:off x="6656832" y="3008376"/>
            <a:ext cx="347472" cy="347472"/>
          </a:xfrm>
          <a:prstGeom prst="ellipse">
            <a:avLst/>
          </a:prstGeom>
          <a:solidFill>
            <a:srgbClr val="00A88F"/>
          </a:solidFill>
          <a:ln w="12700">
            <a:solidFill>
              <a:srgbClr val="00A88F"/>
            </a:solidFill>
            <a:prstDash val="solid"/>
          </a:ln>
        </p:spPr>
      </p:sp>
      <p:sp>
        <p:nvSpPr>
          <p:cNvPr id="13" name="Text 11"/>
          <p:cNvSpPr txBox="1"/>
          <p:nvPr/>
        </p:nvSpPr>
        <p:spPr>
          <a:xfrm>
            <a:off x="6656832" y="30083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7141464" y="2990088"/>
            <a:ext cx="4069080" cy="310896"/>
          </a:xfrm>
          <a:prstGeom prst="rect">
            <a:avLst/>
          </a:prstGeom>
          <a:noFill/>
          <a:ln/>
        </p:spPr>
        <p:txBody>
          <a:bodyPr wrap="square" lIns="0" tIns="0" rIns="0" bIns="0" rtlCol="0" anchor="t"/>
          <a:lstStyle/>
          <a:p>
            <a:pPr marL="0" indent="0">
              <a:buNone/>
            </a:pPr>
            <a:r>
              <a:rPr lang="en-US" sz="1500" b="1" dirty="0" err="1">
                <a:solidFill>
                  <a:srgbClr val="1E3A5F"/>
                </a:solidFill>
                <a:latin typeface="Calibri" pitchFamily="34" charset="0"/>
                <a:ea typeface="Calibri" pitchFamily="34" charset="-122"/>
                <a:cs typeface="Calibri" pitchFamily="34" charset="-120"/>
              </a:rPr>
              <a:t>C</a:t>
            </a:r>
            <a:r>
              <a:rPr lang="en-US" sz="1500" b="1" dirty="0" err="1" smtClean="0">
                <a:solidFill>
                  <a:srgbClr val="1E3A5F"/>
                </a:solidFill>
                <a:latin typeface="Calibri" pitchFamily="34" charset="0"/>
                <a:ea typeface="Calibri" pitchFamily="34" charset="-122"/>
                <a:cs typeface="Calibri" pitchFamily="34" charset="-120"/>
              </a:rPr>
              <a:t>huỗi</a:t>
            </a:r>
            <a:r>
              <a:rPr lang="en-US" sz="1500" b="1" dirty="0" smtClean="0">
                <a:solidFill>
                  <a:srgbClr val="1E3A5F"/>
                </a:solidFill>
                <a:latin typeface="Calibri" pitchFamily="34" charset="0"/>
                <a:ea typeface="Calibri" pitchFamily="34" charset="-122"/>
                <a:cs typeface="Calibri" pitchFamily="34" charset="-120"/>
              </a:rPr>
              <a:t> </a:t>
            </a:r>
            <a:r>
              <a:rPr lang="en-US" sz="1500" b="1" dirty="0">
                <a:solidFill>
                  <a:srgbClr val="1E3A5F"/>
                </a:solidFill>
                <a:latin typeface="Calibri" pitchFamily="34" charset="0"/>
                <a:ea typeface="Calibri" pitchFamily="34" charset="-122"/>
                <a:cs typeface="Calibri" pitchFamily="34" charset="-120"/>
              </a:rPr>
              <a:t>kiến thức thị giác máy tính</a:t>
            </a:r>
            <a:endParaRPr lang="en-US" sz="1500" dirty="0"/>
          </a:p>
        </p:txBody>
      </p:sp>
      <p:sp>
        <p:nvSpPr>
          <p:cNvPr id="15" name="Text 13"/>
          <p:cNvSpPr txBox="1"/>
          <p:nvPr/>
        </p:nvSpPr>
        <p:spPr>
          <a:xfrm>
            <a:off x="7141464" y="3355848"/>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Từ ảnh số, ước lượng tư thế, biểu diễn đặc trưng, đến mô hình chuỗi thời gian và đánh giá phân loại.</a:t>
            </a:r>
            <a:endParaRPr lang="en-US" sz="1200" dirty="0"/>
          </a:p>
        </p:txBody>
      </p:sp>
      <p:sp>
        <p:nvSpPr>
          <p:cNvPr id="16" name="Shape 14"/>
          <p:cNvSpPr/>
          <p:nvPr/>
        </p:nvSpPr>
        <p:spPr>
          <a:xfrm>
            <a:off x="640080" y="4590288"/>
            <a:ext cx="5212080" cy="1572768"/>
          </a:xfrm>
          <a:prstGeom prst="roundRect">
            <a:avLst>
              <a:gd name="adj" fmla="val 3488"/>
            </a:avLst>
          </a:prstGeom>
          <a:solidFill>
            <a:srgbClr val="F4F7FA"/>
          </a:solidFill>
          <a:ln w="9525">
            <a:solidFill>
              <a:srgbClr val="DDE4ED"/>
            </a:solidFill>
            <a:prstDash val="solid"/>
          </a:ln>
        </p:spPr>
      </p:sp>
      <p:sp>
        <p:nvSpPr>
          <p:cNvPr id="17" name="Shape 15"/>
          <p:cNvSpPr/>
          <p:nvPr/>
        </p:nvSpPr>
        <p:spPr>
          <a:xfrm>
            <a:off x="960120" y="4901184"/>
            <a:ext cx="347472" cy="347472"/>
          </a:xfrm>
          <a:prstGeom prst="ellipse">
            <a:avLst/>
          </a:prstGeom>
          <a:solidFill>
            <a:srgbClr val="00A88F"/>
          </a:solidFill>
          <a:ln w="12700">
            <a:solidFill>
              <a:srgbClr val="00A88F"/>
            </a:solidFill>
            <a:prstDash val="solid"/>
          </a:ln>
        </p:spPr>
      </p:sp>
      <p:sp>
        <p:nvSpPr>
          <p:cNvPr id="18" name="Text 16"/>
          <p:cNvSpPr txBox="1"/>
          <p:nvPr/>
        </p:nvSpPr>
        <p:spPr>
          <a:xfrm>
            <a:off x="960120" y="490118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444752" y="4882896"/>
            <a:ext cx="4069080" cy="310896"/>
          </a:xfrm>
          <a:prstGeom prst="rect">
            <a:avLst/>
          </a:prstGeom>
          <a:noFill/>
          <a:ln/>
        </p:spPr>
        <p:txBody>
          <a:bodyPr wrap="square" lIns="0" tIns="0" rIns="0" bIns="0" rtlCol="0" anchor="t"/>
          <a:lstStyle/>
          <a:p>
            <a:pPr marL="0" indent="0">
              <a:buNone/>
            </a:pPr>
            <a:r>
              <a:rPr lang="en-US" sz="1500" b="1" dirty="0">
                <a:solidFill>
                  <a:srgbClr val="1E3A5F"/>
                </a:solidFill>
                <a:latin typeface="Calibri" pitchFamily="34" charset="0"/>
                <a:ea typeface="Calibri" pitchFamily="34" charset="-122"/>
                <a:cs typeface="Calibri" pitchFamily="34" charset="-120"/>
              </a:rPr>
              <a:t>Mọi khâu kiểm chứng được bằng mắt</a:t>
            </a:r>
            <a:endParaRPr lang="en-US" sz="1500" dirty="0"/>
          </a:p>
        </p:txBody>
      </p:sp>
      <p:sp>
        <p:nvSpPr>
          <p:cNvPr id="20" name="Text 18"/>
          <p:cNvSpPr txBox="1"/>
          <p:nvPr/>
        </p:nvSpPr>
        <p:spPr>
          <a:xfrm>
            <a:off x="1444752" y="5248656"/>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Vẽ khung xương đè lên video là thấy ngay lỗi nằm ở khâu ước lượng tư thế hay ở mô hình phân loại.</a:t>
            </a:r>
            <a:endParaRPr lang="en-US" sz="1200" dirty="0"/>
          </a:p>
        </p:txBody>
      </p:sp>
      <p:sp>
        <p:nvSpPr>
          <p:cNvPr id="21" name="Shape 19"/>
          <p:cNvSpPr/>
          <p:nvPr/>
        </p:nvSpPr>
        <p:spPr>
          <a:xfrm>
            <a:off x="6336792" y="4590288"/>
            <a:ext cx="5212080" cy="1572768"/>
          </a:xfrm>
          <a:prstGeom prst="roundRect">
            <a:avLst>
              <a:gd name="adj" fmla="val 3488"/>
            </a:avLst>
          </a:prstGeom>
          <a:solidFill>
            <a:srgbClr val="F4F7FA"/>
          </a:solidFill>
          <a:ln w="9525">
            <a:solidFill>
              <a:srgbClr val="DDE4ED"/>
            </a:solidFill>
            <a:prstDash val="solid"/>
          </a:ln>
        </p:spPr>
      </p:sp>
      <p:sp>
        <p:nvSpPr>
          <p:cNvPr id="22" name="Shape 20"/>
          <p:cNvSpPr/>
          <p:nvPr/>
        </p:nvSpPr>
        <p:spPr>
          <a:xfrm>
            <a:off x="6656832" y="4901184"/>
            <a:ext cx="347472" cy="347472"/>
          </a:xfrm>
          <a:prstGeom prst="ellipse">
            <a:avLst/>
          </a:prstGeom>
          <a:solidFill>
            <a:srgbClr val="00A88F"/>
          </a:solidFill>
          <a:ln w="12700">
            <a:solidFill>
              <a:srgbClr val="00A88F"/>
            </a:solidFill>
            <a:prstDash val="solid"/>
          </a:ln>
        </p:spPr>
      </p:sp>
      <p:sp>
        <p:nvSpPr>
          <p:cNvPr id="23" name="Text 21"/>
          <p:cNvSpPr txBox="1"/>
          <p:nvPr/>
        </p:nvSpPr>
        <p:spPr>
          <a:xfrm>
            <a:off x="6656832" y="490118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141464" y="4882896"/>
            <a:ext cx="4069080" cy="310896"/>
          </a:xfrm>
          <a:prstGeom prst="rect">
            <a:avLst/>
          </a:prstGeom>
          <a:noFill/>
          <a:ln/>
        </p:spPr>
        <p:txBody>
          <a:bodyPr wrap="square" lIns="0" tIns="0" rIns="0" bIns="0" rtlCol="0" anchor="t"/>
          <a:lstStyle/>
          <a:p>
            <a:pPr marL="0" indent="0">
              <a:buNone/>
            </a:pPr>
            <a:r>
              <a:rPr lang="en-US" sz="1500" b="1" dirty="0" err="1" smtClean="0">
                <a:solidFill>
                  <a:srgbClr val="1E3A5F"/>
                </a:solidFill>
                <a:latin typeface="Calibri" pitchFamily="34" charset="0"/>
                <a:ea typeface="Calibri" pitchFamily="34" charset="-122"/>
                <a:cs typeface="Calibri" pitchFamily="34" charset="-120"/>
              </a:rPr>
              <a:t>Tài</a:t>
            </a:r>
            <a:r>
              <a:rPr lang="en-US" sz="1500" b="1" dirty="0" smtClean="0">
                <a:solidFill>
                  <a:srgbClr val="1E3A5F"/>
                </a:solidFill>
                <a:latin typeface="Calibri" pitchFamily="34" charset="0"/>
                <a:ea typeface="Calibri" pitchFamily="34" charset="-122"/>
                <a:cs typeface="Calibri" pitchFamily="34" charset="-120"/>
              </a:rPr>
              <a:t> </a:t>
            </a:r>
            <a:r>
              <a:rPr lang="en-US" sz="1500" b="1" dirty="0" err="1" smtClean="0">
                <a:solidFill>
                  <a:srgbClr val="1E3A5F"/>
                </a:solidFill>
                <a:latin typeface="Calibri" pitchFamily="34" charset="0"/>
                <a:ea typeface="Calibri" pitchFamily="34" charset="-122"/>
                <a:cs typeface="Calibri" pitchFamily="34" charset="-120"/>
              </a:rPr>
              <a:t>nguyên</a:t>
            </a:r>
            <a:r>
              <a:rPr lang="en-US" sz="1500" b="1" dirty="0" smtClean="0">
                <a:solidFill>
                  <a:srgbClr val="1E3A5F"/>
                </a:solidFill>
                <a:latin typeface="Calibri" pitchFamily="34" charset="0"/>
                <a:ea typeface="Calibri" pitchFamily="34" charset="-122"/>
                <a:cs typeface="Calibri" pitchFamily="34" charset="-120"/>
              </a:rPr>
              <a:t> </a:t>
            </a:r>
            <a:r>
              <a:rPr lang="en-US" sz="1500" b="1" dirty="0" err="1" smtClean="0">
                <a:solidFill>
                  <a:srgbClr val="1E3A5F"/>
                </a:solidFill>
                <a:latin typeface="Calibri" pitchFamily="34" charset="0"/>
                <a:ea typeface="Calibri" pitchFamily="34" charset="-122"/>
                <a:cs typeface="Calibri" pitchFamily="34" charset="-120"/>
              </a:rPr>
              <a:t>hạn</a:t>
            </a:r>
            <a:r>
              <a:rPr lang="en-US" sz="1500" b="1" dirty="0" smtClean="0">
                <a:solidFill>
                  <a:srgbClr val="1E3A5F"/>
                </a:solidFill>
                <a:latin typeface="Calibri" pitchFamily="34" charset="0"/>
                <a:ea typeface="Calibri" pitchFamily="34" charset="-122"/>
                <a:cs typeface="Calibri" pitchFamily="34" charset="-120"/>
              </a:rPr>
              <a:t> </a:t>
            </a:r>
            <a:r>
              <a:rPr lang="en-US" sz="1500" b="1" dirty="0" err="1" smtClean="0">
                <a:solidFill>
                  <a:srgbClr val="1E3A5F"/>
                </a:solidFill>
                <a:latin typeface="Calibri" pitchFamily="34" charset="0"/>
                <a:ea typeface="Calibri" pitchFamily="34" charset="-122"/>
                <a:cs typeface="Calibri" pitchFamily="34" charset="-120"/>
              </a:rPr>
              <a:t>chế</a:t>
            </a:r>
            <a:r>
              <a:rPr lang="en-US" sz="1500" b="1" dirty="0" smtClean="0">
                <a:solidFill>
                  <a:srgbClr val="1E3A5F"/>
                </a:solidFill>
                <a:latin typeface="Calibri" pitchFamily="34" charset="0"/>
                <a:ea typeface="Calibri" pitchFamily="34" charset="-122"/>
                <a:cs typeface="Calibri" pitchFamily="34" charset="-120"/>
              </a:rPr>
              <a:t> </a:t>
            </a:r>
            <a:endParaRPr lang="en-US" sz="1500" dirty="0"/>
          </a:p>
        </p:txBody>
      </p:sp>
      <p:sp>
        <p:nvSpPr>
          <p:cNvPr id="25" name="Text 23"/>
          <p:cNvSpPr txBox="1"/>
          <p:nvPr/>
        </p:nvSpPr>
        <p:spPr>
          <a:xfrm>
            <a:off x="7141464" y="5248656"/>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Chạy </a:t>
            </a:r>
            <a:r>
              <a:rPr lang="en-US" sz="1200" dirty="0" err="1">
                <a:solidFill>
                  <a:srgbClr val="3C4A5C"/>
                </a:solidFill>
                <a:latin typeface="Calibri" pitchFamily="34" charset="0"/>
                <a:ea typeface="Calibri" pitchFamily="34" charset="-122"/>
                <a:cs typeface="Calibri" pitchFamily="34" charset="-120"/>
              </a:rPr>
              <a:t>trên</a:t>
            </a:r>
            <a:r>
              <a:rPr lang="en-US" sz="1200" dirty="0">
                <a:solidFill>
                  <a:srgbClr val="3C4A5C"/>
                </a:solidFill>
                <a:latin typeface="Calibri" pitchFamily="34" charset="0"/>
                <a:ea typeface="Calibri" pitchFamily="34" charset="-122"/>
                <a:cs typeface="Calibri" pitchFamily="34" charset="-120"/>
              </a:rPr>
              <a:t> </a:t>
            </a:r>
            <a:r>
              <a:rPr lang="en-US" sz="1200" dirty="0" smtClean="0">
                <a:solidFill>
                  <a:srgbClr val="3C4A5C"/>
                </a:solidFill>
                <a:latin typeface="Calibri" pitchFamily="34" charset="0"/>
                <a:ea typeface="Calibri" pitchFamily="34" charset="-122"/>
                <a:cs typeface="Calibri" pitchFamily="34" charset="-120"/>
              </a:rPr>
              <a:t>PC </a:t>
            </a:r>
            <a:r>
              <a:rPr lang="en-US" sz="1200" dirty="0" err="1" smtClean="0">
                <a:solidFill>
                  <a:srgbClr val="3C4A5C"/>
                </a:solidFill>
                <a:latin typeface="Calibri" pitchFamily="34" charset="0"/>
                <a:ea typeface="Calibri" pitchFamily="34" charset="-122"/>
                <a:cs typeface="Calibri" pitchFamily="34" charset="-120"/>
              </a:rPr>
              <a:t>windowns</a:t>
            </a:r>
            <a:r>
              <a:rPr lang="en-US" sz="1200" dirty="0">
                <a:solidFill>
                  <a:srgbClr val="3C4A5C"/>
                </a:solidFill>
                <a:latin typeface="Calibri" pitchFamily="34" charset="0"/>
                <a:ea typeface="Calibri" pitchFamily="34" charset="-122"/>
                <a:cs typeface="Calibri" pitchFamily="34" charset="-120"/>
              </a:rPr>
              <a:t> </a:t>
            </a:r>
            <a:r>
              <a:rPr lang="en-US" sz="1200" dirty="0" smtClean="0">
                <a:solidFill>
                  <a:srgbClr val="3C4A5C"/>
                </a:solidFill>
                <a:latin typeface="Calibri" pitchFamily="34" charset="0"/>
                <a:ea typeface="Calibri" pitchFamily="34" charset="-122"/>
                <a:cs typeface="Calibri" pitchFamily="34" charset="-120"/>
              </a:rPr>
              <a:t>CPU - i3 12th, GPU – RTX 3050 8G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Luồng xử lý của hệ thống</a:t>
            </a:r>
            <a:endParaRPr lang="en-US" sz="3200" dirty="0"/>
          </a:p>
        </p:txBody>
      </p:sp>
      <p:sp>
        <p:nvSpPr>
          <p:cNvPr id="4" name="Shape 2"/>
          <p:cNvSpPr/>
          <p:nvPr/>
        </p:nvSpPr>
        <p:spPr>
          <a:xfrm>
            <a:off x="640080" y="1316736"/>
            <a:ext cx="1572768" cy="987552"/>
          </a:xfrm>
          <a:prstGeom prst="roundRect">
            <a:avLst>
              <a:gd name="adj" fmla="val 5556"/>
            </a:avLst>
          </a:prstGeom>
          <a:solidFill>
            <a:srgbClr val="F4F7FA"/>
          </a:solidFill>
          <a:ln w="9525">
            <a:solidFill>
              <a:srgbClr val="DDE4ED"/>
            </a:solidFill>
            <a:prstDash val="solid"/>
          </a:ln>
        </p:spPr>
      </p:sp>
      <p:sp>
        <p:nvSpPr>
          <p:cNvPr id="5" name="Shape 3"/>
          <p:cNvSpPr/>
          <p:nvPr/>
        </p:nvSpPr>
        <p:spPr>
          <a:xfrm>
            <a:off x="1298448" y="1435608"/>
            <a:ext cx="256032" cy="256032"/>
          </a:xfrm>
          <a:prstGeom prst="ellipse">
            <a:avLst/>
          </a:prstGeom>
          <a:solidFill>
            <a:srgbClr val="00A88F"/>
          </a:solidFill>
          <a:ln w="12700">
            <a:solidFill>
              <a:srgbClr val="00A88F"/>
            </a:solidFill>
            <a:prstDash val="solid"/>
          </a:ln>
        </p:spPr>
      </p:sp>
      <p:sp>
        <p:nvSpPr>
          <p:cNvPr id="6" name="Text 4"/>
          <p:cNvSpPr txBox="1"/>
          <p:nvPr/>
        </p:nvSpPr>
        <p:spPr>
          <a:xfrm>
            <a:off x="1298448"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713232"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Thu khung hình</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từ webcam</a:t>
            </a:r>
            <a:endParaRPr lang="en-US" sz="1100" dirty="0"/>
          </a:p>
        </p:txBody>
      </p:sp>
      <p:sp>
        <p:nvSpPr>
          <p:cNvPr id="8" name="Shape 6"/>
          <p:cNvSpPr/>
          <p:nvPr/>
        </p:nvSpPr>
        <p:spPr>
          <a:xfrm rot="5400000">
            <a:off x="2286000" y="1728216"/>
            <a:ext cx="155448" cy="164592"/>
          </a:xfrm>
          <a:prstGeom prst="triangle">
            <a:avLst/>
          </a:prstGeom>
          <a:solidFill>
            <a:srgbClr val="00A88F"/>
          </a:solidFill>
          <a:ln w="12700">
            <a:solidFill>
              <a:srgbClr val="00A88F"/>
            </a:solidFill>
            <a:prstDash val="solid"/>
          </a:ln>
        </p:spPr>
      </p:sp>
      <p:sp>
        <p:nvSpPr>
          <p:cNvPr id="9" name="Shape 7"/>
          <p:cNvSpPr/>
          <p:nvPr/>
        </p:nvSpPr>
        <p:spPr>
          <a:xfrm>
            <a:off x="2505456" y="1316736"/>
            <a:ext cx="1572768" cy="987552"/>
          </a:xfrm>
          <a:prstGeom prst="roundRect">
            <a:avLst>
              <a:gd name="adj" fmla="val 5556"/>
            </a:avLst>
          </a:prstGeom>
          <a:solidFill>
            <a:srgbClr val="F4F7FA"/>
          </a:solidFill>
          <a:ln w="9525">
            <a:solidFill>
              <a:srgbClr val="DDE4ED"/>
            </a:solidFill>
            <a:prstDash val="solid"/>
          </a:ln>
        </p:spPr>
      </p:sp>
      <p:sp>
        <p:nvSpPr>
          <p:cNvPr id="10" name="Shape 8"/>
          <p:cNvSpPr/>
          <p:nvPr/>
        </p:nvSpPr>
        <p:spPr>
          <a:xfrm>
            <a:off x="3163824" y="1435608"/>
            <a:ext cx="256032" cy="256032"/>
          </a:xfrm>
          <a:prstGeom prst="ellipse">
            <a:avLst/>
          </a:prstGeom>
          <a:solidFill>
            <a:srgbClr val="00A88F"/>
          </a:solidFill>
          <a:ln w="12700">
            <a:solidFill>
              <a:srgbClr val="00A88F"/>
            </a:solidFill>
            <a:prstDash val="solid"/>
          </a:ln>
        </p:spPr>
      </p:sp>
      <p:sp>
        <p:nvSpPr>
          <p:cNvPr id="11" name="Text 9"/>
          <p:cNvSpPr txBox="1"/>
          <p:nvPr/>
        </p:nvSpPr>
        <p:spPr>
          <a:xfrm>
            <a:off x="3163824"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2578608"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Ước lượng tư thế</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MediaPipe Pose</a:t>
            </a:r>
            <a:endParaRPr lang="en-US" sz="1100" dirty="0"/>
          </a:p>
        </p:txBody>
      </p:sp>
      <p:sp>
        <p:nvSpPr>
          <p:cNvPr id="13" name="Shape 11"/>
          <p:cNvSpPr/>
          <p:nvPr/>
        </p:nvSpPr>
        <p:spPr>
          <a:xfrm rot="5400000">
            <a:off x="4151376" y="1728216"/>
            <a:ext cx="155448" cy="164592"/>
          </a:xfrm>
          <a:prstGeom prst="triangle">
            <a:avLst/>
          </a:prstGeom>
          <a:solidFill>
            <a:srgbClr val="00A88F"/>
          </a:solidFill>
          <a:ln w="12700">
            <a:solidFill>
              <a:srgbClr val="00A88F"/>
            </a:solidFill>
            <a:prstDash val="solid"/>
          </a:ln>
        </p:spPr>
      </p:sp>
      <p:sp>
        <p:nvSpPr>
          <p:cNvPr id="14" name="Shape 12"/>
          <p:cNvSpPr/>
          <p:nvPr/>
        </p:nvSpPr>
        <p:spPr>
          <a:xfrm>
            <a:off x="4370832" y="1316736"/>
            <a:ext cx="1572768" cy="987552"/>
          </a:xfrm>
          <a:prstGeom prst="roundRect">
            <a:avLst>
              <a:gd name="adj" fmla="val 5556"/>
            </a:avLst>
          </a:prstGeom>
          <a:solidFill>
            <a:srgbClr val="F4F7FA"/>
          </a:solidFill>
          <a:ln w="9525">
            <a:solidFill>
              <a:srgbClr val="DDE4ED"/>
            </a:solidFill>
            <a:prstDash val="solid"/>
          </a:ln>
        </p:spPr>
      </p:sp>
      <p:sp>
        <p:nvSpPr>
          <p:cNvPr id="15" name="Shape 13"/>
          <p:cNvSpPr/>
          <p:nvPr/>
        </p:nvSpPr>
        <p:spPr>
          <a:xfrm>
            <a:off x="5029200" y="1435608"/>
            <a:ext cx="256032" cy="256032"/>
          </a:xfrm>
          <a:prstGeom prst="ellipse">
            <a:avLst/>
          </a:prstGeom>
          <a:solidFill>
            <a:srgbClr val="00A88F"/>
          </a:solidFill>
          <a:ln w="12700">
            <a:solidFill>
              <a:srgbClr val="00A88F"/>
            </a:solidFill>
            <a:prstDash val="solid"/>
          </a:ln>
        </p:spPr>
      </p:sp>
      <p:sp>
        <p:nvSpPr>
          <p:cNvPr id="16" name="Text 14"/>
          <p:cNvSpPr txBox="1"/>
          <p:nvPr/>
        </p:nvSpPr>
        <p:spPr>
          <a:xfrm>
            <a:off x="5029200"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4443984"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Chuẩn hóa</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tọa độ khớp</a:t>
            </a:r>
            <a:endParaRPr lang="en-US" sz="1100" dirty="0"/>
          </a:p>
        </p:txBody>
      </p:sp>
      <p:sp>
        <p:nvSpPr>
          <p:cNvPr id="18" name="Shape 16"/>
          <p:cNvSpPr/>
          <p:nvPr/>
        </p:nvSpPr>
        <p:spPr>
          <a:xfrm rot="5400000">
            <a:off x="6016752" y="1728216"/>
            <a:ext cx="155448" cy="164592"/>
          </a:xfrm>
          <a:prstGeom prst="triangle">
            <a:avLst/>
          </a:prstGeom>
          <a:solidFill>
            <a:srgbClr val="00A88F"/>
          </a:solidFill>
          <a:ln w="12700">
            <a:solidFill>
              <a:srgbClr val="00A88F"/>
            </a:solidFill>
            <a:prstDash val="solid"/>
          </a:ln>
        </p:spPr>
      </p:sp>
      <p:sp>
        <p:nvSpPr>
          <p:cNvPr id="19" name="Shape 17"/>
          <p:cNvSpPr/>
          <p:nvPr/>
        </p:nvSpPr>
        <p:spPr>
          <a:xfrm>
            <a:off x="6236208" y="1316736"/>
            <a:ext cx="1572768" cy="987552"/>
          </a:xfrm>
          <a:prstGeom prst="roundRect">
            <a:avLst>
              <a:gd name="adj" fmla="val 5556"/>
            </a:avLst>
          </a:prstGeom>
          <a:solidFill>
            <a:srgbClr val="F4F7FA"/>
          </a:solidFill>
          <a:ln w="9525">
            <a:solidFill>
              <a:srgbClr val="DDE4ED"/>
            </a:solidFill>
            <a:prstDash val="solid"/>
          </a:ln>
        </p:spPr>
      </p:sp>
      <p:sp>
        <p:nvSpPr>
          <p:cNvPr id="20" name="Shape 18"/>
          <p:cNvSpPr/>
          <p:nvPr/>
        </p:nvSpPr>
        <p:spPr>
          <a:xfrm>
            <a:off x="6894576" y="1435608"/>
            <a:ext cx="256032" cy="256032"/>
          </a:xfrm>
          <a:prstGeom prst="ellipse">
            <a:avLst/>
          </a:prstGeom>
          <a:solidFill>
            <a:srgbClr val="00A88F"/>
          </a:solidFill>
          <a:ln w="12700">
            <a:solidFill>
              <a:srgbClr val="00A88F"/>
            </a:solidFill>
            <a:prstDash val="solid"/>
          </a:ln>
        </p:spPr>
      </p:sp>
      <p:sp>
        <p:nvSpPr>
          <p:cNvPr id="21" name="Text 19"/>
          <p:cNvSpPr txBox="1"/>
          <p:nvPr/>
        </p:nvSpPr>
        <p:spPr>
          <a:xfrm>
            <a:off x="6894576"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6309360"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Hàng đợi 30 khung</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cửa sổ trượt</a:t>
            </a:r>
            <a:endParaRPr lang="en-US" sz="1100" dirty="0"/>
          </a:p>
        </p:txBody>
      </p:sp>
      <p:sp>
        <p:nvSpPr>
          <p:cNvPr id="23" name="Shape 21"/>
          <p:cNvSpPr/>
          <p:nvPr/>
        </p:nvSpPr>
        <p:spPr>
          <a:xfrm rot="5400000">
            <a:off x="7882128" y="1728216"/>
            <a:ext cx="155448" cy="164592"/>
          </a:xfrm>
          <a:prstGeom prst="triangle">
            <a:avLst/>
          </a:prstGeom>
          <a:solidFill>
            <a:srgbClr val="00A88F"/>
          </a:solidFill>
          <a:ln w="12700">
            <a:solidFill>
              <a:srgbClr val="00A88F"/>
            </a:solidFill>
            <a:prstDash val="solid"/>
          </a:ln>
        </p:spPr>
      </p:sp>
      <p:sp>
        <p:nvSpPr>
          <p:cNvPr id="24" name="Shape 22"/>
          <p:cNvSpPr/>
          <p:nvPr/>
        </p:nvSpPr>
        <p:spPr>
          <a:xfrm>
            <a:off x="8101584" y="1316736"/>
            <a:ext cx="1572768" cy="987552"/>
          </a:xfrm>
          <a:prstGeom prst="roundRect">
            <a:avLst>
              <a:gd name="adj" fmla="val 5556"/>
            </a:avLst>
          </a:prstGeom>
          <a:solidFill>
            <a:srgbClr val="F4F7FA"/>
          </a:solidFill>
          <a:ln w="9525">
            <a:solidFill>
              <a:srgbClr val="DDE4ED"/>
            </a:solidFill>
            <a:prstDash val="solid"/>
          </a:ln>
        </p:spPr>
      </p:sp>
      <p:sp>
        <p:nvSpPr>
          <p:cNvPr id="25" name="Shape 23"/>
          <p:cNvSpPr/>
          <p:nvPr/>
        </p:nvSpPr>
        <p:spPr>
          <a:xfrm>
            <a:off x="8759952" y="1435608"/>
            <a:ext cx="256032" cy="256032"/>
          </a:xfrm>
          <a:prstGeom prst="ellipse">
            <a:avLst/>
          </a:prstGeom>
          <a:solidFill>
            <a:srgbClr val="00A88F"/>
          </a:solidFill>
          <a:ln w="12700">
            <a:solidFill>
              <a:srgbClr val="00A88F"/>
            </a:solidFill>
            <a:prstDash val="solid"/>
          </a:ln>
        </p:spPr>
      </p:sp>
      <p:sp>
        <p:nvSpPr>
          <p:cNvPr id="26" name="Text 24"/>
          <p:cNvSpPr txBox="1"/>
          <p:nvPr/>
        </p:nvSpPr>
        <p:spPr>
          <a:xfrm>
            <a:off x="8759952"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8174736"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Mô hình</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phân loại chuỗi</a:t>
            </a:r>
            <a:endParaRPr lang="en-US" sz="1100" dirty="0"/>
          </a:p>
        </p:txBody>
      </p:sp>
      <p:sp>
        <p:nvSpPr>
          <p:cNvPr id="28" name="Shape 26"/>
          <p:cNvSpPr/>
          <p:nvPr/>
        </p:nvSpPr>
        <p:spPr>
          <a:xfrm rot="5400000">
            <a:off x="9747504" y="1728216"/>
            <a:ext cx="155448" cy="164592"/>
          </a:xfrm>
          <a:prstGeom prst="triangle">
            <a:avLst/>
          </a:prstGeom>
          <a:solidFill>
            <a:srgbClr val="00A88F"/>
          </a:solidFill>
          <a:ln w="12700">
            <a:solidFill>
              <a:srgbClr val="00A88F"/>
            </a:solidFill>
            <a:prstDash val="solid"/>
          </a:ln>
        </p:spPr>
      </p:sp>
      <p:sp>
        <p:nvSpPr>
          <p:cNvPr id="29" name="Shape 27"/>
          <p:cNvSpPr/>
          <p:nvPr/>
        </p:nvSpPr>
        <p:spPr>
          <a:xfrm>
            <a:off x="9966960" y="1316736"/>
            <a:ext cx="1572768" cy="987552"/>
          </a:xfrm>
          <a:prstGeom prst="roundRect">
            <a:avLst>
              <a:gd name="adj" fmla="val 5556"/>
            </a:avLst>
          </a:prstGeom>
          <a:solidFill>
            <a:srgbClr val="1E3A5F"/>
          </a:solidFill>
          <a:ln w="9525">
            <a:solidFill>
              <a:srgbClr val="1E3A5F"/>
            </a:solidFill>
            <a:prstDash val="solid"/>
          </a:ln>
        </p:spPr>
      </p:sp>
      <p:sp>
        <p:nvSpPr>
          <p:cNvPr id="30" name="Shape 28"/>
          <p:cNvSpPr/>
          <p:nvPr/>
        </p:nvSpPr>
        <p:spPr>
          <a:xfrm>
            <a:off x="10625328" y="1435608"/>
            <a:ext cx="256032" cy="256032"/>
          </a:xfrm>
          <a:prstGeom prst="ellipse">
            <a:avLst/>
          </a:prstGeom>
          <a:solidFill>
            <a:srgbClr val="00A88F"/>
          </a:solidFill>
          <a:ln w="12700">
            <a:solidFill>
              <a:srgbClr val="00A88F"/>
            </a:solidFill>
            <a:prstDash val="solid"/>
          </a:ln>
        </p:spPr>
      </p:sp>
      <p:sp>
        <p:nvSpPr>
          <p:cNvPr id="31" name="Text 29"/>
          <p:cNvSpPr txBox="1"/>
          <p:nvPr/>
        </p:nvSpPr>
        <p:spPr>
          <a:xfrm>
            <a:off x="10625328"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10040112"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FFFFFF"/>
                </a:solidFill>
                <a:latin typeface="Calibri" pitchFamily="34" charset="0"/>
                <a:ea typeface="Calibri" pitchFamily="34" charset="-122"/>
                <a:cs typeface="Calibri" pitchFamily="34" charset="-120"/>
              </a:rPr>
              <a:t>Kết xuất</a:t>
            </a:r>
            <a:endParaRPr lang="en-US" sz="1100" dirty="0"/>
          </a:p>
          <a:p>
            <a:pPr marL="0" indent="0" algn="ctr">
              <a:lnSpc>
                <a:spcPts val="1350"/>
              </a:lnSpc>
              <a:buNone/>
            </a:pPr>
            <a:r>
              <a:rPr lang="en-US" sz="1100" b="1" dirty="0">
                <a:solidFill>
                  <a:srgbClr val="FFFFFF"/>
                </a:solidFill>
                <a:latin typeface="Calibri" pitchFamily="34" charset="0"/>
                <a:ea typeface="Calibri" pitchFamily="34" charset="-122"/>
                <a:cs typeface="Calibri" pitchFamily="34" charset="-120"/>
              </a:rPr>
              <a:t>nhãn hành động</a:t>
            </a:r>
            <a:endParaRPr lang="en-US" sz="1100" dirty="0"/>
          </a:p>
        </p:txBody>
      </p:sp>
      <p:sp>
        <p:nvSpPr>
          <p:cNvPr id="33" name="Shape 31"/>
          <p:cNvSpPr/>
          <p:nvPr/>
        </p:nvSpPr>
        <p:spPr>
          <a:xfrm>
            <a:off x="626060" y="2699113"/>
            <a:ext cx="3454298" cy="1591056"/>
          </a:xfrm>
          <a:prstGeom prst="roundRect">
            <a:avLst>
              <a:gd name="adj" fmla="val 3448"/>
            </a:avLst>
          </a:prstGeom>
          <a:solidFill>
            <a:srgbClr val="F4F7FA"/>
          </a:solidFill>
          <a:ln w="9525">
            <a:solidFill>
              <a:srgbClr val="DDE4ED"/>
            </a:solidFill>
            <a:prstDash val="solid"/>
          </a:ln>
        </p:spPr>
      </p:sp>
      <p:sp>
        <p:nvSpPr>
          <p:cNvPr id="34" name="Shape 32"/>
          <p:cNvSpPr/>
          <p:nvPr/>
        </p:nvSpPr>
        <p:spPr>
          <a:xfrm>
            <a:off x="882092" y="2918569"/>
            <a:ext cx="292608" cy="292608"/>
          </a:xfrm>
          <a:prstGeom prst="ellipse">
            <a:avLst/>
          </a:prstGeom>
          <a:solidFill>
            <a:srgbClr val="00A88F"/>
          </a:solidFill>
          <a:ln w="12700">
            <a:solidFill>
              <a:srgbClr val="00A88F"/>
            </a:solidFill>
            <a:prstDash val="solid"/>
          </a:ln>
        </p:spPr>
      </p:sp>
      <p:sp>
        <p:nvSpPr>
          <p:cNvPr id="35" name="Text 33"/>
          <p:cNvSpPr txBox="1"/>
          <p:nvPr/>
        </p:nvSpPr>
        <p:spPr>
          <a:xfrm>
            <a:off x="882092" y="2918569"/>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6" name="Text 34"/>
          <p:cNvSpPr txBox="1"/>
          <p:nvPr/>
        </p:nvSpPr>
        <p:spPr>
          <a:xfrm>
            <a:off x="1284428" y="2918569"/>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Thu khung hình từ webcam</a:t>
            </a:r>
            <a:endParaRPr lang="en-US" sz="1350" dirty="0"/>
          </a:p>
        </p:txBody>
      </p:sp>
      <p:sp>
        <p:nvSpPr>
          <p:cNvPr id="37" name="Text 35"/>
          <p:cNvSpPr txBox="1"/>
          <p:nvPr/>
        </p:nvSpPr>
        <p:spPr>
          <a:xfrm>
            <a:off x="882092" y="3320905"/>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OpenCV mở webcam và đọc từng khung hình, khoảng 30 khung mỗi giây. Đây cũng là chỗ đặt bộ đếm FPS để biết hệ thống có chạy kịp thời gian thực hay không.</a:t>
            </a:r>
            <a:endParaRPr lang="en-US" sz="1100" dirty="0"/>
          </a:p>
        </p:txBody>
      </p:sp>
      <p:sp>
        <p:nvSpPr>
          <p:cNvPr id="38" name="Shape 36"/>
          <p:cNvSpPr/>
          <p:nvPr/>
        </p:nvSpPr>
        <p:spPr>
          <a:xfrm>
            <a:off x="4354678" y="2699113"/>
            <a:ext cx="3454298" cy="1591056"/>
          </a:xfrm>
          <a:prstGeom prst="roundRect">
            <a:avLst>
              <a:gd name="adj" fmla="val 3448"/>
            </a:avLst>
          </a:prstGeom>
          <a:solidFill>
            <a:srgbClr val="F4F7FA"/>
          </a:solidFill>
          <a:ln w="9525">
            <a:solidFill>
              <a:srgbClr val="DDE4ED"/>
            </a:solidFill>
            <a:prstDash val="solid"/>
          </a:ln>
        </p:spPr>
      </p:sp>
      <p:sp>
        <p:nvSpPr>
          <p:cNvPr id="39" name="Shape 37"/>
          <p:cNvSpPr/>
          <p:nvPr/>
        </p:nvSpPr>
        <p:spPr>
          <a:xfrm>
            <a:off x="4610710" y="2918569"/>
            <a:ext cx="292608" cy="292608"/>
          </a:xfrm>
          <a:prstGeom prst="ellipse">
            <a:avLst/>
          </a:prstGeom>
          <a:solidFill>
            <a:srgbClr val="00A88F"/>
          </a:solidFill>
          <a:ln w="12700">
            <a:solidFill>
              <a:srgbClr val="00A88F"/>
            </a:solidFill>
            <a:prstDash val="solid"/>
          </a:ln>
        </p:spPr>
      </p:sp>
      <p:sp>
        <p:nvSpPr>
          <p:cNvPr id="40" name="Text 38"/>
          <p:cNvSpPr txBox="1"/>
          <p:nvPr/>
        </p:nvSpPr>
        <p:spPr>
          <a:xfrm>
            <a:off x="4610710" y="2918569"/>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1" name="Text 39"/>
          <p:cNvSpPr txBox="1"/>
          <p:nvPr/>
        </p:nvSpPr>
        <p:spPr>
          <a:xfrm>
            <a:off x="5013046" y="2918569"/>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Ước lượng tư thế</a:t>
            </a:r>
            <a:endParaRPr lang="en-US" sz="1350" dirty="0"/>
          </a:p>
        </p:txBody>
      </p:sp>
      <p:sp>
        <p:nvSpPr>
          <p:cNvPr id="42" name="Text 40"/>
          <p:cNvSpPr txBox="1"/>
          <p:nvPr/>
        </p:nvSpPr>
        <p:spPr>
          <a:xfrm>
            <a:off x="4610710" y="3320905"/>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Chuyển ảnh sang RGB rồi đưa vào MediaPipe Pose. Mô hình trả về 33 điểm khớp kèm điểm tin cậy. Từ đây hệ thống không làm việc với pixel nữa, chỉ còn tọa độ.</a:t>
            </a:r>
            <a:endParaRPr lang="en-US" sz="1100" dirty="0"/>
          </a:p>
        </p:txBody>
      </p:sp>
      <p:sp>
        <p:nvSpPr>
          <p:cNvPr id="43" name="Shape 41"/>
          <p:cNvSpPr/>
          <p:nvPr/>
        </p:nvSpPr>
        <p:spPr>
          <a:xfrm>
            <a:off x="8083297" y="2699113"/>
            <a:ext cx="3454298" cy="1591056"/>
          </a:xfrm>
          <a:prstGeom prst="roundRect">
            <a:avLst>
              <a:gd name="adj" fmla="val 3448"/>
            </a:avLst>
          </a:prstGeom>
          <a:solidFill>
            <a:srgbClr val="F4F7FA"/>
          </a:solidFill>
          <a:ln w="9525">
            <a:solidFill>
              <a:srgbClr val="DDE4ED"/>
            </a:solidFill>
            <a:prstDash val="solid"/>
          </a:ln>
        </p:spPr>
      </p:sp>
      <p:sp>
        <p:nvSpPr>
          <p:cNvPr id="44" name="Shape 42"/>
          <p:cNvSpPr/>
          <p:nvPr/>
        </p:nvSpPr>
        <p:spPr>
          <a:xfrm>
            <a:off x="8339329" y="2918569"/>
            <a:ext cx="292608" cy="292608"/>
          </a:xfrm>
          <a:prstGeom prst="ellipse">
            <a:avLst/>
          </a:prstGeom>
          <a:solidFill>
            <a:srgbClr val="00A88F"/>
          </a:solidFill>
          <a:ln w="12700">
            <a:solidFill>
              <a:srgbClr val="00A88F"/>
            </a:solidFill>
            <a:prstDash val="solid"/>
          </a:ln>
        </p:spPr>
      </p:sp>
      <p:sp>
        <p:nvSpPr>
          <p:cNvPr id="45" name="Text 43"/>
          <p:cNvSpPr txBox="1"/>
          <p:nvPr/>
        </p:nvSpPr>
        <p:spPr>
          <a:xfrm>
            <a:off x="8339329" y="2918569"/>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6" name="Text 44"/>
          <p:cNvSpPr txBox="1"/>
          <p:nvPr/>
        </p:nvSpPr>
        <p:spPr>
          <a:xfrm>
            <a:off x="8741665" y="2918569"/>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Chuẩn hóa tọa độ khớp</a:t>
            </a:r>
            <a:endParaRPr lang="en-US" sz="1350" dirty="0"/>
          </a:p>
        </p:txBody>
      </p:sp>
      <p:sp>
        <p:nvSpPr>
          <p:cNvPr id="47" name="Text 45"/>
          <p:cNvSpPr txBox="1"/>
          <p:nvPr/>
        </p:nvSpPr>
        <p:spPr>
          <a:xfrm>
            <a:off x="8339329" y="3320905"/>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Dời gốc tọa độ về trung điểm hông để bỏ ảnh hưởng của vị trí đứng, rồi chia cho chiều dài thân để bỏ ảnh hưởng của khoảng cách tới camera.</a:t>
            </a:r>
            <a:endParaRPr lang="en-US" sz="1100" dirty="0"/>
          </a:p>
        </p:txBody>
      </p:sp>
      <p:sp>
        <p:nvSpPr>
          <p:cNvPr id="48" name="Shape 46"/>
          <p:cNvSpPr/>
          <p:nvPr/>
        </p:nvSpPr>
        <p:spPr>
          <a:xfrm>
            <a:off x="626060" y="4381609"/>
            <a:ext cx="3454298" cy="1591056"/>
          </a:xfrm>
          <a:prstGeom prst="roundRect">
            <a:avLst>
              <a:gd name="adj" fmla="val 3448"/>
            </a:avLst>
          </a:prstGeom>
          <a:solidFill>
            <a:srgbClr val="F4F7FA"/>
          </a:solidFill>
          <a:ln w="9525">
            <a:solidFill>
              <a:srgbClr val="DDE4ED"/>
            </a:solidFill>
            <a:prstDash val="solid"/>
          </a:ln>
        </p:spPr>
      </p:sp>
      <p:sp>
        <p:nvSpPr>
          <p:cNvPr id="49" name="Shape 47"/>
          <p:cNvSpPr/>
          <p:nvPr/>
        </p:nvSpPr>
        <p:spPr>
          <a:xfrm>
            <a:off x="882092" y="4601065"/>
            <a:ext cx="292608" cy="292608"/>
          </a:xfrm>
          <a:prstGeom prst="ellipse">
            <a:avLst/>
          </a:prstGeom>
          <a:solidFill>
            <a:srgbClr val="00A88F"/>
          </a:solidFill>
          <a:ln w="12700">
            <a:solidFill>
              <a:srgbClr val="00A88F"/>
            </a:solidFill>
            <a:prstDash val="solid"/>
          </a:ln>
        </p:spPr>
      </p:sp>
      <p:sp>
        <p:nvSpPr>
          <p:cNvPr id="50" name="Text 48"/>
          <p:cNvSpPr txBox="1"/>
          <p:nvPr/>
        </p:nvSpPr>
        <p:spPr>
          <a:xfrm>
            <a:off x="882092" y="4601065"/>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51" name="Text 49"/>
          <p:cNvSpPr txBox="1"/>
          <p:nvPr/>
        </p:nvSpPr>
        <p:spPr>
          <a:xfrm>
            <a:off x="1284428" y="4601065"/>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Hàng đợi 30 khung hình</a:t>
            </a:r>
            <a:endParaRPr lang="en-US" sz="1350" dirty="0"/>
          </a:p>
        </p:txBody>
      </p:sp>
      <p:sp>
        <p:nvSpPr>
          <p:cNvPr id="52" name="Text 50"/>
          <p:cNvSpPr txBox="1"/>
          <p:nvPr/>
        </p:nvSpPr>
        <p:spPr>
          <a:xfrm>
            <a:off x="882092" y="5003401"/>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Giữ lại 30 khung gần nhất, khoảng một giây. Bước này biến bài toán từ nhìn một tư thế thành nhìn một đoạn chuyển động, nhờ đó phân biệt được ngồi xuống với đứng dậy.</a:t>
            </a:r>
            <a:endParaRPr lang="en-US" sz="1100" dirty="0"/>
          </a:p>
        </p:txBody>
      </p:sp>
      <p:sp>
        <p:nvSpPr>
          <p:cNvPr id="53" name="Shape 51"/>
          <p:cNvSpPr/>
          <p:nvPr/>
        </p:nvSpPr>
        <p:spPr>
          <a:xfrm>
            <a:off x="4354678" y="4381609"/>
            <a:ext cx="3454298" cy="1591056"/>
          </a:xfrm>
          <a:prstGeom prst="roundRect">
            <a:avLst>
              <a:gd name="adj" fmla="val 3448"/>
            </a:avLst>
          </a:prstGeom>
          <a:solidFill>
            <a:srgbClr val="F4F7FA"/>
          </a:solidFill>
          <a:ln w="9525">
            <a:solidFill>
              <a:srgbClr val="DDE4ED"/>
            </a:solidFill>
            <a:prstDash val="solid"/>
          </a:ln>
        </p:spPr>
      </p:sp>
      <p:sp>
        <p:nvSpPr>
          <p:cNvPr id="54" name="Shape 52"/>
          <p:cNvSpPr/>
          <p:nvPr/>
        </p:nvSpPr>
        <p:spPr>
          <a:xfrm>
            <a:off x="4610710" y="4601065"/>
            <a:ext cx="292608" cy="292608"/>
          </a:xfrm>
          <a:prstGeom prst="ellipse">
            <a:avLst/>
          </a:prstGeom>
          <a:solidFill>
            <a:srgbClr val="00A88F"/>
          </a:solidFill>
          <a:ln w="12700">
            <a:solidFill>
              <a:srgbClr val="00A88F"/>
            </a:solidFill>
            <a:prstDash val="solid"/>
          </a:ln>
        </p:spPr>
      </p:sp>
      <p:sp>
        <p:nvSpPr>
          <p:cNvPr id="55" name="Text 53"/>
          <p:cNvSpPr txBox="1"/>
          <p:nvPr/>
        </p:nvSpPr>
        <p:spPr>
          <a:xfrm>
            <a:off x="4610710" y="4601065"/>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56" name="Text 54"/>
          <p:cNvSpPr txBox="1"/>
          <p:nvPr/>
        </p:nvSpPr>
        <p:spPr>
          <a:xfrm>
            <a:off x="5013046" y="4601065"/>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Mô hình phân loại chuỗi</a:t>
            </a:r>
            <a:endParaRPr lang="en-US" sz="1350" dirty="0"/>
          </a:p>
        </p:txBody>
      </p:sp>
      <p:sp>
        <p:nvSpPr>
          <p:cNvPr id="57" name="Text 55"/>
          <p:cNvSpPr txBox="1"/>
          <p:nvPr/>
        </p:nvSpPr>
        <p:spPr>
          <a:xfrm>
            <a:off x="4610710" y="5003401"/>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Nhận cả cửa sổ 30 khung và trả về xác suất cho từng hành động. Giai đoạn đầu dùng rừng ngẫu nhiên, giai đoạn sau thay bằng LSTM để so sánh hai bên.</a:t>
            </a:r>
            <a:endParaRPr lang="en-US" sz="1100" dirty="0"/>
          </a:p>
        </p:txBody>
      </p:sp>
      <p:sp>
        <p:nvSpPr>
          <p:cNvPr id="58" name="Shape 56"/>
          <p:cNvSpPr/>
          <p:nvPr/>
        </p:nvSpPr>
        <p:spPr>
          <a:xfrm>
            <a:off x="8083297" y="4381609"/>
            <a:ext cx="3454298" cy="1591056"/>
          </a:xfrm>
          <a:prstGeom prst="roundRect">
            <a:avLst>
              <a:gd name="adj" fmla="val 3448"/>
            </a:avLst>
          </a:prstGeom>
          <a:solidFill>
            <a:srgbClr val="E2F4F1"/>
          </a:solidFill>
          <a:ln w="9525">
            <a:solidFill>
              <a:srgbClr val="C8E8E2"/>
            </a:solidFill>
            <a:prstDash val="solid"/>
          </a:ln>
        </p:spPr>
      </p:sp>
      <p:sp>
        <p:nvSpPr>
          <p:cNvPr id="59" name="Shape 57"/>
          <p:cNvSpPr/>
          <p:nvPr/>
        </p:nvSpPr>
        <p:spPr>
          <a:xfrm>
            <a:off x="8339329" y="4601065"/>
            <a:ext cx="292608" cy="292608"/>
          </a:xfrm>
          <a:prstGeom prst="ellipse">
            <a:avLst/>
          </a:prstGeom>
          <a:solidFill>
            <a:srgbClr val="00A88F"/>
          </a:solidFill>
          <a:ln w="12700">
            <a:solidFill>
              <a:srgbClr val="00A88F"/>
            </a:solidFill>
            <a:prstDash val="solid"/>
          </a:ln>
        </p:spPr>
      </p:sp>
      <p:sp>
        <p:nvSpPr>
          <p:cNvPr id="60" name="Text 58"/>
          <p:cNvSpPr txBox="1"/>
          <p:nvPr/>
        </p:nvSpPr>
        <p:spPr>
          <a:xfrm>
            <a:off x="8339329" y="4601065"/>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61" name="Text 59"/>
          <p:cNvSpPr txBox="1"/>
          <p:nvPr/>
        </p:nvSpPr>
        <p:spPr>
          <a:xfrm>
            <a:off x="8741665" y="4601065"/>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Kết xuất nhãn hành động</a:t>
            </a:r>
            <a:endParaRPr lang="en-US" sz="1350" dirty="0"/>
          </a:p>
        </p:txBody>
      </p:sp>
      <p:sp>
        <p:nvSpPr>
          <p:cNvPr id="62" name="Text 60"/>
          <p:cNvSpPr txBox="1"/>
          <p:nvPr/>
        </p:nvSpPr>
        <p:spPr>
          <a:xfrm>
            <a:off x="8339329" y="5003401"/>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Chọn nhãn có xác suất cao nhất, làm mượt bằng bỏ phiếu trên 5 dự đoán gần nhất để nhãn không nhảy, rồi vẽ nhãn và độ tin cậy đè lên khung hình.</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2  · </a:t>
            </a:r>
            <a:r>
              <a:rPr lang="en-US" sz="1100" b="1" kern="0" spc="160" dirty="0" smtClean="0">
                <a:solidFill>
                  <a:srgbClr val="00A88F"/>
                </a:solidFill>
                <a:latin typeface="Calibri" pitchFamily="34" charset="0"/>
                <a:ea typeface="Calibri" pitchFamily="34" charset="-122"/>
                <a:cs typeface="Calibri" pitchFamily="34" charset="-120"/>
              </a:rPr>
              <a:t> 24/09</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Ảnh số và ước lượng tư thế</a:t>
            </a:r>
            <a:endParaRPr lang="en-US" sz="3200" dirty="0"/>
          </a:p>
        </p:txBody>
      </p:sp>
      <p:sp>
        <p:nvSpPr>
          <p:cNvPr id="4" name="Shape 2"/>
          <p:cNvSpPr/>
          <p:nvPr/>
        </p:nvSpPr>
        <p:spPr>
          <a:xfrm>
            <a:off x="640080" y="1298448"/>
            <a:ext cx="2079894" cy="329184"/>
          </a:xfrm>
          <a:prstGeom prst="roundRect">
            <a:avLst>
              <a:gd name="adj" fmla="val 16667"/>
            </a:avLst>
          </a:prstGeom>
          <a:solidFill>
            <a:srgbClr val="00806D"/>
          </a:solidFill>
          <a:ln w="9525">
            <a:solidFill>
              <a:srgbClr val="00806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409444"/>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647188"/>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903220"/>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Ảnh</a:t>
            </a:r>
            <a:r>
              <a:rPr lang="en-US" sz="1400" b="1" dirty="0" smtClean="0">
                <a:solidFill>
                  <a:srgbClr val="1E3A5F"/>
                </a:solidFill>
                <a:latin typeface="Arial" pitchFamily="34" charset="0"/>
                <a:ea typeface="Arial" pitchFamily="34" charset="-122"/>
                <a:cs typeface="Arial" pitchFamily="34" charset="-120"/>
              </a:rPr>
              <a:t> </a:t>
            </a:r>
            <a:r>
              <a:rPr lang="en-US" sz="1400" b="1" dirty="0">
                <a:solidFill>
                  <a:srgbClr val="1E3A5F"/>
                </a:solidFill>
                <a:latin typeface="Arial" pitchFamily="34" charset="0"/>
                <a:ea typeface="Arial" pitchFamily="34" charset="-122"/>
                <a:cs typeface="Arial" pitchFamily="34" charset="-120"/>
              </a:rPr>
              <a:t>số, video và tư thế</a:t>
            </a:r>
            <a:endParaRPr lang="en-US" sz="1400" dirty="0"/>
          </a:p>
        </p:txBody>
      </p:sp>
      <p:sp>
        <p:nvSpPr>
          <p:cNvPr id="17" name="Text 15"/>
          <p:cNvSpPr txBox="1"/>
          <p:nvPr/>
        </p:nvSpPr>
        <p:spPr>
          <a:xfrm>
            <a:off x="896112" y="3433572"/>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Ảnh số: pixel, kênh màu, vì sao OpenCV đọc BGR còn MediaPipe cần RGB</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Video: FPS, độ phân giải, khung hình là đơn vị xử lý</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Keypoint và bản đồ nhiệt: mô hình dự đoán xác suất khớp ở từng vị trí</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Top-down và bottom-up: BlazePose thuộc nhóm nào, vì sao chạy nhanh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Điểm tin cậy của mỗi khớp và cách dùng để lọc kết quả xấu</a:t>
            </a:r>
            <a:endParaRPr lang="en-US" sz="1150" dirty="0"/>
          </a:p>
        </p:txBody>
      </p:sp>
      <p:sp>
        <p:nvSpPr>
          <p:cNvPr id="18" name="Shape 16"/>
          <p:cNvSpPr/>
          <p:nvPr/>
        </p:nvSpPr>
        <p:spPr>
          <a:xfrm>
            <a:off x="4368698" y="2409444"/>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647188"/>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903220"/>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Khung xương chạy trên webcam</a:t>
            </a:r>
            <a:endParaRPr lang="en-US" sz="1400" dirty="0"/>
          </a:p>
        </p:txBody>
      </p:sp>
      <p:sp>
        <p:nvSpPr>
          <p:cNvPr id="21" name="Text 19"/>
          <p:cNvSpPr txBox="1"/>
          <p:nvPr/>
        </p:nvSpPr>
        <p:spPr>
          <a:xfrm>
            <a:off x="4624730" y="3433572"/>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Cài môi trường conda trên Windows, kiểm tra opencv và mediapipe</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Đọc webcam bằng OpenCV, vẽ 33 khớp đè lên khung hình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Hiển thị FPS thực đo ở góc </a:t>
            </a:r>
            <a:r>
              <a:rPr lang="en-US" sz="1150" dirty="0" err="1">
                <a:solidFill>
                  <a:srgbClr val="3C4A5C"/>
                </a:solidFill>
                <a:latin typeface="Calibri" pitchFamily="34" charset="0"/>
                <a:ea typeface="Calibri" pitchFamily="34" charset="-122"/>
                <a:cs typeface="Calibri" pitchFamily="34" charset="-120"/>
              </a:rPr>
              <a:t>màn</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hình</a:t>
            </a:r>
            <a:endParaRPr lang="en-US" sz="1150" dirty="0"/>
          </a:p>
        </p:txBody>
      </p:sp>
      <p:sp>
        <p:nvSpPr>
          <p:cNvPr id="22" name="Shape 20"/>
          <p:cNvSpPr/>
          <p:nvPr/>
        </p:nvSpPr>
        <p:spPr>
          <a:xfrm>
            <a:off x="8097317" y="2409444"/>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647188"/>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903220"/>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24/09</a:t>
            </a:r>
            <a:endParaRPr lang="en-US" sz="1400" dirty="0"/>
          </a:p>
        </p:txBody>
      </p:sp>
      <p:sp>
        <p:nvSpPr>
          <p:cNvPr id="25" name="Text 23"/>
          <p:cNvSpPr txBox="1"/>
          <p:nvPr/>
        </p:nvSpPr>
        <p:spPr>
          <a:xfrm>
            <a:off x="8353349" y="3433572"/>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Video khung xương bám theo người, kèm FPS</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Bản tóm tắt lý thuyết ước lượng </a:t>
            </a:r>
            <a:r>
              <a:rPr lang="en-US" sz="1150" dirty="0" err="1">
                <a:solidFill>
                  <a:srgbClr val="3C4A5C"/>
                </a:solidFill>
                <a:latin typeface="Calibri" pitchFamily="34" charset="0"/>
                <a:ea typeface="Calibri" pitchFamily="34" charset="-122"/>
                <a:cs typeface="Calibri" pitchFamily="34" charset="-120"/>
              </a:rPr>
              <a:t>tư</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thế</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3  ·  </a:t>
            </a:r>
            <a:r>
              <a:rPr lang="en-US" sz="1100" b="1" kern="0" spc="160" dirty="0" smtClean="0">
                <a:solidFill>
                  <a:srgbClr val="00A88F"/>
                </a:solidFill>
                <a:latin typeface="Calibri" pitchFamily="34" charset="0"/>
                <a:ea typeface="Calibri" pitchFamily="34" charset="-122"/>
                <a:cs typeface="Calibri" pitchFamily="34" charset="-120"/>
              </a:rPr>
              <a:t>08/10</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Biểu diễn khung xương</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00806D"/>
          </a:solidFill>
          <a:ln w="9525">
            <a:solidFill>
              <a:srgbClr val="00806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297430"/>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535174"/>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791206"/>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Từ</a:t>
            </a:r>
            <a:r>
              <a:rPr lang="en-US" sz="1400" b="1" dirty="0" smtClean="0">
                <a:solidFill>
                  <a:srgbClr val="1E3A5F"/>
                </a:solidFill>
                <a:latin typeface="Arial" pitchFamily="34" charset="0"/>
                <a:ea typeface="Arial" pitchFamily="34" charset="-122"/>
                <a:cs typeface="Arial" pitchFamily="34" charset="-120"/>
              </a:rPr>
              <a:t> </a:t>
            </a:r>
            <a:r>
              <a:rPr lang="en-US" sz="1400" b="1" dirty="0">
                <a:solidFill>
                  <a:srgbClr val="1E3A5F"/>
                </a:solidFill>
                <a:latin typeface="Arial" pitchFamily="34" charset="0"/>
                <a:ea typeface="Arial" pitchFamily="34" charset="-122"/>
                <a:cs typeface="Arial" pitchFamily="34" charset="-120"/>
              </a:rPr>
              <a:t>tọa độ thô đến đặc trưng</a:t>
            </a:r>
            <a:endParaRPr lang="en-US" sz="1400" dirty="0"/>
          </a:p>
        </p:txBody>
      </p:sp>
      <p:sp>
        <p:nvSpPr>
          <p:cNvPr id="17" name="Text 15"/>
          <p:cNvSpPr txBox="1"/>
          <p:nvPr/>
        </p:nvSpPr>
        <p:spPr>
          <a:xfrm>
            <a:off x="896112" y="332155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Vì sao tọa độ pixel thô không dùng được: mô hình sẽ học vị trí trên màn hình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Chuẩn hóa tịnh tiến: dời gốc tọa độ về trung điểm hông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Chuẩn hóa tỉ lệ: chia cho chiều dài thân để bất biến với khoảng cách camera</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Góc khớp tính từ ba điểm, vì sao góc ổn định hơn tọa độ</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Vận tốc khớp: sai phân giữa các khung hình liên tiếp</a:t>
            </a:r>
            <a:endParaRPr lang="en-US" sz="1150" dirty="0"/>
          </a:p>
        </p:txBody>
      </p:sp>
      <p:sp>
        <p:nvSpPr>
          <p:cNvPr id="18" name="Shape 16"/>
          <p:cNvSpPr/>
          <p:nvPr/>
        </p:nvSpPr>
        <p:spPr>
          <a:xfrm>
            <a:off x="4368698" y="2297430"/>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535174"/>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79120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Module tiền xử lý</a:t>
            </a:r>
            <a:endParaRPr lang="en-US" sz="1400" dirty="0"/>
          </a:p>
        </p:txBody>
      </p:sp>
      <p:sp>
        <p:nvSpPr>
          <p:cNvPr id="21" name="Text 19"/>
          <p:cNvSpPr txBox="1"/>
          <p:nvPr/>
        </p:nvSpPr>
        <p:spPr>
          <a:xfrm>
            <a:off x="4624730" y="332155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Viết hàm chuẩn hóa 33 điểm, bỏ 10 điểm trên mặt vì nhiễu</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Viết hàm tính góc khuỷu, gối, hông và vận tốc cổ tay, mắt cá</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Kiểm chứng: cùng tư thế đứng gần và đứng xa phải cho vector gần như nhau</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Vẽ đồ thị chiều cao hông theo thời gian cho động tác ngồi xuống</a:t>
            </a:r>
            <a:endParaRPr lang="en-US" sz="1150" dirty="0"/>
          </a:p>
        </p:txBody>
      </p:sp>
      <p:sp>
        <p:nvSpPr>
          <p:cNvPr id="22" name="Shape 20"/>
          <p:cNvSpPr/>
          <p:nvPr/>
        </p:nvSpPr>
        <p:spPr>
          <a:xfrm>
            <a:off x="8097317" y="2297430"/>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535174"/>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79120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08/10</a:t>
            </a:r>
            <a:endParaRPr lang="en-US" sz="1400" dirty="0"/>
          </a:p>
        </p:txBody>
      </p:sp>
      <p:sp>
        <p:nvSpPr>
          <p:cNvPr id="25" name="Text 23"/>
          <p:cNvSpPr txBox="1"/>
          <p:nvPr/>
        </p:nvSpPr>
        <p:spPr>
          <a:xfrm>
            <a:off x="8353349" y="332155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Module tiền xử lý chạy được, có thể tái sử dụng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Bằng chứng chuẩn hóa đúng: bảng so sánh vector ở hai khoảng cách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Đồ thị đặc trưng theo thời gian của hai đến ba hành động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4  · </a:t>
            </a:r>
            <a:r>
              <a:rPr lang="en-US" sz="1100" b="1" kern="0" spc="160" dirty="0" smtClean="0">
                <a:solidFill>
                  <a:srgbClr val="00A88F"/>
                </a:solidFill>
                <a:latin typeface="Calibri" pitchFamily="34" charset="0"/>
                <a:ea typeface="Calibri" pitchFamily="34" charset="-122"/>
                <a:cs typeface="Calibri" pitchFamily="34" charset="-120"/>
              </a:rPr>
              <a:t> </a:t>
            </a:r>
            <a:r>
              <a:rPr lang="en-US" sz="1100" b="1" kern="0" spc="160" dirty="0">
                <a:solidFill>
                  <a:srgbClr val="00A88F"/>
                </a:solidFill>
                <a:latin typeface="Calibri" pitchFamily="34" charset="0"/>
                <a:ea typeface="Calibri" pitchFamily="34" charset="-122"/>
                <a:cs typeface="Calibri" pitchFamily="34" charset="-120"/>
              </a:rPr>
              <a:t>22/10</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Dữ liệu và mô hình đầu tiên</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00806D"/>
          </a:solidFill>
          <a:ln w="9525">
            <a:solidFill>
              <a:srgbClr val="00806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281101"/>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518845"/>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774877"/>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Đánh</a:t>
            </a:r>
            <a:r>
              <a:rPr lang="en-US" sz="1400" b="1" dirty="0" smtClean="0">
                <a:solidFill>
                  <a:srgbClr val="1E3A5F"/>
                </a:solidFill>
                <a:latin typeface="Arial" pitchFamily="34" charset="0"/>
                <a:ea typeface="Arial" pitchFamily="34" charset="-122"/>
                <a:cs typeface="Arial" pitchFamily="34" charset="-120"/>
              </a:rPr>
              <a:t> </a:t>
            </a:r>
            <a:r>
              <a:rPr lang="en-US" sz="1400" b="1" dirty="0">
                <a:solidFill>
                  <a:srgbClr val="1E3A5F"/>
                </a:solidFill>
                <a:latin typeface="Arial" pitchFamily="34" charset="0"/>
                <a:ea typeface="Arial" pitchFamily="34" charset="-122"/>
                <a:cs typeface="Arial" pitchFamily="34" charset="-120"/>
              </a:rPr>
              <a:t>giá phân loại</a:t>
            </a:r>
            <a:endParaRPr lang="en-US" sz="1400" dirty="0"/>
          </a:p>
        </p:txBody>
      </p:sp>
      <p:sp>
        <p:nvSpPr>
          <p:cNvPr id="17" name="Text 15"/>
          <p:cNvSpPr txBox="1"/>
          <p:nvPr/>
        </p:nvSpPr>
        <p:spPr>
          <a:xfrm>
            <a:off x="896112" y="3305229"/>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Cửa sổ trượt và cách chọn độ dài cửa sổ</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Ma trận nhầm lẫn: đọc thế nào, cặp hành động nào dễ lẫn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Precision và recall từng lớp, vì sao recall của "ngã" quan trọng nhất</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Rò rỉ dữ liệu: chia tập theo khung hình so với chia theo người</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Rừng ngẫu nhiên: nhiều cây bỏ phiếu, xếp hạng được đặc trưng quan trọng</a:t>
            </a:r>
            <a:endParaRPr lang="en-US" sz="1150" dirty="0"/>
          </a:p>
        </p:txBody>
      </p:sp>
      <p:sp>
        <p:nvSpPr>
          <p:cNvPr id="18" name="Shape 16"/>
          <p:cNvSpPr/>
          <p:nvPr/>
        </p:nvSpPr>
        <p:spPr>
          <a:xfrm>
            <a:off x="4368698" y="2281101"/>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518845"/>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774877"/>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Bộ dữ liệu và mô hình 1</a:t>
            </a:r>
            <a:endParaRPr lang="en-US" sz="1400" dirty="0"/>
          </a:p>
        </p:txBody>
      </p:sp>
      <p:sp>
        <p:nvSpPr>
          <p:cNvPr id="21" name="Text 19"/>
          <p:cNvSpPr txBox="1"/>
          <p:nvPr/>
        </p:nvSpPr>
        <p:spPr>
          <a:xfrm>
            <a:off x="4624730" y="3305229"/>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Quay 6 hành động với 3–5 người diễn, mỗi hành động 8–10 lần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Trích khung xương một lần duy nhất, lưu ra tệp .npy</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Cắt cửa sổ 30 khung, tính 30–40 đặc trưng cho mỗi cửa sổ</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Huấn luyện rừng ngẫu nhiên, chia tập theo người diễn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Vẽ ma trận nhầm lẫn và xem đặc trưng nào có trọng số cao nhất</a:t>
            </a:r>
            <a:endParaRPr lang="en-US" sz="1150" dirty="0"/>
          </a:p>
        </p:txBody>
      </p:sp>
      <p:sp>
        <p:nvSpPr>
          <p:cNvPr id="22" name="Shape 20"/>
          <p:cNvSpPr/>
          <p:nvPr/>
        </p:nvSpPr>
        <p:spPr>
          <a:xfrm>
            <a:off x="8097317" y="2281101"/>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518845"/>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774877"/>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22/10</a:t>
            </a:r>
            <a:endParaRPr lang="en-US" sz="1400" dirty="0"/>
          </a:p>
        </p:txBody>
      </p:sp>
      <p:sp>
        <p:nvSpPr>
          <p:cNvPr id="25" name="Text 23"/>
          <p:cNvSpPr txBox="1"/>
          <p:nvPr/>
        </p:nvSpPr>
        <p:spPr>
          <a:xfrm>
            <a:off x="8353349" y="3305229"/>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Bộ dữ liệu kèm bảng thống kê theo người và theo hành động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Ma trận nhầm lẫn, bảng precision và recall từng lớp</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Hệ thống phân loại chạy được từ đầu đến cuối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5  ·  </a:t>
            </a:r>
            <a:r>
              <a:rPr lang="en-US" sz="1100" b="1" kern="0" spc="160" dirty="0" smtClean="0">
                <a:solidFill>
                  <a:srgbClr val="00A88F"/>
                </a:solidFill>
                <a:latin typeface="Calibri" pitchFamily="34" charset="0"/>
                <a:ea typeface="Calibri" pitchFamily="34" charset="-122"/>
                <a:cs typeface="Calibri" pitchFamily="34" charset="-120"/>
              </a:rPr>
              <a:t> </a:t>
            </a:r>
            <a:r>
              <a:rPr lang="en-US" sz="1100" b="1" kern="0" spc="160" dirty="0">
                <a:solidFill>
                  <a:srgbClr val="00A88F"/>
                </a:solidFill>
                <a:latin typeface="Calibri" pitchFamily="34" charset="0"/>
                <a:ea typeface="Calibri" pitchFamily="34" charset="-122"/>
                <a:cs typeface="Calibri" pitchFamily="34" charset="-120"/>
              </a:rPr>
              <a:t>05/11</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Mô hình chuỗi thời gian và demo</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00806D"/>
          </a:solidFill>
          <a:ln w="9525">
            <a:solidFill>
              <a:srgbClr val="00806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377440"/>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615184"/>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871216"/>
            <a:ext cx="2942234" cy="457200"/>
          </a:xfrm>
          <a:prstGeom prst="rect">
            <a:avLst/>
          </a:prstGeom>
          <a:noFill/>
          <a:ln/>
        </p:spPr>
        <p:txBody>
          <a:bodyPr wrap="square" lIns="0" tIns="0" rIns="0" bIns="0" rtlCol="0" anchor="t"/>
          <a:lstStyle/>
          <a:p>
            <a:pPr marL="0" indent="0">
              <a:lnSpc>
                <a:spcPts val="1700"/>
              </a:lnSpc>
              <a:buNone/>
            </a:pPr>
            <a:r>
              <a:rPr lang="en-US" sz="1400" b="1" dirty="0" smtClean="0">
                <a:solidFill>
                  <a:srgbClr val="1E3A5F"/>
                </a:solidFill>
                <a:latin typeface="Arial" pitchFamily="34" charset="0"/>
                <a:ea typeface="Arial" pitchFamily="34" charset="-122"/>
                <a:cs typeface="Arial" pitchFamily="34" charset="-120"/>
              </a:rPr>
              <a:t>RNN</a:t>
            </a:r>
            <a:r>
              <a:rPr lang="en-US" sz="1400" b="1" dirty="0">
                <a:solidFill>
                  <a:srgbClr val="1E3A5F"/>
                </a:solidFill>
                <a:latin typeface="Arial" pitchFamily="34" charset="0"/>
                <a:ea typeface="Arial" pitchFamily="34" charset="-122"/>
                <a:cs typeface="Arial" pitchFamily="34" charset="-120"/>
              </a:rPr>
              <a:t>, LSTM và PyTorch</a:t>
            </a:r>
            <a:endParaRPr lang="en-US" sz="1400" dirty="0"/>
          </a:p>
        </p:txBody>
      </p:sp>
      <p:sp>
        <p:nvSpPr>
          <p:cNvPr id="17" name="Text 15"/>
          <p:cNvSpPr txBox="1"/>
          <p:nvPr/>
        </p:nvSpPr>
        <p:spPr>
          <a:xfrm>
            <a:off x="896112" y="340156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Vì sao mạng thông thường khó xử lý chuỗi có độ dài thay đổi</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RNN và trạng thái ẩn, vấn đề tiêu biến gradient</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LSTM: trực giác về cổng quên, cổng vào, cổng ra</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Quá khớp và cách hạn chế: dropout, giảm kích thước ẩn, tăng cường dữ liệu</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PyTorch: tensor, autograd, cấu trúc một vòng lặp huấn luyện</a:t>
            </a:r>
            <a:endParaRPr lang="en-US" sz="1150" dirty="0"/>
          </a:p>
        </p:txBody>
      </p:sp>
      <p:sp>
        <p:nvSpPr>
          <p:cNvPr id="18" name="Shape 16"/>
          <p:cNvSpPr/>
          <p:nvPr/>
        </p:nvSpPr>
        <p:spPr>
          <a:xfrm>
            <a:off x="4368698" y="2377440"/>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615184"/>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87121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Mô hình 2 và demo thời gian thực</a:t>
            </a:r>
            <a:endParaRPr lang="en-US" sz="1400" dirty="0"/>
          </a:p>
        </p:txBody>
      </p:sp>
      <p:sp>
        <p:nvSpPr>
          <p:cNvPr id="21" name="Text 19"/>
          <p:cNvSpPr txBox="1"/>
          <p:nvPr/>
        </p:nvSpPr>
        <p:spPr>
          <a:xfrm>
            <a:off x="4624730" y="340156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Cài PyTorch bản CPU, viết vòng lặp huấn luyện tối thiểu</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LSTM hai lớp, đầu vào 23 khớp × 2 tọa độ, kích thước ẩn 128, dropout 0.3</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Khảo sát độ dài cửa sổ 15 / 30 / 45 khung hình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So sánh với rừng ngẫu nhiên trên đúng cách chia tập</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Ghép demo thời gian thực, làm mượt nhãn bằng bỏ phiếu 5 dự đoán</a:t>
            </a:r>
            <a:endParaRPr lang="en-US" sz="1150" dirty="0"/>
          </a:p>
        </p:txBody>
      </p:sp>
      <p:sp>
        <p:nvSpPr>
          <p:cNvPr id="22" name="Shape 20"/>
          <p:cNvSpPr/>
          <p:nvPr/>
        </p:nvSpPr>
        <p:spPr>
          <a:xfrm>
            <a:off x="8097317" y="2377440"/>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615184"/>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87121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05/11</a:t>
            </a:r>
            <a:endParaRPr lang="en-US" sz="1400" dirty="0"/>
          </a:p>
        </p:txBody>
      </p:sp>
      <p:sp>
        <p:nvSpPr>
          <p:cNvPr id="25" name="Text 23"/>
          <p:cNvSpPr txBox="1"/>
          <p:nvPr/>
        </p:nvSpPr>
        <p:spPr>
          <a:xfrm>
            <a:off x="8353349" y="340156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Bảng so sánh hai mô hình và đồ thị quá trình huấn luyện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Demo thời gian thực chạy trực tiếp trước thầy cô</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Số liệu FPS thực đo và độ trễ nhận dạng</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6  ·  </a:t>
            </a:r>
            <a:r>
              <a:rPr lang="en-US" sz="1100" b="1" kern="0" spc="160" dirty="0" smtClean="0">
                <a:solidFill>
                  <a:srgbClr val="00A88F"/>
                </a:solidFill>
                <a:latin typeface="Calibri" pitchFamily="34" charset="0"/>
                <a:ea typeface="Calibri" pitchFamily="34" charset="-122"/>
                <a:cs typeface="Calibri" pitchFamily="34" charset="-120"/>
              </a:rPr>
              <a:t>12/11</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Hoàn thiện và nộp</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00806D"/>
          </a:solidFill>
          <a:ln w="9525">
            <a:solidFill>
              <a:srgbClr val="00806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210235"/>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447979"/>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704011"/>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Tổng hợp và hướng phát triển</a:t>
            </a:r>
            <a:endParaRPr lang="en-US" sz="1400" dirty="0"/>
          </a:p>
        </p:txBody>
      </p:sp>
      <p:sp>
        <p:nvSpPr>
          <p:cNvPr id="17" name="Text 15"/>
          <p:cNvSpPr txBox="1"/>
          <p:nvPr/>
        </p:nvSpPr>
        <p:spPr>
          <a:xfrm>
            <a:off x="896112" y="3234363"/>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Hệ thống hóa ghi chú của cả năm tầng thành chương cơ sở lý thuyết</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Đối chiếu kết quả thực nghiệm với phần lý thuyết đã trình bày</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Hướng phát triển: ST-GCN</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giải</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pháp</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nhiều người trong khung hình, hình </a:t>
            </a:r>
            <a:r>
              <a:rPr lang="en-US" sz="1150" dirty="0" err="1">
                <a:solidFill>
                  <a:srgbClr val="3C4A5C"/>
                </a:solidFill>
                <a:latin typeface="Calibri" pitchFamily="34" charset="0"/>
                <a:ea typeface="Calibri" pitchFamily="34" charset="-122"/>
                <a:cs typeface="Calibri" pitchFamily="34" charset="-120"/>
              </a:rPr>
              <a:t>học</a:t>
            </a:r>
            <a:r>
              <a:rPr lang="en-US" sz="1150" dirty="0">
                <a:solidFill>
                  <a:srgbClr val="3C4A5C"/>
                </a:solidFill>
                <a:latin typeface="Calibri" pitchFamily="34" charset="0"/>
                <a:ea typeface="Calibri" pitchFamily="34" charset="-122"/>
                <a:cs typeface="Calibri" pitchFamily="34" charset="-120"/>
              </a:rPr>
              <a:t> </a:t>
            </a:r>
            <a:r>
              <a:rPr lang="en-US" sz="1150" dirty="0" smtClean="0">
                <a:solidFill>
                  <a:srgbClr val="3C4A5C"/>
                </a:solidFill>
                <a:latin typeface="Calibri" pitchFamily="34" charset="0"/>
                <a:ea typeface="Calibri" pitchFamily="34" charset="-122"/>
                <a:cs typeface="Calibri" pitchFamily="34" charset="-120"/>
              </a:rPr>
              <a:t>3D</a:t>
            </a:r>
            <a:endParaRPr lang="en-US" sz="1150" dirty="0"/>
          </a:p>
        </p:txBody>
      </p:sp>
      <p:sp>
        <p:nvSpPr>
          <p:cNvPr id="18" name="Shape 16"/>
          <p:cNvSpPr/>
          <p:nvPr/>
        </p:nvSpPr>
        <p:spPr>
          <a:xfrm>
            <a:off x="4368698" y="2210235"/>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447979"/>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704011"/>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Ráp báo cáo và dọn dẹp</a:t>
            </a:r>
            <a:endParaRPr lang="en-US" sz="1400" dirty="0"/>
          </a:p>
        </p:txBody>
      </p:sp>
      <p:sp>
        <p:nvSpPr>
          <p:cNvPr id="21" name="Text 19"/>
          <p:cNvSpPr txBox="1"/>
          <p:nvPr/>
        </p:nvSpPr>
        <p:spPr>
          <a:xfrm>
            <a:off x="4624730" y="3234363"/>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Ráp báo cáo, thống nhất ký hiệu và hình vẽ giữa </a:t>
            </a:r>
            <a:r>
              <a:rPr lang="en-US" sz="1150" dirty="0" err="1">
                <a:solidFill>
                  <a:srgbClr val="3C4A5C"/>
                </a:solidFill>
                <a:latin typeface="Calibri" pitchFamily="34" charset="0"/>
                <a:ea typeface="Calibri" pitchFamily="34" charset="-122"/>
                <a:cs typeface="Calibri" pitchFamily="34" charset="-120"/>
              </a:rPr>
              <a:t>các</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chương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Quay video demo cho từng </a:t>
            </a:r>
            <a:r>
              <a:rPr lang="en-US" sz="1150" dirty="0" err="1">
                <a:solidFill>
                  <a:srgbClr val="3C4A5C"/>
                </a:solidFill>
                <a:latin typeface="Calibri" pitchFamily="34" charset="0"/>
                <a:ea typeface="Calibri" pitchFamily="34" charset="-122"/>
                <a:cs typeface="Calibri" pitchFamily="34" charset="-120"/>
              </a:rPr>
              <a:t>hành</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động</a:t>
            </a:r>
            <a:endParaRPr lang="en-US" sz="1150" dirty="0"/>
          </a:p>
        </p:txBody>
      </p:sp>
      <p:sp>
        <p:nvSpPr>
          <p:cNvPr id="22" name="Shape 20"/>
          <p:cNvSpPr/>
          <p:nvPr/>
        </p:nvSpPr>
        <p:spPr>
          <a:xfrm>
            <a:off x="8097317" y="2210235"/>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447979"/>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704011"/>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Sản</a:t>
            </a:r>
            <a:r>
              <a:rPr lang="en-US" sz="1400" b="1" dirty="0" smtClean="0">
                <a:solidFill>
                  <a:srgbClr val="1E3A5F"/>
                </a:solidFill>
                <a:latin typeface="Arial" pitchFamily="34" charset="0"/>
                <a:ea typeface="Arial" pitchFamily="34" charset="-122"/>
                <a:cs typeface="Arial" pitchFamily="34" charset="-120"/>
              </a:rPr>
              <a:t> </a:t>
            </a:r>
            <a:r>
              <a:rPr lang="en-US" sz="1400" b="1" dirty="0" err="1" smtClean="0">
                <a:solidFill>
                  <a:srgbClr val="1E3A5F"/>
                </a:solidFill>
                <a:latin typeface="Arial" pitchFamily="34" charset="0"/>
                <a:ea typeface="Arial" pitchFamily="34" charset="-122"/>
                <a:cs typeface="Arial" pitchFamily="34" charset="-120"/>
              </a:rPr>
              <a:t>phẩm</a:t>
            </a:r>
            <a:r>
              <a:rPr lang="en-US" sz="1400" b="1" dirty="0" smtClean="0">
                <a:solidFill>
                  <a:srgbClr val="1E3A5F"/>
                </a:solidFill>
                <a:latin typeface="Arial" pitchFamily="34" charset="0"/>
                <a:ea typeface="Arial" pitchFamily="34" charset="-122"/>
                <a:cs typeface="Arial" pitchFamily="34" charset="-120"/>
              </a:rPr>
              <a:t> </a:t>
            </a:r>
            <a:r>
              <a:rPr lang="en-US" sz="1400" b="1" dirty="0" err="1" smtClean="0">
                <a:solidFill>
                  <a:srgbClr val="1E3A5F"/>
                </a:solidFill>
                <a:latin typeface="Arial" pitchFamily="34" charset="0"/>
                <a:ea typeface="Arial" pitchFamily="34" charset="-122"/>
                <a:cs typeface="Arial" pitchFamily="34" charset="-120"/>
              </a:rPr>
              <a:t>cuối</a:t>
            </a:r>
            <a:r>
              <a:rPr lang="en-US" sz="1400" b="1" dirty="0" smtClean="0">
                <a:solidFill>
                  <a:srgbClr val="1E3A5F"/>
                </a:solidFill>
                <a:latin typeface="Arial" pitchFamily="34" charset="0"/>
                <a:ea typeface="Arial" pitchFamily="34" charset="-122"/>
                <a:cs typeface="Arial" pitchFamily="34" charset="-120"/>
              </a:rPr>
              <a:t> </a:t>
            </a:r>
            <a:r>
              <a:rPr lang="en-US" sz="1400" b="1" dirty="0" err="1" smtClean="0">
                <a:solidFill>
                  <a:srgbClr val="1E3A5F"/>
                </a:solidFill>
                <a:latin typeface="Arial" pitchFamily="34" charset="0"/>
                <a:ea typeface="Arial" pitchFamily="34" charset="-122"/>
                <a:cs typeface="Arial" pitchFamily="34" charset="-120"/>
              </a:rPr>
              <a:t>cùng</a:t>
            </a:r>
            <a:endParaRPr lang="en-US" sz="1400" dirty="0"/>
          </a:p>
        </p:txBody>
      </p:sp>
      <p:sp>
        <p:nvSpPr>
          <p:cNvPr id="25" name="Text 23"/>
          <p:cNvSpPr txBox="1"/>
          <p:nvPr/>
        </p:nvSpPr>
        <p:spPr>
          <a:xfrm>
            <a:off x="8353349" y="3234363"/>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Báo cáo đồ án hoàn chỉnh</a:t>
            </a:r>
            <a:endParaRPr lang="en-US" sz="1150" dirty="0"/>
          </a:p>
          <a:p>
            <a:pPr marL="177800" indent="-177800">
              <a:lnSpc>
                <a:spcPts val="1500"/>
              </a:lnSpc>
              <a:spcAft>
                <a:spcPts val="600"/>
              </a:spcAft>
              <a:buSzPct val="100000"/>
              <a:buChar char="•"/>
            </a:pPr>
            <a:r>
              <a:rPr lang="en-US" sz="1150" dirty="0" err="1">
                <a:solidFill>
                  <a:srgbClr val="3C4A5C"/>
                </a:solidFill>
                <a:latin typeface="Calibri" pitchFamily="34" charset="0"/>
                <a:ea typeface="Calibri" pitchFamily="34" charset="-122"/>
                <a:cs typeface="Calibri" pitchFamily="34" charset="-120"/>
              </a:rPr>
              <a:t>Mã</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nguồn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Video demo và slide bảo vệ</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1746</Words>
  <Application>Microsoft Office PowerPoint</Application>
  <PresentationFormat>Widescreen</PresentationFormat>
  <Paragraphs>196</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Nhan dang hanh dong tu khung xuong - Bao cao buoi 1</dc:title>
  <dc:subject>PptxGenJS Presentation</dc:subject>
  <dc:creator>PptxGenJS</dc:creator>
  <cp:lastModifiedBy>Nguyễn Tiến Lâm</cp:lastModifiedBy>
  <cp:revision>34</cp:revision>
  <dcterms:created xsi:type="dcterms:W3CDTF">2026-09-09T13:51:45Z</dcterms:created>
  <dcterms:modified xsi:type="dcterms:W3CDTF">2026-09-09T14:35:57Z</dcterms:modified>
</cp:coreProperties>
</file>