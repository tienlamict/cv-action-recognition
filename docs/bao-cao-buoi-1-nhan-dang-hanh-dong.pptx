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Buổi báo cáo đầu tiên gồm hai phần: vì sao chọn đề tài này, và kế hoạch thực hiện từ nay đến buổi nộp cuối ngày 12/11.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Nhấn mạnh lý do 3 và 4: đề tài kiểm chứng được bằng mắt ở mọi khâu, và vừa sức trong quỹ thời gian còn lại.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Phạm vi hẹp là kết quả của cân nhắc, không phải làm cho dễ. Bốn quyết định này giữ nguyên giá trị học thuật và chỉ cắt phần vật lộn với công cụ.</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Sáu khâu, mỗi khâu đều quan sát được. Khâu chuẩn hóa là nơi viết code nhiều nhất và quyết định chất lượng mô hình.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Hai luồng song song: mỗi giai đoạn học một tầng lý thuyết và làm một phần hệ thống dùng chính tầng đó. Cuối mỗi giai đoạn báo cáo cả phần đã học lẫn sản phẩm đã làm. Mốc an toàn là buổi 22/10: tới đó đã có hệ thống phân loại chạy được, nên nếu phần LSTM trục trặc vẫn còn sản phẩm để nộp ngày 12/11.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B2D"/>
        </a:solidFill>
      </p:bgPr>
    </p:bg>
    <p:spTree>
      <p:nvGrpSpPr>
        <p:cNvPr id="1" name=""/>
        <p:cNvGrpSpPr/>
        <p:nvPr/>
      </p:nvGrpSpPr>
      <p:grpSpPr>
        <a:xfrm>
          <a:off x="0" y="0"/>
          <a:ext cx="0" cy="0"/>
          <a:chOff x="0" y="0"/>
          <a:chExt cx="0" cy="0"/>
        </a:xfrm>
      </p:grpSpPr>
      <p:sp>
        <p:nvSpPr>
          <p:cNvPr id="2" name="Shape 0"/>
          <p:cNvSpPr/>
          <p:nvPr/>
        </p:nvSpPr>
        <p:spPr>
          <a:xfrm rot="5400000">
            <a:off x="9665208" y="1522476"/>
            <a:ext cx="603504" cy="32004"/>
          </a:xfrm>
          <a:prstGeom prst="rect">
            <a:avLst/>
          </a:prstGeom>
          <a:solidFill>
            <a:srgbClr val="00A88F"/>
          </a:solidFill>
          <a:ln w="12700">
            <a:solidFill>
              <a:srgbClr val="00A88F"/>
            </a:solidFill>
            <a:prstDash val="solid"/>
          </a:ln>
        </p:spPr>
      </p:sp>
      <p:sp>
        <p:nvSpPr>
          <p:cNvPr id="3" name="Shape 1"/>
          <p:cNvSpPr/>
          <p:nvPr/>
        </p:nvSpPr>
        <p:spPr>
          <a:xfrm>
            <a:off x="9529420" y="1924812"/>
            <a:ext cx="875081" cy="32004"/>
          </a:xfrm>
          <a:prstGeom prst="rect">
            <a:avLst/>
          </a:prstGeom>
          <a:solidFill>
            <a:srgbClr val="00A88F"/>
          </a:solidFill>
          <a:ln w="12700">
            <a:solidFill>
              <a:srgbClr val="00A88F"/>
            </a:solidFill>
            <a:prstDash val="solid"/>
          </a:ln>
        </p:spPr>
      </p:sp>
      <p:sp>
        <p:nvSpPr>
          <p:cNvPr id="4" name="Shape 2"/>
          <p:cNvSpPr/>
          <p:nvPr/>
        </p:nvSpPr>
        <p:spPr>
          <a:xfrm rot="10023209">
            <a:off x="9523713" y="1874520"/>
            <a:ext cx="448953" cy="32004"/>
          </a:xfrm>
          <a:prstGeom prst="rect">
            <a:avLst/>
          </a:prstGeom>
          <a:solidFill>
            <a:srgbClr val="00A88F"/>
          </a:solidFill>
          <a:ln w="12700">
            <a:solidFill>
              <a:srgbClr val="00A88F"/>
            </a:solidFill>
            <a:prstDash val="solid"/>
          </a:ln>
        </p:spPr>
      </p:sp>
      <p:sp>
        <p:nvSpPr>
          <p:cNvPr id="5" name="Shape 3"/>
          <p:cNvSpPr/>
          <p:nvPr/>
        </p:nvSpPr>
        <p:spPr>
          <a:xfrm rot="776791">
            <a:off x="9961254" y="1874520"/>
            <a:ext cx="448953" cy="32004"/>
          </a:xfrm>
          <a:prstGeom prst="rect">
            <a:avLst/>
          </a:prstGeom>
          <a:solidFill>
            <a:srgbClr val="00A88F"/>
          </a:solidFill>
          <a:ln w="12700">
            <a:solidFill>
              <a:srgbClr val="00A88F"/>
            </a:solidFill>
            <a:prstDash val="solid"/>
          </a:ln>
        </p:spPr>
      </p:sp>
      <p:sp>
        <p:nvSpPr>
          <p:cNvPr id="6" name="Shape 4"/>
          <p:cNvSpPr/>
          <p:nvPr/>
        </p:nvSpPr>
        <p:spPr>
          <a:xfrm rot="6914432">
            <a:off x="8974253" y="2276856"/>
            <a:ext cx="778406" cy="32004"/>
          </a:xfrm>
          <a:prstGeom prst="rect">
            <a:avLst/>
          </a:prstGeom>
          <a:solidFill>
            <a:srgbClr val="00A88F"/>
          </a:solidFill>
          <a:ln w="12700">
            <a:solidFill>
              <a:srgbClr val="00A88F"/>
            </a:solidFill>
            <a:prstDash val="solid"/>
          </a:ln>
        </p:spPr>
      </p:sp>
      <p:sp>
        <p:nvSpPr>
          <p:cNvPr id="7" name="Shape 5"/>
          <p:cNvSpPr/>
          <p:nvPr/>
        </p:nvSpPr>
        <p:spPr>
          <a:xfrm rot="6265246">
            <a:off x="8743470" y="2980944"/>
            <a:ext cx="726993" cy="32004"/>
          </a:xfrm>
          <a:prstGeom prst="rect">
            <a:avLst/>
          </a:prstGeom>
          <a:solidFill>
            <a:srgbClr val="00A88F"/>
          </a:solidFill>
          <a:ln w="12700">
            <a:solidFill>
              <a:srgbClr val="00A88F"/>
            </a:solidFill>
            <a:prstDash val="solid"/>
          </a:ln>
        </p:spPr>
      </p:sp>
      <p:sp>
        <p:nvSpPr>
          <p:cNvPr id="8" name="Shape 6"/>
          <p:cNvSpPr/>
          <p:nvPr/>
        </p:nvSpPr>
        <p:spPr>
          <a:xfrm rot="2743513">
            <a:off x="10319678" y="2125980"/>
            <a:ext cx="561922" cy="32004"/>
          </a:xfrm>
          <a:prstGeom prst="rect">
            <a:avLst/>
          </a:prstGeom>
          <a:solidFill>
            <a:srgbClr val="00A88F"/>
          </a:solidFill>
          <a:ln w="12700">
            <a:solidFill>
              <a:srgbClr val="00A88F"/>
            </a:solidFill>
            <a:prstDash val="solid"/>
          </a:ln>
        </p:spPr>
      </p:sp>
      <p:sp>
        <p:nvSpPr>
          <p:cNvPr id="9" name="Shape 7"/>
          <p:cNvSpPr/>
          <p:nvPr/>
        </p:nvSpPr>
        <p:spPr>
          <a:xfrm rot="-4184058">
            <a:off x="10569009" y="2000250"/>
            <a:ext cx="696939" cy="32004"/>
          </a:xfrm>
          <a:prstGeom prst="rect">
            <a:avLst/>
          </a:prstGeom>
          <a:solidFill>
            <a:srgbClr val="00A88F"/>
          </a:solidFill>
          <a:ln w="12700">
            <a:solidFill>
              <a:srgbClr val="00A88F"/>
            </a:solidFill>
            <a:prstDash val="solid"/>
          </a:ln>
        </p:spPr>
      </p:sp>
      <p:sp>
        <p:nvSpPr>
          <p:cNvPr id="10" name="Shape 8"/>
          <p:cNvSpPr/>
          <p:nvPr/>
        </p:nvSpPr>
        <p:spPr>
          <a:xfrm rot="5068348">
            <a:off x="8821690" y="2704338"/>
            <a:ext cx="1566335" cy="32004"/>
          </a:xfrm>
          <a:prstGeom prst="rect">
            <a:avLst/>
          </a:prstGeom>
          <a:solidFill>
            <a:srgbClr val="00A88F"/>
          </a:solidFill>
          <a:ln w="12700">
            <a:solidFill>
              <a:srgbClr val="00A88F"/>
            </a:solidFill>
            <a:prstDash val="solid"/>
          </a:ln>
        </p:spPr>
      </p:sp>
      <p:sp>
        <p:nvSpPr>
          <p:cNvPr id="11" name="Shape 9"/>
          <p:cNvSpPr/>
          <p:nvPr/>
        </p:nvSpPr>
        <p:spPr>
          <a:xfrm rot="5731652">
            <a:off x="9545895" y="2704338"/>
            <a:ext cx="1566335" cy="32004"/>
          </a:xfrm>
          <a:prstGeom prst="rect">
            <a:avLst/>
          </a:prstGeom>
          <a:solidFill>
            <a:srgbClr val="00A88F"/>
          </a:solidFill>
          <a:ln w="12700">
            <a:solidFill>
              <a:srgbClr val="00A88F"/>
            </a:solidFill>
            <a:prstDash val="solid"/>
          </a:ln>
        </p:spPr>
      </p:sp>
      <p:sp>
        <p:nvSpPr>
          <p:cNvPr id="12" name="Shape 10"/>
          <p:cNvSpPr/>
          <p:nvPr/>
        </p:nvSpPr>
        <p:spPr>
          <a:xfrm>
            <a:off x="9680296" y="3483864"/>
            <a:ext cx="573329" cy="32004"/>
          </a:xfrm>
          <a:prstGeom prst="rect">
            <a:avLst/>
          </a:prstGeom>
          <a:solidFill>
            <a:srgbClr val="00A88F"/>
          </a:solidFill>
          <a:ln w="12700">
            <a:solidFill>
              <a:srgbClr val="00A88F"/>
            </a:solidFill>
            <a:prstDash val="solid"/>
          </a:ln>
        </p:spPr>
      </p:sp>
      <p:sp>
        <p:nvSpPr>
          <p:cNvPr id="13" name="Shape 11"/>
          <p:cNvSpPr/>
          <p:nvPr/>
        </p:nvSpPr>
        <p:spPr>
          <a:xfrm rot="5668494">
            <a:off x="9054906" y="4062222"/>
            <a:ext cx="1160253" cy="32004"/>
          </a:xfrm>
          <a:prstGeom prst="rect">
            <a:avLst/>
          </a:prstGeom>
          <a:solidFill>
            <a:srgbClr val="00A88F"/>
          </a:solidFill>
          <a:ln w="12700">
            <a:solidFill>
              <a:srgbClr val="00A88F"/>
            </a:solidFill>
            <a:prstDash val="solid"/>
          </a:ln>
        </p:spPr>
      </p:sp>
      <p:sp>
        <p:nvSpPr>
          <p:cNvPr id="14" name="Shape 12"/>
          <p:cNvSpPr/>
          <p:nvPr/>
        </p:nvSpPr>
        <p:spPr>
          <a:xfrm rot="5693946">
            <a:off x="9014505" y="5168646"/>
            <a:ext cx="1060005" cy="32004"/>
          </a:xfrm>
          <a:prstGeom prst="rect">
            <a:avLst/>
          </a:prstGeom>
          <a:solidFill>
            <a:srgbClr val="00A88F"/>
          </a:solidFill>
          <a:ln w="12700">
            <a:solidFill>
              <a:srgbClr val="00A88F"/>
            </a:solidFill>
            <a:prstDash val="solid"/>
          </a:ln>
        </p:spPr>
      </p:sp>
      <p:sp>
        <p:nvSpPr>
          <p:cNvPr id="15" name="Shape 13"/>
          <p:cNvSpPr/>
          <p:nvPr/>
        </p:nvSpPr>
        <p:spPr>
          <a:xfrm rot="5131506">
            <a:off x="9718761" y="4062222"/>
            <a:ext cx="1160253" cy="32004"/>
          </a:xfrm>
          <a:prstGeom prst="rect">
            <a:avLst/>
          </a:prstGeom>
          <a:solidFill>
            <a:srgbClr val="00A88F"/>
          </a:solidFill>
          <a:ln w="12700">
            <a:solidFill>
              <a:srgbClr val="00A88F"/>
            </a:solidFill>
            <a:prstDash val="solid"/>
          </a:ln>
        </p:spPr>
      </p:sp>
      <p:sp>
        <p:nvSpPr>
          <p:cNvPr id="16" name="Shape 14"/>
          <p:cNvSpPr/>
          <p:nvPr/>
        </p:nvSpPr>
        <p:spPr>
          <a:xfrm rot="5106054">
            <a:off x="9859411" y="5168646"/>
            <a:ext cx="1060005" cy="32004"/>
          </a:xfrm>
          <a:prstGeom prst="rect">
            <a:avLst/>
          </a:prstGeom>
          <a:solidFill>
            <a:srgbClr val="00A88F"/>
          </a:solidFill>
          <a:ln w="12700">
            <a:solidFill>
              <a:srgbClr val="00A88F"/>
            </a:solidFill>
            <a:prstDash val="solid"/>
          </a:ln>
        </p:spPr>
      </p:sp>
      <p:sp>
        <p:nvSpPr>
          <p:cNvPr id="17" name="Shape 15"/>
          <p:cNvSpPr/>
          <p:nvPr/>
        </p:nvSpPr>
        <p:spPr>
          <a:xfrm>
            <a:off x="9811512" y="1081278"/>
            <a:ext cx="310896" cy="310896"/>
          </a:xfrm>
          <a:prstGeom prst="ellipse">
            <a:avLst/>
          </a:prstGeom>
          <a:solidFill>
            <a:srgbClr val="00A88F"/>
          </a:solidFill>
          <a:ln w="19050">
            <a:solidFill>
              <a:srgbClr val="8FE3D6"/>
            </a:solidFill>
            <a:prstDash val="solid"/>
          </a:ln>
        </p:spPr>
      </p:sp>
      <p:sp>
        <p:nvSpPr>
          <p:cNvPr id="18" name="Shape 16"/>
          <p:cNvSpPr/>
          <p:nvPr/>
        </p:nvSpPr>
        <p:spPr>
          <a:xfrm>
            <a:off x="9905238" y="1778508"/>
            <a:ext cx="123444" cy="123444"/>
          </a:xfrm>
          <a:prstGeom prst="ellipse">
            <a:avLst/>
          </a:prstGeom>
          <a:solidFill>
            <a:srgbClr val="8FE3D6"/>
          </a:solidFill>
          <a:ln w="9525">
            <a:solidFill>
              <a:srgbClr val="8FE3D6"/>
            </a:solidFill>
            <a:prstDash val="solid"/>
          </a:ln>
        </p:spPr>
      </p:sp>
      <p:sp>
        <p:nvSpPr>
          <p:cNvPr id="19" name="Shape 17"/>
          <p:cNvSpPr/>
          <p:nvPr/>
        </p:nvSpPr>
        <p:spPr>
          <a:xfrm>
            <a:off x="9467698" y="1879092"/>
            <a:ext cx="123444" cy="123444"/>
          </a:xfrm>
          <a:prstGeom prst="ellipse">
            <a:avLst/>
          </a:prstGeom>
          <a:solidFill>
            <a:srgbClr val="8FE3D6"/>
          </a:solidFill>
          <a:ln w="9525">
            <a:solidFill>
              <a:srgbClr val="8FE3D6"/>
            </a:solidFill>
            <a:prstDash val="solid"/>
          </a:ln>
        </p:spPr>
      </p:sp>
      <p:sp>
        <p:nvSpPr>
          <p:cNvPr id="20" name="Shape 18"/>
          <p:cNvSpPr/>
          <p:nvPr/>
        </p:nvSpPr>
        <p:spPr>
          <a:xfrm>
            <a:off x="10342778" y="1879092"/>
            <a:ext cx="123444" cy="123444"/>
          </a:xfrm>
          <a:prstGeom prst="ellipse">
            <a:avLst/>
          </a:prstGeom>
          <a:solidFill>
            <a:srgbClr val="8FE3D6"/>
          </a:solidFill>
          <a:ln w="9525">
            <a:solidFill>
              <a:srgbClr val="8FE3D6"/>
            </a:solidFill>
            <a:prstDash val="solid"/>
          </a:ln>
        </p:spPr>
      </p:sp>
      <p:sp>
        <p:nvSpPr>
          <p:cNvPr id="21" name="Shape 19"/>
          <p:cNvSpPr/>
          <p:nvPr/>
        </p:nvSpPr>
        <p:spPr>
          <a:xfrm>
            <a:off x="9135770" y="2583180"/>
            <a:ext cx="123444" cy="123444"/>
          </a:xfrm>
          <a:prstGeom prst="ellipse">
            <a:avLst/>
          </a:prstGeom>
          <a:solidFill>
            <a:srgbClr val="8FE3D6"/>
          </a:solidFill>
          <a:ln w="9525">
            <a:solidFill>
              <a:srgbClr val="8FE3D6"/>
            </a:solidFill>
            <a:prstDash val="solid"/>
          </a:ln>
        </p:spPr>
      </p:sp>
      <p:sp>
        <p:nvSpPr>
          <p:cNvPr id="22" name="Shape 20"/>
          <p:cNvSpPr/>
          <p:nvPr/>
        </p:nvSpPr>
        <p:spPr>
          <a:xfrm>
            <a:off x="10735056" y="2281428"/>
            <a:ext cx="123444" cy="123444"/>
          </a:xfrm>
          <a:prstGeom prst="ellipse">
            <a:avLst/>
          </a:prstGeom>
          <a:solidFill>
            <a:srgbClr val="8FE3D6"/>
          </a:solidFill>
          <a:ln w="9525">
            <a:solidFill>
              <a:srgbClr val="8FE3D6"/>
            </a:solidFill>
            <a:prstDash val="solid"/>
          </a:ln>
        </p:spPr>
      </p:sp>
      <p:sp>
        <p:nvSpPr>
          <p:cNvPr id="23" name="Shape 21"/>
          <p:cNvSpPr/>
          <p:nvPr/>
        </p:nvSpPr>
        <p:spPr>
          <a:xfrm>
            <a:off x="8954719" y="3287268"/>
            <a:ext cx="123444" cy="123444"/>
          </a:xfrm>
          <a:prstGeom prst="ellipse">
            <a:avLst/>
          </a:prstGeom>
          <a:solidFill>
            <a:srgbClr val="8FE3D6"/>
          </a:solidFill>
          <a:ln w="9525">
            <a:solidFill>
              <a:srgbClr val="8FE3D6"/>
            </a:solidFill>
            <a:prstDash val="solid"/>
          </a:ln>
        </p:spPr>
      </p:sp>
      <p:sp>
        <p:nvSpPr>
          <p:cNvPr id="24" name="Shape 22"/>
          <p:cNvSpPr/>
          <p:nvPr/>
        </p:nvSpPr>
        <p:spPr>
          <a:xfrm>
            <a:off x="10976458" y="1627632"/>
            <a:ext cx="123444" cy="123444"/>
          </a:xfrm>
          <a:prstGeom prst="ellipse">
            <a:avLst/>
          </a:prstGeom>
          <a:solidFill>
            <a:srgbClr val="8FE3D6"/>
          </a:solidFill>
          <a:ln w="9525">
            <a:solidFill>
              <a:srgbClr val="8FE3D6"/>
            </a:solidFill>
            <a:prstDash val="solid"/>
          </a:ln>
        </p:spPr>
      </p:sp>
      <p:sp>
        <p:nvSpPr>
          <p:cNvPr id="25" name="Shape 23"/>
          <p:cNvSpPr/>
          <p:nvPr/>
        </p:nvSpPr>
        <p:spPr>
          <a:xfrm>
            <a:off x="9618574" y="3438144"/>
            <a:ext cx="123444" cy="123444"/>
          </a:xfrm>
          <a:prstGeom prst="ellipse">
            <a:avLst/>
          </a:prstGeom>
          <a:solidFill>
            <a:srgbClr val="8FE3D6"/>
          </a:solidFill>
          <a:ln w="9525">
            <a:solidFill>
              <a:srgbClr val="8FE3D6"/>
            </a:solidFill>
            <a:prstDash val="solid"/>
          </a:ln>
        </p:spPr>
      </p:sp>
      <p:sp>
        <p:nvSpPr>
          <p:cNvPr id="26" name="Shape 24"/>
          <p:cNvSpPr/>
          <p:nvPr/>
        </p:nvSpPr>
        <p:spPr>
          <a:xfrm>
            <a:off x="10191902" y="3438144"/>
            <a:ext cx="123444" cy="123444"/>
          </a:xfrm>
          <a:prstGeom prst="ellipse">
            <a:avLst/>
          </a:prstGeom>
          <a:solidFill>
            <a:srgbClr val="8FE3D6"/>
          </a:solidFill>
          <a:ln w="9525">
            <a:solidFill>
              <a:srgbClr val="8FE3D6"/>
            </a:solidFill>
            <a:prstDash val="solid"/>
          </a:ln>
        </p:spPr>
      </p:sp>
      <p:sp>
        <p:nvSpPr>
          <p:cNvPr id="27" name="Shape 25"/>
          <p:cNvSpPr/>
          <p:nvPr/>
        </p:nvSpPr>
        <p:spPr>
          <a:xfrm>
            <a:off x="9528048" y="4594860"/>
            <a:ext cx="123444" cy="123444"/>
          </a:xfrm>
          <a:prstGeom prst="ellipse">
            <a:avLst/>
          </a:prstGeom>
          <a:solidFill>
            <a:srgbClr val="8FE3D6"/>
          </a:solidFill>
          <a:ln w="9525">
            <a:solidFill>
              <a:srgbClr val="8FE3D6"/>
            </a:solidFill>
            <a:prstDash val="solid"/>
          </a:ln>
        </p:spPr>
      </p:sp>
      <p:sp>
        <p:nvSpPr>
          <p:cNvPr id="28" name="Shape 26"/>
          <p:cNvSpPr/>
          <p:nvPr/>
        </p:nvSpPr>
        <p:spPr>
          <a:xfrm>
            <a:off x="10282428" y="4594860"/>
            <a:ext cx="123444" cy="123444"/>
          </a:xfrm>
          <a:prstGeom prst="ellipse">
            <a:avLst/>
          </a:prstGeom>
          <a:solidFill>
            <a:srgbClr val="8FE3D6"/>
          </a:solidFill>
          <a:ln w="9525">
            <a:solidFill>
              <a:srgbClr val="8FE3D6"/>
            </a:solidFill>
            <a:prstDash val="solid"/>
          </a:ln>
        </p:spPr>
      </p:sp>
      <p:sp>
        <p:nvSpPr>
          <p:cNvPr id="29" name="Shape 27"/>
          <p:cNvSpPr/>
          <p:nvPr/>
        </p:nvSpPr>
        <p:spPr>
          <a:xfrm>
            <a:off x="9437522" y="5650992"/>
            <a:ext cx="123444" cy="123444"/>
          </a:xfrm>
          <a:prstGeom prst="ellipse">
            <a:avLst/>
          </a:prstGeom>
          <a:solidFill>
            <a:srgbClr val="8FE3D6"/>
          </a:solidFill>
          <a:ln w="9525">
            <a:solidFill>
              <a:srgbClr val="8FE3D6"/>
            </a:solidFill>
            <a:prstDash val="solid"/>
          </a:ln>
        </p:spPr>
      </p:sp>
      <p:sp>
        <p:nvSpPr>
          <p:cNvPr id="30" name="Shape 28"/>
          <p:cNvSpPr/>
          <p:nvPr/>
        </p:nvSpPr>
        <p:spPr>
          <a:xfrm>
            <a:off x="10372954" y="5650992"/>
            <a:ext cx="123444" cy="123444"/>
          </a:xfrm>
          <a:prstGeom prst="ellipse">
            <a:avLst/>
          </a:prstGeom>
          <a:solidFill>
            <a:srgbClr val="8FE3D6"/>
          </a:solidFill>
          <a:ln w="9525">
            <a:solidFill>
              <a:srgbClr val="8FE3D6"/>
            </a:solidFill>
            <a:prstDash val="solid"/>
          </a:ln>
        </p:spPr>
      </p:sp>
      <p:sp>
        <p:nvSpPr>
          <p:cNvPr id="31" name="Text 29"/>
          <p:cNvSpPr txBox="1"/>
          <p:nvPr/>
        </p:nvSpPr>
        <p:spPr>
          <a:xfrm>
            <a:off x="640080" y="1463040"/>
            <a:ext cx="7498080" cy="274320"/>
          </a:xfrm>
          <a:prstGeom prst="rect">
            <a:avLst/>
          </a:prstGeom>
          <a:noFill/>
          <a:ln/>
        </p:spPr>
        <p:txBody>
          <a:bodyPr wrap="square" lIns="0" tIns="0" rIns="0" bIns="0" rtlCol="0" anchor="t"/>
          <a:lstStyle/>
          <a:p>
            <a:pPr indent="0" marL="0">
              <a:buNone/>
            </a:pPr>
            <a:r>
              <a:rPr lang="en-US" sz="1200" b="1" spc="200" kern="0" dirty="0">
                <a:solidFill>
                  <a:srgbClr val="00A88F"/>
                </a:solidFill>
                <a:latin typeface="Calibri" pitchFamily="34" charset="0"/>
                <a:ea typeface="Calibri" pitchFamily="34" charset="-122"/>
                <a:cs typeface="Calibri" pitchFamily="34" charset="-120"/>
              </a:rPr>
              <a:t>ĐỒ ÁN CHUYÊN NGÀNH  ·  BÁO CÁO BUỔI 1</a:t>
            </a:r>
            <a:endParaRPr lang="en-US" sz="1200" dirty="0"/>
          </a:p>
        </p:txBody>
      </p:sp>
      <p:sp>
        <p:nvSpPr>
          <p:cNvPr id="32" name="Text 30"/>
          <p:cNvSpPr txBox="1"/>
          <p:nvPr/>
        </p:nvSpPr>
        <p:spPr>
          <a:xfrm>
            <a:off x="640080" y="1874520"/>
            <a:ext cx="7589520" cy="2103120"/>
          </a:xfrm>
          <a:prstGeom prst="rect">
            <a:avLst/>
          </a:prstGeom>
          <a:noFill/>
          <a:ln/>
        </p:spPr>
        <p:txBody>
          <a:bodyPr wrap="square" lIns="0" tIns="0" rIns="0" bIns="0" rtlCol="0" anchor="t"/>
          <a:lstStyle/>
          <a:p>
            <a:pPr indent="0" marL="0">
              <a:lnSpc>
                <a:spcPts val="4600"/>
              </a:lnSpc>
              <a:buNone/>
            </a:pPr>
            <a:r>
              <a:rPr lang="en-US" sz="3800" b="1" dirty="0">
                <a:solidFill>
                  <a:srgbClr val="FFFFFF"/>
                </a:solidFill>
                <a:latin typeface="Arial" pitchFamily="34" charset="0"/>
                <a:ea typeface="Arial" pitchFamily="34" charset="-122"/>
                <a:cs typeface="Arial" pitchFamily="34" charset="-120"/>
              </a:rPr>
              <a:t>Nhận dạng hành động người</a:t>
            </a:r>
            <a:endParaRPr lang="en-US" sz="3800" dirty="0"/>
          </a:p>
          <a:p>
            <a:pPr indent="0" marL="0">
              <a:lnSpc>
                <a:spcPts val="4600"/>
              </a:lnSpc>
              <a:buNone/>
            </a:pPr>
            <a:r>
              <a:rPr lang="en-US" sz="3800" b="1" dirty="0">
                <a:solidFill>
                  <a:srgbClr val="FFFFFF"/>
                </a:solidFill>
                <a:latin typeface="Arial" pitchFamily="34" charset="0"/>
                <a:ea typeface="Arial" pitchFamily="34" charset="-122"/>
                <a:cs typeface="Arial" pitchFamily="34" charset="-120"/>
              </a:rPr>
              <a:t>thời gian thực dựa trên</a:t>
            </a:r>
            <a:endParaRPr lang="en-US" sz="3800" dirty="0"/>
          </a:p>
          <a:p>
            <a:pPr indent="0" marL="0">
              <a:lnSpc>
                <a:spcPts val="4600"/>
              </a:lnSpc>
              <a:buNone/>
            </a:pPr>
            <a:r>
              <a:rPr lang="en-US" sz="3800" b="1" dirty="0">
                <a:solidFill>
                  <a:srgbClr val="FFFFFF"/>
                </a:solidFill>
                <a:latin typeface="Arial" pitchFamily="34" charset="0"/>
                <a:ea typeface="Arial" pitchFamily="34" charset="-122"/>
                <a:cs typeface="Arial" pitchFamily="34" charset="-120"/>
              </a:rPr>
              <a:t>ước lượng tư thế</a:t>
            </a:r>
            <a:endParaRPr lang="en-US" sz="3800" dirty="0"/>
          </a:p>
        </p:txBody>
      </p:sp>
      <p:sp>
        <p:nvSpPr>
          <p:cNvPr id="33" name="Shape 31"/>
          <p:cNvSpPr/>
          <p:nvPr/>
        </p:nvSpPr>
        <p:spPr>
          <a:xfrm>
            <a:off x="640080" y="4087368"/>
            <a:ext cx="1371600" cy="41148"/>
          </a:xfrm>
          <a:prstGeom prst="roundRect">
            <a:avLst>
              <a:gd name="adj" fmla="val 133333"/>
            </a:avLst>
          </a:prstGeom>
          <a:solidFill>
            <a:srgbClr val="00A88F"/>
          </a:solidFill>
          <a:ln w="12700">
            <a:solidFill>
              <a:srgbClr val="00A88F"/>
            </a:solidFill>
            <a:prstDash val="solid"/>
          </a:ln>
        </p:spPr>
      </p:sp>
      <p:sp>
        <p:nvSpPr>
          <p:cNvPr id="34" name="Text 32"/>
          <p:cNvSpPr txBox="1"/>
          <p:nvPr/>
        </p:nvSpPr>
        <p:spPr>
          <a:xfrm>
            <a:off x="640080" y="4361688"/>
            <a:ext cx="7589520" cy="365760"/>
          </a:xfrm>
          <a:prstGeom prst="rect">
            <a:avLst/>
          </a:prstGeom>
          <a:noFill/>
          <a:ln/>
        </p:spPr>
        <p:txBody>
          <a:bodyPr wrap="square" lIns="0" tIns="0" rIns="0" bIns="0" rtlCol="0" anchor="t"/>
          <a:lstStyle/>
          <a:p>
            <a:pPr indent="0" marL="0">
              <a:buNone/>
            </a:pPr>
            <a:r>
              <a:rPr lang="en-US" sz="1700" i="1" dirty="0">
                <a:solidFill>
                  <a:srgbClr val="B8C6D9"/>
                </a:solidFill>
                <a:latin typeface="Calibri" pitchFamily="34" charset="0"/>
                <a:ea typeface="Calibri" pitchFamily="34" charset="-122"/>
                <a:cs typeface="Calibri" pitchFamily="34" charset="-120"/>
              </a:rPr>
              <a:t>Lý do lựa chọn đề tài và kế hoạch thực hiện đến 12/11/2026</a:t>
            </a:r>
            <a:endParaRPr lang="en-US" sz="1700" dirty="0"/>
          </a:p>
        </p:txBody>
      </p:sp>
      <p:sp>
        <p:nvSpPr>
          <p:cNvPr id="35" name="Text 33"/>
          <p:cNvSpPr txBox="1"/>
          <p:nvPr/>
        </p:nvSpPr>
        <p:spPr>
          <a:xfrm>
            <a:off x="640080" y="5212080"/>
            <a:ext cx="7589520" cy="731520"/>
          </a:xfrm>
          <a:prstGeom prst="rect">
            <a:avLst/>
          </a:prstGeom>
          <a:noFill/>
          <a:ln/>
        </p:spPr>
        <p:txBody>
          <a:bodyPr wrap="square" lIns="0" tIns="0" rIns="0" bIns="0" rtlCol="0" anchor="t"/>
          <a:lstStyle/>
          <a:p>
            <a:pPr indent="0" marL="0">
              <a:lnSpc>
                <a:spcPts val="2100"/>
              </a:lnSpc>
              <a:buNone/>
            </a:pPr>
            <a:r>
              <a:rPr lang="en-US" sz="1250" dirty="0">
                <a:solidFill>
                  <a:srgbClr val="92A2B8"/>
                </a:solidFill>
                <a:latin typeface="Calibri" pitchFamily="34" charset="0"/>
                <a:ea typeface="Calibri" pitchFamily="34" charset="-122"/>
                <a:cs typeface="Calibri" pitchFamily="34" charset="-120"/>
              </a:rPr>
              <a:t>Sinh viên thực hiện:  [Họ và tên]  ·  MSSV: [.........]</a:t>
            </a:r>
            <a:endParaRPr lang="en-US" sz="1250" dirty="0"/>
          </a:p>
          <a:p>
            <a:pPr indent="0" marL="0">
              <a:lnSpc>
                <a:spcPts val="2100"/>
              </a:lnSpc>
              <a:buNone/>
            </a:pPr>
            <a:r>
              <a:rPr lang="en-US" sz="1250" dirty="0">
                <a:solidFill>
                  <a:srgbClr val="92A2B8"/>
                </a:solidFill>
                <a:latin typeface="Calibri" pitchFamily="34" charset="0"/>
                <a:ea typeface="Calibri" pitchFamily="34" charset="-122"/>
                <a:cs typeface="Calibri" pitchFamily="34" charset="-120"/>
              </a:rPr>
              <a:t>Giảng viên hướng dẫn:  [Học hàm, học vị – Họ và tên]</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911535" cy="237744"/>
          </a:xfrm>
          <a:prstGeom prst="rect">
            <a:avLst/>
          </a:prstGeom>
          <a:noFill/>
          <a:ln/>
        </p:spPr>
        <p:txBody>
          <a:bodyPr wrap="square" lIns="0" tIns="0" rIns="0" bIns="0" rtlCol="0" anchor="t"/>
          <a:lstStyle/>
          <a:p>
            <a:pPr indent="0" marL="0">
              <a:buNone/>
            </a:pPr>
            <a:r>
              <a:rPr lang="en-US" sz="1100" b="1" spc="160" kern="0" dirty="0">
                <a:solidFill>
                  <a:srgbClr val="00A88F"/>
                </a:solidFill>
                <a:latin typeface="Calibri" pitchFamily="34" charset="0"/>
                <a:ea typeface="Calibri" pitchFamily="34" charset="-122"/>
                <a:cs typeface="Calibri" pitchFamily="34" charset="-120"/>
              </a:rPr>
              <a:t>LỰA CHỌN ĐỀ TÀI</a:t>
            </a:r>
            <a:endParaRPr lang="en-US" sz="1100" dirty="0"/>
          </a:p>
        </p:txBody>
      </p:sp>
      <p:sp>
        <p:nvSpPr>
          <p:cNvPr id="3" name="Text 1"/>
          <p:cNvSpPr txBox="1"/>
          <p:nvPr/>
        </p:nvSpPr>
        <p:spPr>
          <a:xfrm>
            <a:off x="640080" y="658368"/>
            <a:ext cx="10911535" cy="566928"/>
          </a:xfrm>
          <a:prstGeom prst="rect">
            <a:avLst/>
          </a:prstGeom>
          <a:noFill/>
          <a:ln/>
        </p:spPr>
        <p:txBody>
          <a:bodyPr wrap="square" lIns="0" tIns="0" rIns="0" bIns="0" rtlCol="0" anchor="t"/>
          <a:lstStyle/>
          <a:p>
            <a:pPr indent="0" marL="0">
              <a:buNone/>
            </a:pPr>
            <a:r>
              <a:rPr lang="en-US" sz="3200" b="1" dirty="0">
                <a:solidFill>
                  <a:srgbClr val="1E3A5F"/>
                </a:solidFill>
                <a:latin typeface="Arial" pitchFamily="34" charset="0"/>
                <a:ea typeface="Arial" pitchFamily="34" charset="-122"/>
                <a:cs typeface="Arial" pitchFamily="34" charset="-120"/>
              </a:rPr>
              <a:t>Vì sao chọn đề tài này</a:t>
            </a:r>
            <a:endParaRPr lang="en-US" sz="3200" dirty="0"/>
          </a:p>
        </p:txBody>
      </p:sp>
      <p:sp>
        <p:nvSpPr>
          <p:cNvPr id="4" name="Shape 2"/>
          <p:cNvSpPr/>
          <p:nvPr/>
        </p:nvSpPr>
        <p:spPr>
          <a:xfrm>
            <a:off x="640080" y="1463040"/>
            <a:ext cx="10911535" cy="868680"/>
          </a:xfrm>
          <a:prstGeom prst="roundRect">
            <a:avLst>
              <a:gd name="adj" fmla="val 6316"/>
            </a:avLst>
          </a:prstGeom>
          <a:solidFill>
            <a:srgbClr val="1E3A5F"/>
          </a:solidFill>
          <a:ln w="12700">
            <a:solidFill>
              <a:srgbClr val="1E3A5F"/>
            </a:solidFill>
            <a:prstDash val="solid"/>
          </a:ln>
        </p:spPr>
      </p:sp>
      <p:sp>
        <p:nvSpPr>
          <p:cNvPr id="5" name="Text 3"/>
          <p:cNvSpPr txBox="1"/>
          <p:nvPr/>
        </p:nvSpPr>
        <p:spPr>
          <a:xfrm>
            <a:off x="960120" y="1572768"/>
            <a:ext cx="10271455" cy="658368"/>
          </a:xfrm>
          <a:prstGeom prst="rect">
            <a:avLst/>
          </a:prstGeom>
          <a:noFill/>
          <a:ln/>
        </p:spPr>
        <p:txBody>
          <a:bodyPr wrap="square" lIns="0" tIns="0" rIns="0" bIns="0" rtlCol="0" anchor="ctr"/>
          <a:lstStyle/>
          <a:p>
            <a:pPr indent="0" marL="0">
              <a:lnSpc>
                <a:spcPts val="2000"/>
              </a:lnSpc>
              <a:buNone/>
            </a:pPr>
            <a:r>
              <a:rPr lang="en-US" sz="1450" dirty="0">
                <a:solidFill>
                  <a:srgbClr val="FFFFFF"/>
                </a:solidFill>
                <a:latin typeface="Calibri" pitchFamily="34" charset="0"/>
                <a:ea typeface="Calibri" pitchFamily="34" charset="-122"/>
                <a:cs typeface="Calibri" pitchFamily="34" charset="-120"/>
              </a:rPr>
              <a:t>Bài toán:  cho một luồng video từ webcam, xác định liên tục theo thời gian rằng người trong khung hình đang thực hiện hành động nào.</a:t>
            </a:r>
            <a:endParaRPr lang="en-US" sz="1450" dirty="0"/>
          </a:p>
        </p:txBody>
      </p:sp>
      <p:sp>
        <p:nvSpPr>
          <p:cNvPr id="6" name="Shape 4"/>
          <p:cNvSpPr/>
          <p:nvPr/>
        </p:nvSpPr>
        <p:spPr>
          <a:xfrm>
            <a:off x="640080" y="2697480"/>
            <a:ext cx="5212080" cy="1572768"/>
          </a:xfrm>
          <a:prstGeom prst="roundRect">
            <a:avLst>
              <a:gd name="adj" fmla="val 3488"/>
            </a:avLst>
          </a:prstGeom>
          <a:solidFill>
            <a:srgbClr val="F4F7FA"/>
          </a:solidFill>
          <a:ln w="9525">
            <a:solidFill>
              <a:srgbClr val="DDE4ED"/>
            </a:solidFill>
            <a:prstDash val="solid"/>
          </a:ln>
        </p:spPr>
      </p:sp>
      <p:sp>
        <p:nvSpPr>
          <p:cNvPr id="7" name="Shape 5"/>
          <p:cNvSpPr/>
          <p:nvPr/>
        </p:nvSpPr>
        <p:spPr>
          <a:xfrm>
            <a:off x="960120" y="3008376"/>
            <a:ext cx="347472" cy="347472"/>
          </a:xfrm>
          <a:prstGeom prst="ellipse">
            <a:avLst/>
          </a:prstGeom>
          <a:solidFill>
            <a:srgbClr val="00A88F"/>
          </a:solidFill>
          <a:ln w="12700">
            <a:solidFill>
              <a:srgbClr val="00A88F"/>
            </a:solidFill>
            <a:prstDash val="solid"/>
          </a:ln>
        </p:spPr>
      </p:sp>
      <p:sp>
        <p:nvSpPr>
          <p:cNvPr id="8" name="Text 6"/>
          <p:cNvSpPr txBox="1"/>
          <p:nvPr/>
        </p:nvSpPr>
        <p:spPr>
          <a:xfrm>
            <a:off x="960120" y="3008376"/>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7"/>
          <p:cNvSpPr txBox="1"/>
          <p:nvPr/>
        </p:nvSpPr>
        <p:spPr>
          <a:xfrm>
            <a:off x="1444752" y="2990088"/>
            <a:ext cx="4069080" cy="310896"/>
          </a:xfrm>
          <a:prstGeom prst="rect">
            <a:avLst/>
          </a:prstGeom>
          <a:noFill/>
          <a:ln/>
        </p:spPr>
        <p:txBody>
          <a:bodyPr wrap="square" lIns="0" tIns="0" rIns="0" bIns="0" rtlCol="0" anchor="t"/>
          <a:lstStyle/>
          <a:p>
            <a:pPr indent="0" marL="0">
              <a:buNone/>
            </a:pPr>
            <a:r>
              <a:rPr lang="en-US" sz="1500" b="1" dirty="0">
                <a:solidFill>
                  <a:srgbClr val="1E3A5F"/>
                </a:solidFill>
                <a:latin typeface="Calibri" pitchFamily="34" charset="0"/>
                <a:ea typeface="Calibri" pitchFamily="34" charset="-122"/>
                <a:cs typeface="Calibri" pitchFamily="34" charset="-120"/>
              </a:rPr>
              <a:t>Ứng dụng thực tế rõ ràng</a:t>
            </a:r>
            <a:endParaRPr lang="en-US" sz="1500" dirty="0"/>
          </a:p>
        </p:txBody>
      </p:sp>
      <p:sp>
        <p:nvSpPr>
          <p:cNvPr id="10" name="Text 8"/>
          <p:cNvSpPr txBox="1"/>
          <p:nvPr/>
        </p:nvSpPr>
        <p:spPr>
          <a:xfrm>
            <a:off x="1444752" y="3355848"/>
            <a:ext cx="4069080" cy="731520"/>
          </a:xfrm>
          <a:prstGeom prst="rect">
            <a:avLst/>
          </a:prstGeom>
          <a:noFill/>
          <a:ln/>
        </p:spPr>
        <p:txBody>
          <a:bodyPr wrap="square" lIns="0" tIns="0" rIns="0" bIns="0" rtlCol="0" anchor="t"/>
          <a:lstStyle/>
          <a:p>
            <a:pPr indent="0" marL="0">
              <a:lnSpc>
                <a:spcPts val="1600"/>
              </a:lnSpc>
              <a:buNone/>
            </a:pPr>
            <a:r>
              <a:rPr lang="en-US" sz="1200" dirty="0">
                <a:solidFill>
                  <a:srgbClr val="3C4A5C"/>
                </a:solidFill>
                <a:latin typeface="Calibri" pitchFamily="34" charset="0"/>
                <a:ea typeface="Calibri" pitchFamily="34" charset="-122"/>
                <a:cs typeface="Calibri" pitchFamily="34" charset="-120"/>
              </a:rPr>
              <a:t>Giám sát an toàn, phát hiện người cao tuổi bị ngã, tương tác người – máy, phân tích động tác thể thao.</a:t>
            </a:r>
            <a:endParaRPr lang="en-US" sz="1200" dirty="0"/>
          </a:p>
        </p:txBody>
      </p:sp>
      <p:sp>
        <p:nvSpPr>
          <p:cNvPr id="11" name="Shape 9"/>
          <p:cNvSpPr/>
          <p:nvPr/>
        </p:nvSpPr>
        <p:spPr>
          <a:xfrm>
            <a:off x="6336792" y="2697480"/>
            <a:ext cx="5212080" cy="1572768"/>
          </a:xfrm>
          <a:prstGeom prst="roundRect">
            <a:avLst>
              <a:gd name="adj" fmla="val 3488"/>
            </a:avLst>
          </a:prstGeom>
          <a:solidFill>
            <a:srgbClr val="F4F7FA"/>
          </a:solidFill>
          <a:ln w="9525">
            <a:solidFill>
              <a:srgbClr val="DDE4ED"/>
            </a:solidFill>
            <a:prstDash val="solid"/>
          </a:ln>
        </p:spPr>
      </p:sp>
      <p:sp>
        <p:nvSpPr>
          <p:cNvPr id="12" name="Shape 10"/>
          <p:cNvSpPr/>
          <p:nvPr/>
        </p:nvSpPr>
        <p:spPr>
          <a:xfrm>
            <a:off x="6656832" y="3008376"/>
            <a:ext cx="347472" cy="347472"/>
          </a:xfrm>
          <a:prstGeom prst="ellipse">
            <a:avLst/>
          </a:prstGeom>
          <a:solidFill>
            <a:srgbClr val="00A88F"/>
          </a:solidFill>
          <a:ln w="12700">
            <a:solidFill>
              <a:srgbClr val="00A88F"/>
            </a:solidFill>
            <a:prstDash val="solid"/>
          </a:ln>
        </p:spPr>
      </p:sp>
      <p:sp>
        <p:nvSpPr>
          <p:cNvPr id="13" name="Text 11"/>
          <p:cNvSpPr txBox="1"/>
          <p:nvPr/>
        </p:nvSpPr>
        <p:spPr>
          <a:xfrm>
            <a:off x="6656832" y="3008376"/>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4" name="Text 12"/>
          <p:cNvSpPr txBox="1"/>
          <p:nvPr/>
        </p:nvSpPr>
        <p:spPr>
          <a:xfrm>
            <a:off x="7141464" y="2990088"/>
            <a:ext cx="4069080" cy="310896"/>
          </a:xfrm>
          <a:prstGeom prst="rect">
            <a:avLst/>
          </a:prstGeom>
          <a:noFill/>
          <a:ln/>
        </p:spPr>
        <p:txBody>
          <a:bodyPr wrap="square" lIns="0" tIns="0" rIns="0" bIns="0" rtlCol="0" anchor="t"/>
          <a:lstStyle/>
          <a:p>
            <a:pPr indent="0" marL="0">
              <a:buNone/>
            </a:pPr>
            <a:r>
              <a:rPr lang="en-US" sz="1500" b="1" dirty="0">
                <a:solidFill>
                  <a:srgbClr val="1E3A5F"/>
                </a:solidFill>
                <a:latin typeface="Calibri" pitchFamily="34" charset="0"/>
                <a:ea typeface="Calibri" pitchFamily="34" charset="-122"/>
                <a:cs typeface="Calibri" pitchFamily="34" charset="-120"/>
              </a:rPr>
              <a:t>Đi trọn chuỗi kiến thức thị giác máy tính</a:t>
            </a:r>
            <a:endParaRPr lang="en-US" sz="1500" dirty="0"/>
          </a:p>
        </p:txBody>
      </p:sp>
      <p:sp>
        <p:nvSpPr>
          <p:cNvPr id="15" name="Text 13"/>
          <p:cNvSpPr txBox="1"/>
          <p:nvPr/>
        </p:nvSpPr>
        <p:spPr>
          <a:xfrm>
            <a:off x="7141464" y="3355848"/>
            <a:ext cx="4069080" cy="731520"/>
          </a:xfrm>
          <a:prstGeom prst="rect">
            <a:avLst/>
          </a:prstGeom>
          <a:noFill/>
          <a:ln/>
        </p:spPr>
        <p:txBody>
          <a:bodyPr wrap="square" lIns="0" tIns="0" rIns="0" bIns="0" rtlCol="0" anchor="t"/>
          <a:lstStyle/>
          <a:p>
            <a:pPr indent="0" marL="0">
              <a:lnSpc>
                <a:spcPts val="1600"/>
              </a:lnSpc>
              <a:buNone/>
            </a:pPr>
            <a:r>
              <a:rPr lang="en-US" sz="1200" dirty="0">
                <a:solidFill>
                  <a:srgbClr val="3C4A5C"/>
                </a:solidFill>
                <a:latin typeface="Calibri" pitchFamily="34" charset="0"/>
                <a:ea typeface="Calibri" pitchFamily="34" charset="-122"/>
                <a:cs typeface="Calibri" pitchFamily="34" charset="-120"/>
              </a:rPr>
              <a:t>Từ ảnh số, ước lượng tư thế, biểu diễn đặc trưng, đến mô hình chuỗi thời gian và đánh giá phân loại.</a:t>
            </a:r>
            <a:endParaRPr lang="en-US" sz="1200" dirty="0"/>
          </a:p>
        </p:txBody>
      </p:sp>
      <p:sp>
        <p:nvSpPr>
          <p:cNvPr id="16" name="Shape 14"/>
          <p:cNvSpPr/>
          <p:nvPr/>
        </p:nvSpPr>
        <p:spPr>
          <a:xfrm>
            <a:off x="640080" y="4590288"/>
            <a:ext cx="5212080" cy="1572768"/>
          </a:xfrm>
          <a:prstGeom prst="roundRect">
            <a:avLst>
              <a:gd name="adj" fmla="val 3488"/>
            </a:avLst>
          </a:prstGeom>
          <a:solidFill>
            <a:srgbClr val="F4F7FA"/>
          </a:solidFill>
          <a:ln w="9525">
            <a:solidFill>
              <a:srgbClr val="DDE4ED"/>
            </a:solidFill>
            <a:prstDash val="solid"/>
          </a:ln>
        </p:spPr>
      </p:sp>
      <p:sp>
        <p:nvSpPr>
          <p:cNvPr id="17" name="Shape 15"/>
          <p:cNvSpPr/>
          <p:nvPr/>
        </p:nvSpPr>
        <p:spPr>
          <a:xfrm>
            <a:off x="960120" y="4901184"/>
            <a:ext cx="347472" cy="347472"/>
          </a:xfrm>
          <a:prstGeom prst="ellipse">
            <a:avLst/>
          </a:prstGeom>
          <a:solidFill>
            <a:srgbClr val="00A88F"/>
          </a:solidFill>
          <a:ln w="12700">
            <a:solidFill>
              <a:srgbClr val="00A88F"/>
            </a:solidFill>
            <a:prstDash val="solid"/>
          </a:ln>
        </p:spPr>
      </p:sp>
      <p:sp>
        <p:nvSpPr>
          <p:cNvPr id="18" name="Text 16"/>
          <p:cNvSpPr txBox="1"/>
          <p:nvPr/>
        </p:nvSpPr>
        <p:spPr>
          <a:xfrm>
            <a:off x="960120" y="4901184"/>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9" name="Text 17"/>
          <p:cNvSpPr txBox="1"/>
          <p:nvPr/>
        </p:nvSpPr>
        <p:spPr>
          <a:xfrm>
            <a:off x="1444752" y="4882896"/>
            <a:ext cx="4069080" cy="310896"/>
          </a:xfrm>
          <a:prstGeom prst="rect">
            <a:avLst/>
          </a:prstGeom>
          <a:noFill/>
          <a:ln/>
        </p:spPr>
        <p:txBody>
          <a:bodyPr wrap="square" lIns="0" tIns="0" rIns="0" bIns="0" rtlCol="0" anchor="t"/>
          <a:lstStyle/>
          <a:p>
            <a:pPr indent="0" marL="0">
              <a:buNone/>
            </a:pPr>
            <a:r>
              <a:rPr lang="en-US" sz="1500" b="1" dirty="0">
                <a:solidFill>
                  <a:srgbClr val="1E3A5F"/>
                </a:solidFill>
                <a:latin typeface="Calibri" pitchFamily="34" charset="0"/>
                <a:ea typeface="Calibri" pitchFamily="34" charset="-122"/>
                <a:cs typeface="Calibri" pitchFamily="34" charset="-120"/>
              </a:rPr>
              <a:t>Mọi khâu kiểm chứng được bằng mắt</a:t>
            </a:r>
            <a:endParaRPr lang="en-US" sz="1500" dirty="0"/>
          </a:p>
        </p:txBody>
      </p:sp>
      <p:sp>
        <p:nvSpPr>
          <p:cNvPr id="20" name="Text 18"/>
          <p:cNvSpPr txBox="1"/>
          <p:nvPr/>
        </p:nvSpPr>
        <p:spPr>
          <a:xfrm>
            <a:off x="1444752" y="5248656"/>
            <a:ext cx="4069080" cy="731520"/>
          </a:xfrm>
          <a:prstGeom prst="rect">
            <a:avLst/>
          </a:prstGeom>
          <a:noFill/>
          <a:ln/>
        </p:spPr>
        <p:txBody>
          <a:bodyPr wrap="square" lIns="0" tIns="0" rIns="0" bIns="0" rtlCol="0" anchor="t"/>
          <a:lstStyle/>
          <a:p>
            <a:pPr indent="0" marL="0">
              <a:lnSpc>
                <a:spcPts val="1600"/>
              </a:lnSpc>
              <a:buNone/>
            </a:pPr>
            <a:r>
              <a:rPr lang="en-US" sz="1200" dirty="0">
                <a:solidFill>
                  <a:srgbClr val="3C4A5C"/>
                </a:solidFill>
                <a:latin typeface="Calibri" pitchFamily="34" charset="0"/>
                <a:ea typeface="Calibri" pitchFamily="34" charset="-122"/>
                <a:cs typeface="Calibri" pitchFamily="34" charset="-120"/>
              </a:rPr>
              <a:t>Vẽ khung xương đè lên video là thấy ngay lỗi nằm ở khâu ước lượng tư thế hay ở mô hình phân loại.</a:t>
            </a:r>
            <a:endParaRPr lang="en-US" sz="1200" dirty="0"/>
          </a:p>
        </p:txBody>
      </p:sp>
      <p:sp>
        <p:nvSpPr>
          <p:cNvPr id="21" name="Shape 19"/>
          <p:cNvSpPr/>
          <p:nvPr/>
        </p:nvSpPr>
        <p:spPr>
          <a:xfrm>
            <a:off x="6336792" y="4590288"/>
            <a:ext cx="5212080" cy="1572768"/>
          </a:xfrm>
          <a:prstGeom prst="roundRect">
            <a:avLst>
              <a:gd name="adj" fmla="val 3488"/>
            </a:avLst>
          </a:prstGeom>
          <a:solidFill>
            <a:srgbClr val="F4F7FA"/>
          </a:solidFill>
          <a:ln w="9525">
            <a:solidFill>
              <a:srgbClr val="DDE4ED"/>
            </a:solidFill>
            <a:prstDash val="solid"/>
          </a:ln>
        </p:spPr>
      </p:sp>
      <p:sp>
        <p:nvSpPr>
          <p:cNvPr id="22" name="Shape 20"/>
          <p:cNvSpPr/>
          <p:nvPr/>
        </p:nvSpPr>
        <p:spPr>
          <a:xfrm>
            <a:off x="6656832" y="4901184"/>
            <a:ext cx="347472" cy="347472"/>
          </a:xfrm>
          <a:prstGeom prst="ellipse">
            <a:avLst/>
          </a:prstGeom>
          <a:solidFill>
            <a:srgbClr val="00A88F"/>
          </a:solidFill>
          <a:ln w="12700">
            <a:solidFill>
              <a:srgbClr val="00A88F"/>
            </a:solidFill>
            <a:prstDash val="solid"/>
          </a:ln>
        </p:spPr>
      </p:sp>
      <p:sp>
        <p:nvSpPr>
          <p:cNvPr id="23" name="Text 21"/>
          <p:cNvSpPr txBox="1"/>
          <p:nvPr/>
        </p:nvSpPr>
        <p:spPr>
          <a:xfrm>
            <a:off x="6656832" y="4901184"/>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4" name="Text 22"/>
          <p:cNvSpPr txBox="1"/>
          <p:nvPr/>
        </p:nvSpPr>
        <p:spPr>
          <a:xfrm>
            <a:off x="7141464" y="4882896"/>
            <a:ext cx="4069080" cy="310896"/>
          </a:xfrm>
          <a:prstGeom prst="rect">
            <a:avLst/>
          </a:prstGeom>
          <a:noFill/>
          <a:ln/>
        </p:spPr>
        <p:txBody>
          <a:bodyPr wrap="square" lIns="0" tIns="0" rIns="0" bIns="0" rtlCol="0" anchor="t"/>
          <a:lstStyle/>
          <a:p>
            <a:pPr indent="0" marL="0">
              <a:buNone/>
            </a:pPr>
            <a:r>
              <a:rPr lang="en-US" sz="1500" b="1" dirty="0">
                <a:solidFill>
                  <a:srgbClr val="1E3A5F"/>
                </a:solidFill>
                <a:latin typeface="Calibri" pitchFamily="34" charset="0"/>
                <a:ea typeface="Calibri" pitchFamily="34" charset="-122"/>
                <a:cs typeface="Calibri" pitchFamily="34" charset="-120"/>
              </a:rPr>
              <a:t>Khả thi trong 9 tuần với điều kiện hiện có</a:t>
            </a:r>
            <a:endParaRPr lang="en-US" sz="1500" dirty="0"/>
          </a:p>
        </p:txBody>
      </p:sp>
      <p:sp>
        <p:nvSpPr>
          <p:cNvPr id="25" name="Text 23"/>
          <p:cNvSpPr txBox="1"/>
          <p:nvPr/>
        </p:nvSpPr>
        <p:spPr>
          <a:xfrm>
            <a:off x="7141464" y="5248656"/>
            <a:ext cx="4069080" cy="731520"/>
          </a:xfrm>
          <a:prstGeom prst="rect">
            <a:avLst/>
          </a:prstGeom>
          <a:noFill/>
          <a:ln/>
        </p:spPr>
        <p:txBody>
          <a:bodyPr wrap="square" lIns="0" tIns="0" rIns="0" bIns="0" rtlCol="0" anchor="t"/>
          <a:lstStyle/>
          <a:p>
            <a:pPr indent="0" marL="0">
              <a:lnSpc>
                <a:spcPts val="1600"/>
              </a:lnSpc>
              <a:buNone/>
            </a:pPr>
            <a:r>
              <a:rPr lang="en-US" sz="1200" dirty="0">
                <a:solidFill>
                  <a:srgbClr val="3C4A5C"/>
                </a:solidFill>
                <a:latin typeface="Calibri" pitchFamily="34" charset="0"/>
                <a:ea typeface="Calibri" pitchFamily="34" charset="-122"/>
                <a:cs typeface="Calibri" pitchFamily="34" charset="-120"/>
              </a:rPr>
              <a:t>Chạy trên laptop Windows dùng CPU, không cần GPU, không cần tải dataset hàng trăm GB hay xin cấp phép.</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911535" cy="237744"/>
          </a:xfrm>
          <a:prstGeom prst="rect">
            <a:avLst/>
          </a:prstGeom>
          <a:noFill/>
          <a:ln/>
        </p:spPr>
        <p:txBody>
          <a:bodyPr wrap="square" lIns="0" tIns="0" rIns="0" bIns="0" rtlCol="0" anchor="t"/>
          <a:lstStyle/>
          <a:p>
            <a:pPr indent="0" marL="0">
              <a:buNone/>
            </a:pPr>
            <a:r>
              <a:rPr lang="en-US" sz="1100" b="1" spc="160" kern="0" dirty="0">
                <a:solidFill>
                  <a:srgbClr val="00A88F"/>
                </a:solidFill>
                <a:latin typeface="Calibri" pitchFamily="34" charset="0"/>
                <a:ea typeface="Calibri" pitchFamily="34" charset="-122"/>
                <a:cs typeface="Calibri" pitchFamily="34" charset="-120"/>
              </a:rPr>
              <a:t>LỰA CHỌN ĐỀ TÀI</a:t>
            </a:r>
            <a:endParaRPr lang="en-US" sz="1100" dirty="0"/>
          </a:p>
        </p:txBody>
      </p:sp>
      <p:sp>
        <p:nvSpPr>
          <p:cNvPr id="3" name="Text 1"/>
          <p:cNvSpPr txBox="1"/>
          <p:nvPr/>
        </p:nvSpPr>
        <p:spPr>
          <a:xfrm>
            <a:off x="640080" y="658368"/>
            <a:ext cx="10911535" cy="566928"/>
          </a:xfrm>
          <a:prstGeom prst="rect">
            <a:avLst/>
          </a:prstGeom>
          <a:noFill/>
          <a:ln/>
        </p:spPr>
        <p:txBody>
          <a:bodyPr wrap="square" lIns="0" tIns="0" rIns="0" bIns="0" rtlCol="0" anchor="t"/>
          <a:lstStyle/>
          <a:p>
            <a:pPr indent="0" marL="0">
              <a:buNone/>
            </a:pPr>
            <a:r>
              <a:rPr lang="en-US" sz="3200" b="1" dirty="0">
                <a:solidFill>
                  <a:srgbClr val="1E3A5F"/>
                </a:solidFill>
                <a:latin typeface="Arial" pitchFamily="34" charset="0"/>
                <a:ea typeface="Arial" pitchFamily="34" charset="-122"/>
                <a:cs typeface="Arial" pitchFamily="34" charset="-120"/>
              </a:rPr>
              <a:t>Phạm vi đề tài</a:t>
            </a:r>
            <a:endParaRPr lang="en-US" sz="3200" dirty="0"/>
          </a:p>
        </p:txBody>
      </p:sp>
      <p:sp>
        <p:nvSpPr>
          <p:cNvPr id="4" name="Shape 2"/>
          <p:cNvSpPr/>
          <p:nvPr/>
        </p:nvSpPr>
        <p:spPr>
          <a:xfrm>
            <a:off x="640080" y="1371600"/>
            <a:ext cx="2587752" cy="841248"/>
          </a:xfrm>
          <a:prstGeom prst="roundRect">
            <a:avLst>
              <a:gd name="adj" fmla="val 6522"/>
            </a:avLst>
          </a:prstGeom>
          <a:solidFill>
            <a:srgbClr val="E2F4F1"/>
          </a:solidFill>
          <a:ln w="9525">
            <a:solidFill>
              <a:srgbClr val="C8E8E2"/>
            </a:solidFill>
            <a:prstDash val="solid"/>
          </a:ln>
        </p:spPr>
      </p:sp>
      <p:sp>
        <p:nvSpPr>
          <p:cNvPr id="5" name="Text 3"/>
          <p:cNvSpPr txBox="1"/>
          <p:nvPr/>
        </p:nvSpPr>
        <p:spPr>
          <a:xfrm>
            <a:off x="896112" y="1444752"/>
            <a:ext cx="914400" cy="694944"/>
          </a:xfrm>
          <a:prstGeom prst="rect">
            <a:avLst/>
          </a:prstGeom>
          <a:noFill/>
          <a:ln/>
        </p:spPr>
        <p:txBody>
          <a:bodyPr wrap="square" lIns="0" tIns="0" rIns="0" bIns="0" rtlCol="0" anchor="ctr"/>
          <a:lstStyle/>
          <a:p>
            <a:pPr indent="0" marL="0">
              <a:buNone/>
            </a:pPr>
            <a:r>
              <a:rPr lang="en-US" sz="2200" b="1" dirty="0">
                <a:solidFill>
                  <a:srgbClr val="00806D"/>
                </a:solidFill>
                <a:latin typeface="Arial" pitchFamily="34" charset="0"/>
                <a:ea typeface="Arial" pitchFamily="34" charset="-122"/>
                <a:cs typeface="Arial" pitchFamily="34" charset="-120"/>
              </a:rPr>
              <a:t>6</a:t>
            </a:r>
            <a:endParaRPr lang="en-US" sz="2200" dirty="0"/>
          </a:p>
        </p:txBody>
      </p:sp>
      <p:sp>
        <p:nvSpPr>
          <p:cNvPr id="6" name="Text 4"/>
          <p:cNvSpPr txBox="1"/>
          <p:nvPr/>
        </p:nvSpPr>
        <p:spPr>
          <a:xfrm>
            <a:off x="1828800" y="1444752"/>
            <a:ext cx="1143000" cy="694944"/>
          </a:xfrm>
          <a:prstGeom prst="rect">
            <a:avLst/>
          </a:prstGeom>
          <a:noFill/>
          <a:ln/>
        </p:spPr>
        <p:txBody>
          <a:bodyPr wrap="square" lIns="0" tIns="0" rIns="0" bIns="0" rtlCol="0" anchor="ctr"/>
          <a:lstStyle/>
          <a:p>
            <a:pPr indent="0" marL="0">
              <a:lnSpc>
                <a:spcPts val="1400"/>
              </a:lnSpc>
              <a:buNone/>
            </a:pPr>
            <a:r>
              <a:rPr lang="en-US" sz="1100" dirty="0">
                <a:solidFill>
                  <a:srgbClr val="1E3A5F"/>
                </a:solidFill>
                <a:latin typeface="Calibri" pitchFamily="34" charset="0"/>
                <a:ea typeface="Calibri" pitchFamily="34" charset="-122"/>
                <a:cs typeface="Calibri" pitchFamily="34" charset="-120"/>
              </a:rPr>
              <a:t>hành động mục tiêu</a:t>
            </a:r>
            <a:endParaRPr lang="en-US" sz="1100" dirty="0"/>
          </a:p>
        </p:txBody>
      </p:sp>
      <p:sp>
        <p:nvSpPr>
          <p:cNvPr id="7" name="Shape 5"/>
          <p:cNvSpPr/>
          <p:nvPr/>
        </p:nvSpPr>
        <p:spPr>
          <a:xfrm>
            <a:off x="3502152" y="1371600"/>
            <a:ext cx="2587752" cy="841248"/>
          </a:xfrm>
          <a:prstGeom prst="roundRect">
            <a:avLst>
              <a:gd name="adj" fmla="val 6522"/>
            </a:avLst>
          </a:prstGeom>
          <a:solidFill>
            <a:srgbClr val="E2F4F1"/>
          </a:solidFill>
          <a:ln w="9525">
            <a:solidFill>
              <a:srgbClr val="C8E8E2"/>
            </a:solidFill>
            <a:prstDash val="solid"/>
          </a:ln>
        </p:spPr>
      </p:sp>
      <p:sp>
        <p:nvSpPr>
          <p:cNvPr id="8" name="Text 6"/>
          <p:cNvSpPr txBox="1"/>
          <p:nvPr/>
        </p:nvSpPr>
        <p:spPr>
          <a:xfrm>
            <a:off x="3758184" y="1444752"/>
            <a:ext cx="914400" cy="694944"/>
          </a:xfrm>
          <a:prstGeom prst="rect">
            <a:avLst/>
          </a:prstGeom>
          <a:noFill/>
          <a:ln/>
        </p:spPr>
        <p:txBody>
          <a:bodyPr wrap="square" lIns="0" tIns="0" rIns="0" bIns="0" rtlCol="0" anchor="ctr"/>
          <a:lstStyle/>
          <a:p>
            <a:pPr indent="0" marL="0">
              <a:buNone/>
            </a:pPr>
            <a:r>
              <a:rPr lang="en-US" sz="2200" b="1" dirty="0">
                <a:solidFill>
                  <a:srgbClr val="00806D"/>
                </a:solidFill>
                <a:latin typeface="Arial" pitchFamily="34" charset="0"/>
                <a:ea typeface="Arial" pitchFamily="34" charset="-122"/>
                <a:cs typeface="Arial" pitchFamily="34" charset="-120"/>
              </a:rPr>
              <a:t>1</a:t>
            </a:r>
            <a:endParaRPr lang="en-US" sz="2200" dirty="0"/>
          </a:p>
        </p:txBody>
      </p:sp>
      <p:sp>
        <p:nvSpPr>
          <p:cNvPr id="9" name="Text 7"/>
          <p:cNvSpPr txBox="1"/>
          <p:nvPr/>
        </p:nvSpPr>
        <p:spPr>
          <a:xfrm>
            <a:off x="4690872" y="1444752"/>
            <a:ext cx="1143000" cy="694944"/>
          </a:xfrm>
          <a:prstGeom prst="rect">
            <a:avLst/>
          </a:prstGeom>
          <a:noFill/>
          <a:ln/>
        </p:spPr>
        <p:txBody>
          <a:bodyPr wrap="square" lIns="0" tIns="0" rIns="0" bIns="0" rtlCol="0" anchor="ctr"/>
          <a:lstStyle/>
          <a:p>
            <a:pPr indent="0" marL="0">
              <a:lnSpc>
                <a:spcPts val="1400"/>
              </a:lnSpc>
              <a:buNone/>
            </a:pPr>
            <a:r>
              <a:rPr lang="en-US" sz="1100" dirty="0">
                <a:solidFill>
                  <a:srgbClr val="1E3A5F"/>
                </a:solidFill>
                <a:latin typeface="Calibri" pitchFamily="34" charset="0"/>
                <a:ea typeface="Calibri" pitchFamily="34" charset="-122"/>
                <a:cs typeface="Calibri" pitchFamily="34" charset="-120"/>
              </a:rPr>
              <a:t>người trong khung hình</a:t>
            </a:r>
            <a:endParaRPr lang="en-US" sz="1100" dirty="0"/>
          </a:p>
        </p:txBody>
      </p:sp>
      <p:sp>
        <p:nvSpPr>
          <p:cNvPr id="10" name="Shape 8"/>
          <p:cNvSpPr/>
          <p:nvPr/>
        </p:nvSpPr>
        <p:spPr>
          <a:xfrm>
            <a:off x="6364224" y="1371600"/>
            <a:ext cx="2587752" cy="841248"/>
          </a:xfrm>
          <a:prstGeom prst="roundRect">
            <a:avLst>
              <a:gd name="adj" fmla="val 6522"/>
            </a:avLst>
          </a:prstGeom>
          <a:solidFill>
            <a:srgbClr val="E2F4F1"/>
          </a:solidFill>
          <a:ln w="9525">
            <a:solidFill>
              <a:srgbClr val="C8E8E2"/>
            </a:solidFill>
            <a:prstDash val="solid"/>
          </a:ln>
        </p:spPr>
      </p:sp>
      <p:sp>
        <p:nvSpPr>
          <p:cNvPr id="11" name="Text 9"/>
          <p:cNvSpPr txBox="1"/>
          <p:nvPr/>
        </p:nvSpPr>
        <p:spPr>
          <a:xfrm>
            <a:off x="6620256" y="1444752"/>
            <a:ext cx="914400" cy="694944"/>
          </a:xfrm>
          <a:prstGeom prst="rect">
            <a:avLst/>
          </a:prstGeom>
          <a:noFill/>
          <a:ln/>
        </p:spPr>
        <p:txBody>
          <a:bodyPr wrap="square" lIns="0" tIns="0" rIns="0" bIns="0" rtlCol="0" anchor="ctr"/>
          <a:lstStyle/>
          <a:p>
            <a:pPr indent="0" marL="0">
              <a:buNone/>
            </a:pPr>
            <a:r>
              <a:rPr lang="en-US" sz="2200" b="1" dirty="0">
                <a:solidFill>
                  <a:srgbClr val="00806D"/>
                </a:solidFill>
                <a:latin typeface="Arial" pitchFamily="34" charset="0"/>
                <a:ea typeface="Arial" pitchFamily="34" charset="-122"/>
                <a:cs typeface="Arial" pitchFamily="34" charset="-120"/>
              </a:rPr>
              <a:t>≈30</a:t>
            </a:r>
            <a:endParaRPr lang="en-US" sz="2200" dirty="0"/>
          </a:p>
        </p:txBody>
      </p:sp>
      <p:sp>
        <p:nvSpPr>
          <p:cNvPr id="12" name="Text 10"/>
          <p:cNvSpPr txBox="1"/>
          <p:nvPr/>
        </p:nvSpPr>
        <p:spPr>
          <a:xfrm>
            <a:off x="7552944" y="1444752"/>
            <a:ext cx="1143000" cy="694944"/>
          </a:xfrm>
          <a:prstGeom prst="rect">
            <a:avLst/>
          </a:prstGeom>
          <a:noFill/>
          <a:ln/>
        </p:spPr>
        <p:txBody>
          <a:bodyPr wrap="square" lIns="0" tIns="0" rIns="0" bIns="0" rtlCol="0" anchor="ctr"/>
          <a:lstStyle/>
          <a:p>
            <a:pPr indent="0" marL="0">
              <a:lnSpc>
                <a:spcPts val="1400"/>
              </a:lnSpc>
              <a:buNone/>
            </a:pPr>
            <a:r>
              <a:rPr lang="en-US" sz="1100" dirty="0">
                <a:solidFill>
                  <a:srgbClr val="1E3A5F"/>
                </a:solidFill>
                <a:latin typeface="Calibri" pitchFamily="34" charset="0"/>
                <a:ea typeface="Calibri" pitchFamily="34" charset="-122"/>
                <a:cs typeface="Calibri" pitchFamily="34" charset="-120"/>
              </a:rPr>
              <a:t>khung hình / giây</a:t>
            </a:r>
            <a:endParaRPr lang="en-US" sz="1100" dirty="0"/>
          </a:p>
        </p:txBody>
      </p:sp>
      <p:sp>
        <p:nvSpPr>
          <p:cNvPr id="13" name="Shape 11"/>
          <p:cNvSpPr/>
          <p:nvPr/>
        </p:nvSpPr>
        <p:spPr>
          <a:xfrm>
            <a:off x="9226296" y="1371600"/>
            <a:ext cx="2587752" cy="841248"/>
          </a:xfrm>
          <a:prstGeom prst="roundRect">
            <a:avLst>
              <a:gd name="adj" fmla="val 6522"/>
            </a:avLst>
          </a:prstGeom>
          <a:solidFill>
            <a:srgbClr val="E2F4F1"/>
          </a:solidFill>
          <a:ln w="9525">
            <a:solidFill>
              <a:srgbClr val="C8E8E2"/>
            </a:solidFill>
            <a:prstDash val="solid"/>
          </a:ln>
        </p:spPr>
      </p:sp>
      <p:sp>
        <p:nvSpPr>
          <p:cNvPr id="14" name="Text 12"/>
          <p:cNvSpPr txBox="1"/>
          <p:nvPr/>
        </p:nvSpPr>
        <p:spPr>
          <a:xfrm>
            <a:off x="9482328" y="1444752"/>
            <a:ext cx="914400" cy="694944"/>
          </a:xfrm>
          <a:prstGeom prst="rect">
            <a:avLst/>
          </a:prstGeom>
          <a:noFill/>
          <a:ln/>
        </p:spPr>
        <p:txBody>
          <a:bodyPr wrap="square" lIns="0" tIns="0" rIns="0" bIns="0" rtlCol="0" anchor="ctr"/>
          <a:lstStyle/>
          <a:p>
            <a:pPr indent="0" marL="0">
              <a:buNone/>
            </a:pPr>
            <a:r>
              <a:rPr lang="en-US" sz="2200" b="1" dirty="0">
                <a:solidFill>
                  <a:srgbClr val="00806D"/>
                </a:solidFill>
                <a:latin typeface="Arial" pitchFamily="34" charset="0"/>
                <a:ea typeface="Arial" pitchFamily="34" charset="-122"/>
                <a:cs typeface="Arial" pitchFamily="34" charset="-120"/>
              </a:rPr>
              <a:t>CPU</a:t>
            </a:r>
            <a:endParaRPr lang="en-US" sz="2200" dirty="0"/>
          </a:p>
        </p:txBody>
      </p:sp>
      <p:sp>
        <p:nvSpPr>
          <p:cNvPr id="15" name="Text 13"/>
          <p:cNvSpPr txBox="1"/>
          <p:nvPr/>
        </p:nvSpPr>
        <p:spPr>
          <a:xfrm>
            <a:off x="10415016" y="1444752"/>
            <a:ext cx="1143000" cy="694944"/>
          </a:xfrm>
          <a:prstGeom prst="rect">
            <a:avLst/>
          </a:prstGeom>
          <a:noFill/>
          <a:ln/>
        </p:spPr>
        <p:txBody>
          <a:bodyPr wrap="square" lIns="0" tIns="0" rIns="0" bIns="0" rtlCol="0" anchor="ctr"/>
          <a:lstStyle/>
          <a:p>
            <a:pPr indent="0" marL="0">
              <a:lnSpc>
                <a:spcPts val="1400"/>
              </a:lnSpc>
              <a:buNone/>
            </a:pPr>
            <a:r>
              <a:rPr lang="en-US" sz="1100" dirty="0">
                <a:solidFill>
                  <a:srgbClr val="1E3A5F"/>
                </a:solidFill>
                <a:latin typeface="Calibri" pitchFamily="34" charset="0"/>
                <a:ea typeface="Calibri" pitchFamily="34" charset="-122"/>
                <a:cs typeface="Calibri" pitchFamily="34" charset="-120"/>
              </a:rPr>
              <a:t>Windows, không cần GPU</a:t>
            </a:r>
            <a:endParaRPr lang="en-US" sz="1100" dirty="0"/>
          </a:p>
        </p:txBody>
      </p:sp>
      <p:sp>
        <p:nvSpPr>
          <p:cNvPr id="16" name="Shape 14"/>
          <p:cNvSpPr/>
          <p:nvPr/>
        </p:nvSpPr>
        <p:spPr>
          <a:xfrm>
            <a:off x="640080" y="2432304"/>
            <a:ext cx="5212080" cy="2651760"/>
          </a:xfrm>
          <a:prstGeom prst="roundRect">
            <a:avLst>
              <a:gd name="adj" fmla="val 2069"/>
            </a:avLst>
          </a:prstGeom>
          <a:solidFill>
            <a:srgbClr val="F4F7FA"/>
          </a:solidFill>
          <a:ln w="9525">
            <a:solidFill>
              <a:srgbClr val="DDE4ED"/>
            </a:solidFill>
            <a:prstDash val="solid"/>
          </a:ln>
        </p:spPr>
      </p:sp>
      <p:sp>
        <p:nvSpPr>
          <p:cNvPr id="17" name="Text 15"/>
          <p:cNvSpPr txBox="1"/>
          <p:nvPr/>
        </p:nvSpPr>
        <p:spPr>
          <a:xfrm>
            <a:off x="960120" y="2670048"/>
            <a:ext cx="4572000" cy="310896"/>
          </a:xfrm>
          <a:prstGeom prst="rect">
            <a:avLst/>
          </a:prstGeom>
          <a:noFill/>
          <a:ln/>
        </p:spPr>
        <p:txBody>
          <a:bodyPr wrap="square" lIns="0" tIns="0" rIns="0" bIns="0" rtlCol="0" anchor="t"/>
          <a:lstStyle/>
          <a:p>
            <a:pPr indent="0" marL="0">
              <a:buNone/>
            </a:pPr>
            <a:r>
              <a:rPr lang="en-US" sz="1700" b="1" dirty="0">
                <a:solidFill>
                  <a:srgbClr val="1E3A5F"/>
                </a:solidFill>
                <a:latin typeface="Arial" pitchFamily="34" charset="0"/>
                <a:ea typeface="Arial" pitchFamily="34" charset="-122"/>
                <a:cs typeface="Arial" pitchFamily="34" charset="-120"/>
              </a:rPr>
              <a:t>Sáu hành động mục tiêu</a:t>
            </a:r>
            <a:endParaRPr lang="en-US" sz="1700" dirty="0"/>
          </a:p>
        </p:txBody>
      </p:sp>
      <p:sp>
        <p:nvSpPr>
          <p:cNvPr id="18" name="Text 16"/>
          <p:cNvSpPr txBox="1"/>
          <p:nvPr/>
        </p:nvSpPr>
        <p:spPr>
          <a:xfrm>
            <a:off x="960120" y="3108960"/>
            <a:ext cx="2240280" cy="219456"/>
          </a:xfrm>
          <a:prstGeom prst="rect">
            <a:avLst/>
          </a:prstGeom>
          <a:noFill/>
          <a:ln/>
        </p:spPr>
        <p:txBody>
          <a:bodyPr wrap="square" lIns="0" tIns="0" rIns="0" bIns="0" rtlCol="0" anchor="t"/>
          <a:lstStyle/>
          <a:p>
            <a:pPr indent="0" marL="0">
              <a:buNone/>
            </a:pPr>
            <a:r>
              <a:rPr lang="en-US" sz="950" b="1" spc="120" kern="0" dirty="0">
                <a:solidFill>
                  <a:srgbClr val="7A8698"/>
                </a:solidFill>
                <a:latin typeface="Calibri" pitchFamily="34" charset="0"/>
                <a:ea typeface="Calibri" pitchFamily="34" charset="-122"/>
                <a:cs typeface="Calibri" pitchFamily="34" charset="-120"/>
              </a:rPr>
              <a:t>TRẠNG THÁI KÉO DÀI</a:t>
            </a:r>
            <a:endParaRPr lang="en-US" sz="950" dirty="0"/>
          </a:p>
        </p:txBody>
      </p:sp>
      <p:sp>
        <p:nvSpPr>
          <p:cNvPr id="19" name="Shape 17"/>
          <p:cNvSpPr/>
          <p:nvPr/>
        </p:nvSpPr>
        <p:spPr>
          <a:xfrm>
            <a:off x="960120" y="3401568"/>
            <a:ext cx="2240280" cy="365760"/>
          </a:xfrm>
          <a:prstGeom prst="roundRect">
            <a:avLst>
              <a:gd name="adj" fmla="val 15000"/>
            </a:avLst>
          </a:prstGeom>
          <a:solidFill>
            <a:srgbClr val="FFFFFF"/>
          </a:solidFill>
          <a:ln w="9525">
            <a:solidFill>
              <a:srgbClr val="DDE4ED"/>
            </a:solidFill>
            <a:prstDash val="solid"/>
          </a:ln>
        </p:spPr>
      </p:sp>
      <p:sp>
        <p:nvSpPr>
          <p:cNvPr id="20" name="Shape 18"/>
          <p:cNvSpPr/>
          <p:nvPr/>
        </p:nvSpPr>
        <p:spPr>
          <a:xfrm>
            <a:off x="1106424" y="3534156"/>
            <a:ext cx="100584" cy="100584"/>
          </a:xfrm>
          <a:prstGeom prst="ellipse">
            <a:avLst/>
          </a:prstGeom>
          <a:solidFill>
            <a:srgbClr val="7A8698"/>
          </a:solidFill>
          <a:ln w="12700">
            <a:solidFill>
              <a:srgbClr val="7A8698"/>
            </a:solidFill>
            <a:prstDash val="solid"/>
          </a:ln>
        </p:spPr>
      </p:sp>
      <p:sp>
        <p:nvSpPr>
          <p:cNvPr id="21" name="Text 19"/>
          <p:cNvSpPr txBox="1"/>
          <p:nvPr/>
        </p:nvSpPr>
        <p:spPr>
          <a:xfrm>
            <a:off x="1325880" y="3447288"/>
            <a:ext cx="1783080" cy="274320"/>
          </a:xfrm>
          <a:prstGeom prst="rect">
            <a:avLst/>
          </a:prstGeom>
          <a:noFill/>
          <a:ln/>
        </p:spPr>
        <p:txBody>
          <a:bodyPr wrap="square" lIns="0" tIns="0" rIns="0" bIns="0" rtlCol="0" anchor="ctr"/>
          <a:lstStyle/>
          <a:p>
            <a:pPr indent="0" marL="0">
              <a:buNone/>
            </a:pPr>
            <a:r>
              <a:rPr lang="en-US" sz="1150" dirty="0">
                <a:solidFill>
                  <a:srgbClr val="1E3A5F"/>
                </a:solidFill>
                <a:latin typeface="Calibri" pitchFamily="34" charset="0"/>
                <a:ea typeface="Calibri" pitchFamily="34" charset="-122"/>
                <a:cs typeface="Calibri" pitchFamily="34" charset="-120"/>
              </a:rPr>
              <a:t>Đứng yên</a:t>
            </a:r>
            <a:endParaRPr lang="en-US" sz="1150" dirty="0"/>
          </a:p>
        </p:txBody>
      </p:sp>
      <p:sp>
        <p:nvSpPr>
          <p:cNvPr id="22" name="Shape 20"/>
          <p:cNvSpPr/>
          <p:nvPr/>
        </p:nvSpPr>
        <p:spPr>
          <a:xfrm>
            <a:off x="960120" y="3858768"/>
            <a:ext cx="2240280" cy="365760"/>
          </a:xfrm>
          <a:prstGeom prst="roundRect">
            <a:avLst>
              <a:gd name="adj" fmla="val 15000"/>
            </a:avLst>
          </a:prstGeom>
          <a:solidFill>
            <a:srgbClr val="FFFFFF"/>
          </a:solidFill>
          <a:ln w="9525">
            <a:solidFill>
              <a:srgbClr val="DDE4ED"/>
            </a:solidFill>
            <a:prstDash val="solid"/>
          </a:ln>
        </p:spPr>
      </p:sp>
      <p:sp>
        <p:nvSpPr>
          <p:cNvPr id="23" name="Shape 21"/>
          <p:cNvSpPr/>
          <p:nvPr/>
        </p:nvSpPr>
        <p:spPr>
          <a:xfrm>
            <a:off x="1106424" y="3991356"/>
            <a:ext cx="100584" cy="100584"/>
          </a:xfrm>
          <a:prstGeom prst="ellipse">
            <a:avLst/>
          </a:prstGeom>
          <a:solidFill>
            <a:srgbClr val="7A8698"/>
          </a:solidFill>
          <a:ln w="12700">
            <a:solidFill>
              <a:srgbClr val="7A8698"/>
            </a:solidFill>
            <a:prstDash val="solid"/>
          </a:ln>
        </p:spPr>
      </p:sp>
      <p:sp>
        <p:nvSpPr>
          <p:cNvPr id="24" name="Text 22"/>
          <p:cNvSpPr txBox="1"/>
          <p:nvPr/>
        </p:nvSpPr>
        <p:spPr>
          <a:xfrm>
            <a:off x="1325880" y="3904488"/>
            <a:ext cx="1783080" cy="274320"/>
          </a:xfrm>
          <a:prstGeom prst="rect">
            <a:avLst/>
          </a:prstGeom>
          <a:noFill/>
          <a:ln/>
        </p:spPr>
        <p:txBody>
          <a:bodyPr wrap="square" lIns="0" tIns="0" rIns="0" bIns="0" rtlCol="0" anchor="ctr"/>
          <a:lstStyle/>
          <a:p>
            <a:pPr indent="0" marL="0">
              <a:buNone/>
            </a:pPr>
            <a:r>
              <a:rPr lang="en-US" sz="1150" dirty="0">
                <a:solidFill>
                  <a:srgbClr val="1E3A5F"/>
                </a:solidFill>
                <a:latin typeface="Calibri" pitchFamily="34" charset="0"/>
                <a:ea typeface="Calibri" pitchFamily="34" charset="-122"/>
                <a:cs typeface="Calibri" pitchFamily="34" charset="-120"/>
              </a:rPr>
              <a:t>Đi bộ tại chỗ</a:t>
            </a:r>
            <a:endParaRPr lang="en-US" sz="1150" dirty="0"/>
          </a:p>
        </p:txBody>
      </p:sp>
      <p:sp>
        <p:nvSpPr>
          <p:cNvPr id="25" name="Shape 23"/>
          <p:cNvSpPr/>
          <p:nvPr/>
        </p:nvSpPr>
        <p:spPr>
          <a:xfrm>
            <a:off x="960120" y="4315968"/>
            <a:ext cx="2240280" cy="365760"/>
          </a:xfrm>
          <a:prstGeom prst="roundRect">
            <a:avLst>
              <a:gd name="adj" fmla="val 15000"/>
            </a:avLst>
          </a:prstGeom>
          <a:solidFill>
            <a:srgbClr val="FFFFFF"/>
          </a:solidFill>
          <a:ln w="9525">
            <a:solidFill>
              <a:srgbClr val="DDE4ED"/>
            </a:solidFill>
            <a:prstDash val="solid"/>
          </a:ln>
        </p:spPr>
      </p:sp>
      <p:sp>
        <p:nvSpPr>
          <p:cNvPr id="26" name="Shape 24"/>
          <p:cNvSpPr/>
          <p:nvPr/>
        </p:nvSpPr>
        <p:spPr>
          <a:xfrm>
            <a:off x="1106424" y="4448556"/>
            <a:ext cx="100584" cy="100584"/>
          </a:xfrm>
          <a:prstGeom prst="ellipse">
            <a:avLst/>
          </a:prstGeom>
          <a:solidFill>
            <a:srgbClr val="7A8698"/>
          </a:solidFill>
          <a:ln w="12700">
            <a:solidFill>
              <a:srgbClr val="7A8698"/>
            </a:solidFill>
            <a:prstDash val="solid"/>
          </a:ln>
        </p:spPr>
      </p:sp>
      <p:sp>
        <p:nvSpPr>
          <p:cNvPr id="27" name="Text 25"/>
          <p:cNvSpPr txBox="1"/>
          <p:nvPr/>
        </p:nvSpPr>
        <p:spPr>
          <a:xfrm>
            <a:off x="1325880" y="4361688"/>
            <a:ext cx="1783080" cy="274320"/>
          </a:xfrm>
          <a:prstGeom prst="rect">
            <a:avLst/>
          </a:prstGeom>
          <a:noFill/>
          <a:ln/>
        </p:spPr>
        <p:txBody>
          <a:bodyPr wrap="square" lIns="0" tIns="0" rIns="0" bIns="0" rtlCol="0" anchor="ctr"/>
          <a:lstStyle/>
          <a:p>
            <a:pPr indent="0" marL="0">
              <a:buNone/>
            </a:pPr>
            <a:r>
              <a:rPr lang="en-US" sz="1150" dirty="0">
                <a:solidFill>
                  <a:srgbClr val="1E3A5F"/>
                </a:solidFill>
                <a:latin typeface="Calibri" pitchFamily="34" charset="0"/>
                <a:ea typeface="Calibri" pitchFamily="34" charset="-122"/>
                <a:cs typeface="Calibri" pitchFamily="34" charset="-120"/>
              </a:rPr>
              <a:t>Vẫy tay</a:t>
            </a:r>
            <a:endParaRPr lang="en-US" sz="1150" dirty="0"/>
          </a:p>
        </p:txBody>
      </p:sp>
      <p:sp>
        <p:nvSpPr>
          <p:cNvPr id="28" name="Text 26"/>
          <p:cNvSpPr txBox="1"/>
          <p:nvPr/>
        </p:nvSpPr>
        <p:spPr>
          <a:xfrm>
            <a:off x="3337560" y="3108960"/>
            <a:ext cx="2240280" cy="219456"/>
          </a:xfrm>
          <a:prstGeom prst="rect">
            <a:avLst/>
          </a:prstGeom>
          <a:noFill/>
          <a:ln/>
        </p:spPr>
        <p:txBody>
          <a:bodyPr wrap="square" lIns="0" tIns="0" rIns="0" bIns="0" rtlCol="0" anchor="t"/>
          <a:lstStyle/>
          <a:p>
            <a:pPr indent="0" marL="0">
              <a:buNone/>
            </a:pPr>
            <a:r>
              <a:rPr lang="en-US" sz="950" b="1" spc="120" kern="0" dirty="0">
                <a:solidFill>
                  <a:srgbClr val="00806D"/>
                </a:solidFill>
                <a:latin typeface="Calibri" pitchFamily="34" charset="0"/>
                <a:ea typeface="Calibri" pitchFamily="34" charset="-122"/>
                <a:cs typeface="Calibri" pitchFamily="34" charset="-120"/>
              </a:rPr>
              <a:t>CHUYỂN TIẾP THEO THỜI GIAN</a:t>
            </a:r>
            <a:endParaRPr lang="en-US" sz="950" dirty="0"/>
          </a:p>
        </p:txBody>
      </p:sp>
      <p:sp>
        <p:nvSpPr>
          <p:cNvPr id="29" name="Shape 27"/>
          <p:cNvSpPr/>
          <p:nvPr/>
        </p:nvSpPr>
        <p:spPr>
          <a:xfrm>
            <a:off x="3337560" y="3401568"/>
            <a:ext cx="2240280" cy="365760"/>
          </a:xfrm>
          <a:prstGeom prst="roundRect">
            <a:avLst>
              <a:gd name="adj" fmla="val 15000"/>
            </a:avLst>
          </a:prstGeom>
          <a:solidFill>
            <a:srgbClr val="FFFFFF"/>
          </a:solidFill>
          <a:ln w="9525">
            <a:solidFill>
              <a:srgbClr val="DDE4ED"/>
            </a:solidFill>
            <a:prstDash val="solid"/>
          </a:ln>
        </p:spPr>
      </p:sp>
      <p:sp>
        <p:nvSpPr>
          <p:cNvPr id="30" name="Shape 28"/>
          <p:cNvSpPr/>
          <p:nvPr/>
        </p:nvSpPr>
        <p:spPr>
          <a:xfrm>
            <a:off x="3483864" y="3534156"/>
            <a:ext cx="100584" cy="100584"/>
          </a:xfrm>
          <a:prstGeom prst="ellipse">
            <a:avLst/>
          </a:prstGeom>
          <a:solidFill>
            <a:srgbClr val="00A88F"/>
          </a:solidFill>
          <a:ln w="12700">
            <a:solidFill>
              <a:srgbClr val="00A88F"/>
            </a:solidFill>
            <a:prstDash val="solid"/>
          </a:ln>
        </p:spPr>
      </p:sp>
      <p:sp>
        <p:nvSpPr>
          <p:cNvPr id="31" name="Text 29"/>
          <p:cNvSpPr txBox="1"/>
          <p:nvPr/>
        </p:nvSpPr>
        <p:spPr>
          <a:xfrm>
            <a:off x="3703320" y="3447288"/>
            <a:ext cx="1783080" cy="274320"/>
          </a:xfrm>
          <a:prstGeom prst="rect">
            <a:avLst/>
          </a:prstGeom>
          <a:noFill/>
          <a:ln/>
        </p:spPr>
        <p:txBody>
          <a:bodyPr wrap="square" lIns="0" tIns="0" rIns="0" bIns="0" rtlCol="0" anchor="ctr"/>
          <a:lstStyle/>
          <a:p>
            <a:pPr indent="0" marL="0">
              <a:buNone/>
            </a:pPr>
            <a:r>
              <a:rPr lang="en-US" sz="1150" dirty="0">
                <a:solidFill>
                  <a:srgbClr val="1E3A5F"/>
                </a:solidFill>
                <a:latin typeface="Calibri" pitchFamily="34" charset="0"/>
                <a:ea typeface="Calibri" pitchFamily="34" charset="-122"/>
                <a:cs typeface="Calibri" pitchFamily="34" charset="-120"/>
              </a:rPr>
              <a:t>Ngồi xuống ghế</a:t>
            </a:r>
            <a:endParaRPr lang="en-US" sz="1150" dirty="0"/>
          </a:p>
        </p:txBody>
      </p:sp>
      <p:sp>
        <p:nvSpPr>
          <p:cNvPr id="32" name="Shape 30"/>
          <p:cNvSpPr/>
          <p:nvPr/>
        </p:nvSpPr>
        <p:spPr>
          <a:xfrm>
            <a:off x="3337560" y="3858768"/>
            <a:ext cx="2240280" cy="365760"/>
          </a:xfrm>
          <a:prstGeom prst="roundRect">
            <a:avLst>
              <a:gd name="adj" fmla="val 15000"/>
            </a:avLst>
          </a:prstGeom>
          <a:solidFill>
            <a:srgbClr val="FFFFFF"/>
          </a:solidFill>
          <a:ln w="9525">
            <a:solidFill>
              <a:srgbClr val="DDE4ED"/>
            </a:solidFill>
            <a:prstDash val="solid"/>
          </a:ln>
        </p:spPr>
      </p:sp>
      <p:sp>
        <p:nvSpPr>
          <p:cNvPr id="33" name="Shape 31"/>
          <p:cNvSpPr/>
          <p:nvPr/>
        </p:nvSpPr>
        <p:spPr>
          <a:xfrm>
            <a:off x="3483864" y="3991356"/>
            <a:ext cx="100584" cy="100584"/>
          </a:xfrm>
          <a:prstGeom prst="ellipse">
            <a:avLst/>
          </a:prstGeom>
          <a:solidFill>
            <a:srgbClr val="00A88F"/>
          </a:solidFill>
          <a:ln w="12700">
            <a:solidFill>
              <a:srgbClr val="00A88F"/>
            </a:solidFill>
            <a:prstDash val="solid"/>
          </a:ln>
        </p:spPr>
      </p:sp>
      <p:sp>
        <p:nvSpPr>
          <p:cNvPr id="34" name="Text 32"/>
          <p:cNvSpPr txBox="1"/>
          <p:nvPr/>
        </p:nvSpPr>
        <p:spPr>
          <a:xfrm>
            <a:off x="3703320" y="3904488"/>
            <a:ext cx="1783080" cy="274320"/>
          </a:xfrm>
          <a:prstGeom prst="rect">
            <a:avLst/>
          </a:prstGeom>
          <a:noFill/>
          <a:ln/>
        </p:spPr>
        <p:txBody>
          <a:bodyPr wrap="square" lIns="0" tIns="0" rIns="0" bIns="0" rtlCol="0" anchor="ctr"/>
          <a:lstStyle/>
          <a:p>
            <a:pPr indent="0" marL="0">
              <a:buNone/>
            </a:pPr>
            <a:r>
              <a:rPr lang="en-US" sz="1150" dirty="0">
                <a:solidFill>
                  <a:srgbClr val="1E3A5F"/>
                </a:solidFill>
                <a:latin typeface="Calibri" pitchFamily="34" charset="0"/>
                <a:ea typeface="Calibri" pitchFamily="34" charset="-122"/>
                <a:cs typeface="Calibri" pitchFamily="34" charset="-120"/>
              </a:rPr>
              <a:t>Đứng dậy khỏi ghế</a:t>
            </a:r>
            <a:endParaRPr lang="en-US" sz="1150" dirty="0"/>
          </a:p>
        </p:txBody>
      </p:sp>
      <p:sp>
        <p:nvSpPr>
          <p:cNvPr id="35" name="Shape 33"/>
          <p:cNvSpPr/>
          <p:nvPr/>
        </p:nvSpPr>
        <p:spPr>
          <a:xfrm>
            <a:off x="3337560" y="4315968"/>
            <a:ext cx="2240280" cy="365760"/>
          </a:xfrm>
          <a:prstGeom prst="roundRect">
            <a:avLst>
              <a:gd name="adj" fmla="val 15000"/>
            </a:avLst>
          </a:prstGeom>
          <a:solidFill>
            <a:srgbClr val="FFFFFF"/>
          </a:solidFill>
          <a:ln w="9525">
            <a:solidFill>
              <a:srgbClr val="DDE4ED"/>
            </a:solidFill>
            <a:prstDash val="solid"/>
          </a:ln>
        </p:spPr>
      </p:sp>
      <p:sp>
        <p:nvSpPr>
          <p:cNvPr id="36" name="Shape 34"/>
          <p:cNvSpPr/>
          <p:nvPr/>
        </p:nvSpPr>
        <p:spPr>
          <a:xfrm>
            <a:off x="3483864" y="4448556"/>
            <a:ext cx="100584" cy="100584"/>
          </a:xfrm>
          <a:prstGeom prst="ellipse">
            <a:avLst/>
          </a:prstGeom>
          <a:solidFill>
            <a:srgbClr val="00A88F"/>
          </a:solidFill>
          <a:ln w="12700">
            <a:solidFill>
              <a:srgbClr val="00A88F"/>
            </a:solidFill>
            <a:prstDash val="solid"/>
          </a:ln>
        </p:spPr>
      </p:sp>
      <p:sp>
        <p:nvSpPr>
          <p:cNvPr id="37" name="Text 35"/>
          <p:cNvSpPr txBox="1"/>
          <p:nvPr/>
        </p:nvSpPr>
        <p:spPr>
          <a:xfrm>
            <a:off x="3703320" y="4361688"/>
            <a:ext cx="1783080" cy="274320"/>
          </a:xfrm>
          <a:prstGeom prst="rect">
            <a:avLst/>
          </a:prstGeom>
          <a:noFill/>
          <a:ln/>
        </p:spPr>
        <p:txBody>
          <a:bodyPr wrap="square" lIns="0" tIns="0" rIns="0" bIns="0" rtlCol="0" anchor="ctr"/>
          <a:lstStyle/>
          <a:p>
            <a:pPr indent="0" marL="0">
              <a:buNone/>
            </a:pPr>
            <a:r>
              <a:rPr lang="en-US" sz="1150" dirty="0">
                <a:solidFill>
                  <a:srgbClr val="1E3A5F"/>
                </a:solidFill>
                <a:latin typeface="Calibri" pitchFamily="34" charset="0"/>
                <a:ea typeface="Calibri" pitchFamily="34" charset="-122"/>
                <a:cs typeface="Calibri" pitchFamily="34" charset="-120"/>
              </a:rPr>
              <a:t>Ngã xuống sàn</a:t>
            </a:r>
            <a:endParaRPr lang="en-US" sz="1150" dirty="0"/>
          </a:p>
        </p:txBody>
      </p:sp>
      <p:sp>
        <p:nvSpPr>
          <p:cNvPr id="38" name="Shape 36"/>
          <p:cNvSpPr/>
          <p:nvPr/>
        </p:nvSpPr>
        <p:spPr>
          <a:xfrm>
            <a:off x="6336792" y="2432304"/>
            <a:ext cx="5212080" cy="2651760"/>
          </a:xfrm>
          <a:prstGeom prst="roundRect">
            <a:avLst>
              <a:gd name="adj" fmla="val 2069"/>
            </a:avLst>
          </a:prstGeom>
          <a:solidFill>
            <a:srgbClr val="E2F4F1"/>
          </a:solidFill>
          <a:ln w="9525">
            <a:solidFill>
              <a:srgbClr val="C8E8E2"/>
            </a:solidFill>
            <a:prstDash val="solid"/>
          </a:ln>
        </p:spPr>
      </p:sp>
      <p:sp>
        <p:nvSpPr>
          <p:cNvPr id="39" name="Text 37"/>
          <p:cNvSpPr txBox="1"/>
          <p:nvPr/>
        </p:nvSpPr>
        <p:spPr>
          <a:xfrm>
            <a:off x="6656832" y="2670048"/>
            <a:ext cx="4572000" cy="310896"/>
          </a:xfrm>
          <a:prstGeom prst="rect">
            <a:avLst/>
          </a:prstGeom>
          <a:noFill/>
          <a:ln/>
        </p:spPr>
        <p:txBody>
          <a:bodyPr wrap="square" lIns="0" tIns="0" rIns="0" bIns="0" rtlCol="0" anchor="t"/>
          <a:lstStyle/>
          <a:p>
            <a:pPr indent="0" marL="0">
              <a:buNone/>
            </a:pPr>
            <a:r>
              <a:rPr lang="en-US" sz="1700" b="1" dirty="0">
                <a:solidFill>
                  <a:srgbClr val="1E3A5F"/>
                </a:solidFill>
                <a:latin typeface="Arial" pitchFamily="34" charset="0"/>
                <a:ea typeface="Arial" pitchFamily="34" charset="-122"/>
                <a:cs typeface="Arial" pitchFamily="34" charset="-120"/>
              </a:rPr>
              <a:t>Bốn quyết định thu hẹp phạm vi</a:t>
            </a:r>
            <a:endParaRPr lang="en-US" sz="1700" dirty="0"/>
          </a:p>
        </p:txBody>
      </p:sp>
      <p:sp>
        <p:nvSpPr>
          <p:cNvPr id="40" name="Shape 38"/>
          <p:cNvSpPr/>
          <p:nvPr/>
        </p:nvSpPr>
        <p:spPr>
          <a:xfrm>
            <a:off x="6656832" y="3172968"/>
            <a:ext cx="274320" cy="274320"/>
          </a:xfrm>
          <a:prstGeom prst="ellipse">
            <a:avLst/>
          </a:prstGeom>
          <a:solidFill>
            <a:srgbClr val="00A88F"/>
          </a:solidFill>
          <a:ln w="12700">
            <a:solidFill>
              <a:srgbClr val="00A88F"/>
            </a:solidFill>
            <a:prstDash val="solid"/>
          </a:ln>
        </p:spPr>
      </p:sp>
      <p:sp>
        <p:nvSpPr>
          <p:cNvPr id="41" name="Text 39"/>
          <p:cNvSpPr txBox="1"/>
          <p:nvPr/>
        </p:nvSpPr>
        <p:spPr>
          <a:xfrm>
            <a:off x="6656832" y="3172968"/>
            <a:ext cx="274320" cy="2743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42" name="Text 40"/>
          <p:cNvSpPr txBox="1"/>
          <p:nvPr/>
        </p:nvSpPr>
        <p:spPr>
          <a:xfrm>
            <a:off x="7050024" y="3145536"/>
            <a:ext cx="4160520" cy="219456"/>
          </a:xfrm>
          <a:prstGeom prst="rect">
            <a:avLst/>
          </a:prstGeom>
          <a:noFill/>
          <a:ln/>
        </p:spPr>
        <p:txBody>
          <a:bodyPr wrap="square" lIns="0" tIns="0" rIns="0" bIns="0" rtlCol="0" anchor="t"/>
          <a:lstStyle/>
          <a:p>
            <a:pPr indent="0" marL="0">
              <a:buNone/>
            </a:pPr>
            <a:r>
              <a:rPr lang="en-US" sz="1250" b="1" dirty="0">
                <a:solidFill>
                  <a:srgbClr val="1E3A5F"/>
                </a:solidFill>
                <a:latin typeface="Calibri" pitchFamily="34" charset="0"/>
                <a:ea typeface="Calibri" pitchFamily="34" charset="-122"/>
                <a:cs typeface="Calibri" pitchFamily="34" charset="-120"/>
              </a:rPr>
              <a:t>Chỉ một người trong khung hình</a:t>
            </a:r>
            <a:endParaRPr lang="en-US" sz="1250" dirty="0"/>
          </a:p>
        </p:txBody>
      </p:sp>
      <p:sp>
        <p:nvSpPr>
          <p:cNvPr id="43" name="Text 41"/>
          <p:cNvSpPr txBox="1"/>
          <p:nvPr/>
        </p:nvSpPr>
        <p:spPr>
          <a:xfrm>
            <a:off x="7050024" y="3364992"/>
            <a:ext cx="4160520" cy="219456"/>
          </a:xfrm>
          <a:prstGeom prst="rect">
            <a:avLst/>
          </a:prstGeom>
          <a:noFill/>
          <a:ln/>
        </p:spPr>
        <p:txBody>
          <a:bodyPr wrap="square" lIns="0" tIns="0" rIns="0" bIns="0" rtlCol="0" anchor="t"/>
          <a:lstStyle/>
          <a:p>
            <a:pPr indent="0" marL="0">
              <a:buNone/>
            </a:pPr>
            <a:r>
              <a:rPr lang="en-US" sz="1050" dirty="0">
                <a:solidFill>
                  <a:srgbClr val="3C4A5C"/>
                </a:solidFill>
                <a:latin typeface="Calibri" pitchFamily="34" charset="0"/>
                <a:ea typeface="Calibri" pitchFamily="34" charset="-122"/>
                <a:cs typeface="Calibri" pitchFamily="34" charset="-120"/>
              </a:rPr>
              <a:t>bỏ hẳn bài toán theo vết đa đối tượng</a:t>
            </a:r>
            <a:endParaRPr lang="en-US" sz="1050" dirty="0"/>
          </a:p>
        </p:txBody>
      </p:sp>
      <p:sp>
        <p:nvSpPr>
          <p:cNvPr id="44" name="Shape 42"/>
          <p:cNvSpPr/>
          <p:nvPr/>
        </p:nvSpPr>
        <p:spPr>
          <a:xfrm>
            <a:off x="6656832" y="3648456"/>
            <a:ext cx="274320" cy="274320"/>
          </a:xfrm>
          <a:prstGeom prst="ellipse">
            <a:avLst/>
          </a:prstGeom>
          <a:solidFill>
            <a:srgbClr val="00A88F"/>
          </a:solidFill>
          <a:ln w="12700">
            <a:solidFill>
              <a:srgbClr val="00A88F"/>
            </a:solidFill>
            <a:prstDash val="solid"/>
          </a:ln>
        </p:spPr>
      </p:sp>
      <p:sp>
        <p:nvSpPr>
          <p:cNvPr id="45" name="Text 43"/>
          <p:cNvSpPr txBox="1"/>
          <p:nvPr/>
        </p:nvSpPr>
        <p:spPr>
          <a:xfrm>
            <a:off x="6656832" y="3648456"/>
            <a:ext cx="274320" cy="2743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46" name="Text 44"/>
          <p:cNvSpPr txBox="1"/>
          <p:nvPr/>
        </p:nvSpPr>
        <p:spPr>
          <a:xfrm>
            <a:off x="7050024" y="3621024"/>
            <a:ext cx="4160520" cy="219456"/>
          </a:xfrm>
          <a:prstGeom prst="rect">
            <a:avLst/>
          </a:prstGeom>
          <a:noFill/>
          <a:ln/>
        </p:spPr>
        <p:txBody>
          <a:bodyPr wrap="square" lIns="0" tIns="0" rIns="0" bIns="0" rtlCol="0" anchor="t"/>
          <a:lstStyle/>
          <a:p>
            <a:pPr indent="0" marL="0">
              <a:buNone/>
            </a:pPr>
            <a:r>
              <a:rPr lang="en-US" sz="1250" b="1" dirty="0">
                <a:solidFill>
                  <a:srgbClr val="1E3A5F"/>
                </a:solidFill>
                <a:latin typeface="Calibri" pitchFamily="34" charset="0"/>
                <a:ea typeface="Calibri" pitchFamily="34" charset="-122"/>
                <a:cs typeface="Calibri" pitchFamily="34" charset="-120"/>
              </a:rPr>
              <a:t>Dùng MediaPipe Pose có sẵn</a:t>
            </a:r>
            <a:endParaRPr lang="en-US" sz="1250" dirty="0"/>
          </a:p>
        </p:txBody>
      </p:sp>
      <p:sp>
        <p:nvSpPr>
          <p:cNvPr id="47" name="Text 45"/>
          <p:cNvSpPr txBox="1"/>
          <p:nvPr/>
        </p:nvSpPr>
        <p:spPr>
          <a:xfrm>
            <a:off x="7050024" y="3840480"/>
            <a:ext cx="4160520" cy="219456"/>
          </a:xfrm>
          <a:prstGeom prst="rect">
            <a:avLst/>
          </a:prstGeom>
          <a:noFill/>
          <a:ln/>
        </p:spPr>
        <p:txBody>
          <a:bodyPr wrap="square" lIns="0" tIns="0" rIns="0" bIns="0" rtlCol="0" anchor="t"/>
          <a:lstStyle/>
          <a:p>
            <a:pPr indent="0" marL="0">
              <a:buNone/>
            </a:pPr>
            <a:r>
              <a:rPr lang="en-US" sz="1050" dirty="0">
                <a:solidFill>
                  <a:srgbClr val="3C4A5C"/>
                </a:solidFill>
                <a:latin typeface="Calibri" pitchFamily="34" charset="0"/>
                <a:ea typeface="Calibri" pitchFamily="34" charset="-122"/>
                <a:cs typeface="Calibri" pitchFamily="34" charset="-120"/>
              </a:rPr>
              <a:t>30 FPS trên CPU, không phải cài MMPose</a:t>
            </a:r>
            <a:endParaRPr lang="en-US" sz="1050" dirty="0"/>
          </a:p>
        </p:txBody>
      </p:sp>
      <p:sp>
        <p:nvSpPr>
          <p:cNvPr id="48" name="Shape 46"/>
          <p:cNvSpPr/>
          <p:nvPr/>
        </p:nvSpPr>
        <p:spPr>
          <a:xfrm>
            <a:off x="6656832" y="4123944"/>
            <a:ext cx="274320" cy="274320"/>
          </a:xfrm>
          <a:prstGeom prst="ellipse">
            <a:avLst/>
          </a:prstGeom>
          <a:solidFill>
            <a:srgbClr val="00A88F"/>
          </a:solidFill>
          <a:ln w="12700">
            <a:solidFill>
              <a:srgbClr val="00A88F"/>
            </a:solidFill>
            <a:prstDash val="solid"/>
          </a:ln>
        </p:spPr>
      </p:sp>
      <p:sp>
        <p:nvSpPr>
          <p:cNvPr id="49" name="Text 47"/>
          <p:cNvSpPr txBox="1"/>
          <p:nvPr/>
        </p:nvSpPr>
        <p:spPr>
          <a:xfrm>
            <a:off x="6656832" y="4123944"/>
            <a:ext cx="274320" cy="2743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50" name="Text 48"/>
          <p:cNvSpPr txBox="1"/>
          <p:nvPr/>
        </p:nvSpPr>
        <p:spPr>
          <a:xfrm>
            <a:off x="7050024" y="4096512"/>
            <a:ext cx="4160520" cy="219456"/>
          </a:xfrm>
          <a:prstGeom prst="rect">
            <a:avLst/>
          </a:prstGeom>
          <a:noFill/>
          <a:ln/>
        </p:spPr>
        <p:txBody>
          <a:bodyPr wrap="square" lIns="0" tIns="0" rIns="0" bIns="0" rtlCol="0" anchor="t"/>
          <a:lstStyle/>
          <a:p>
            <a:pPr indent="0" marL="0">
              <a:buNone/>
            </a:pPr>
            <a:r>
              <a:rPr lang="en-US" sz="1250" b="1" dirty="0">
                <a:solidFill>
                  <a:srgbClr val="1E3A5F"/>
                </a:solidFill>
                <a:latin typeface="Calibri" pitchFamily="34" charset="0"/>
                <a:ea typeface="Calibri" pitchFamily="34" charset="-122"/>
                <a:cs typeface="Calibri" pitchFamily="34" charset="-120"/>
              </a:rPr>
              <a:t>Chạy thẳng trên Windows</a:t>
            </a:r>
            <a:endParaRPr lang="en-US" sz="1250" dirty="0"/>
          </a:p>
        </p:txBody>
      </p:sp>
      <p:sp>
        <p:nvSpPr>
          <p:cNvPr id="51" name="Text 49"/>
          <p:cNvSpPr txBox="1"/>
          <p:nvPr/>
        </p:nvSpPr>
        <p:spPr>
          <a:xfrm>
            <a:off x="7050024" y="4315968"/>
            <a:ext cx="4160520" cy="219456"/>
          </a:xfrm>
          <a:prstGeom prst="rect">
            <a:avLst/>
          </a:prstGeom>
          <a:noFill/>
          <a:ln/>
        </p:spPr>
        <p:txBody>
          <a:bodyPr wrap="square" lIns="0" tIns="0" rIns="0" bIns="0" rtlCol="0" anchor="t"/>
          <a:lstStyle/>
          <a:p>
            <a:pPr indent="0" marL="0">
              <a:buNone/>
            </a:pPr>
            <a:r>
              <a:rPr lang="en-US" sz="1050" dirty="0">
                <a:solidFill>
                  <a:srgbClr val="3C4A5C"/>
                </a:solidFill>
                <a:latin typeface="Calibri" pitchFamily="34" charset="0"/>
                <a:ea typeface="Calibri" pitchFamily="34" charset="-122"/>
                <a:cs typeface="Calibri" pitchFamily="34" charset="-120"/>
              </a:rPr>
              <a:t>không cần WSL2, không cần CUDA</a:t>
            </a:r>
            <a:endParaRPr lang="en-US" sz="1050" dirty="0"/>
          </a:p>
        </p:txBody>
      </p:sp>
      <p:sp>
        <p:nvSpPr>
          <p:cNvPr id="52" name="Shape 50"/>
          <p:cNvSpPr/>
          <p:nvPr/>
        </p:nvSpPr>
        <p:spPr>
          <a:xfrm>
            <a:off x="6656832" y="4599432"/>
            <a:ext cx="274320" cy="274320"/>
          </a:xfrm>
          <a:prstGeom prst="ellipse">
            <a:avLst/>
          </a:prstGeom>
          <a:solidFill>
            <a:srgbClr val="00A88F"/>
          </a:solidFill>
          <a:ln w="12700">
            <a:solidFill>
              <a:srgbClr val="00A88F"/>
            </a:solidFill>
            <a:prstDash val="solid"/>
          </a:ln>
        </p:spPr>
      </p:sp>
      <p:sp>
        <p:nvSpPr>
          <p:cNvPr id="53" name="Text 51"/>
          <p:cNvSpPr txBox="1"/>
          <p:nvPr/>
        </p:nvSpPr>
        <p:spPr>
          <a:xfrm>
            <a:off x="6656832" y="4599432"/>
            <a:ext cx="274320" cy="2743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54" name="Text 52"/>
          <p:cNvSpPr txBox="1"/>
          <p:nvPr/>
        </p:nvSpPr>
        <p:spPr>
          <a:xfrm>
            <a:off x="7050024" y="4572000"/>
            <a:ext cx="4160520" cy="219456"/>
          </a:xfrm>
          <a:prstGeom prst="rect">
            <a:avLst/>
          </a:prstGeom>
          <a:noFill/>
          <a:ln/>
        </p:spPr>
        <p:txBody>
          <a:bodyPr wrap="square" lIns="0" tIns="0" rIns="0" bIns="0" rtlCol="0" anchor="t"/>
          <a:lstStyle/>
          <a:p>
            <a:pPr indent="0" marL="0">
              <a:buNone/>
            </a:pPr>
            <a:r>
              <a:rPr lang="en-US" sz="1250" b="1" dirty="0">
                <a:solidFill>
                  <a:srgbClr val="1E3A5F"/>
                </a:solidFill>
                <a:latin typeface="Calibri" pitchFamily="34" charset="0"/>
                <a:ea typeface="Calibri" pitchFamily="34" charset="-122"/>
                <a:cs typeface="Calibri" pitchFamily="34" charset="-120"/>
              </a:rPr>
              <a:t>Tự quay dữ liệu</a:t>
            </a:r>
            <a:endParaRPr lang="en-US" sz="1250" dirty="0"/>
          </a:p>
        </p:txBody>
      </p:sp>
      <p:sp>
        <p:nvSpPr>
          <p:cNvPr id="55" name="Text 53"/>
          <p:cNvSpPr txBox="1"/>
          <p:nvPr/>
        </p:nvSpPr>
        <p:spPr>
          <a:xfrm>
            <a:off x="7050024" y="4791456"/>
            <a:ext cx="4160520" cy="219456"/>
          </a:xfrm>
          <a:prstGeom prst="rect">
            <a:avLst/>
          </a:prstGeom>
          <a:noFill/>
          <a:ln/>
        </p:spPr>
        <p:txBody>
          <a:bodyPr wrap="square" lIns="0" tIns="0" rIns="0" bIns="0" rtlCol="0" anchor="t"/>
          <a:lstStyle/>
          <a:p>
            <a:pPr indent="0" marL="0">
              <a:buNone/>
            </a:pPr>
            <a:r>
              <a:rPr lang="en-US" sz="1050" dirty="0">
                <a:solidFill>
                  <a:srgbClr val="3C4A5C"/>
                </a:solidFill>
                <a:latin typeface="Calibri" pitchFamily="34" charset="0"/>
                <a:ea typeface="Calibri" pitchFamily="34" charset="-122"/>
                <a:cs typeface="Calibri" pitchFamily="34" charset="-120"/>
              </a:rPr>
              <a:t>không xin cấp phép, không tải hàng trăm GB</a:t>
            </a:r>
            <a:endParaRPr lang="en-US" sz="1050" dirty="0"/>
          </a:p>
        </p:txBody>
      </p:sp>
      <p:sp>
        <p:nvSpPr>
          <p:cNvPr id="56" name="Shape 54"/>
          <p:cNvSpPr/>
          <p:nvPr/>
        </p:nvSpPr>
        <p:spPr>
          <a:xfrm>
            <a:off x="640080" y="5340096"/>
            <a:ext cx="10911535" cy="914400"/>
          </a:xfrm>
          <a:prstGeom prst="roundRect">
            <a:avLst>
              <a:gd name="adj" fmla="val 6000"/>
            </a:avLst>
          </a:prstGeom>
          <a:solidFill>
            <a:srgbClr val="1E3A5F"/>
          </a:solidFill>
          <a:ln w="9525">
            <a:solidFill>
              <a:srgbClr val="1E3A5F"/>
            </a:solidFill>
            <a:prstDash val="solid"/>
          </a:ln>
        </p:spPr>
      </p:sp>
      <p:sp>
        <p:nvSpPr>
          <p:cNvPr id="57" name="Text 55"/>
          <p:cNvSpPr txBox="1"/>
          <p:nvPr/>
        </p:nvSpPr>
        <p:spPr>
          <a:xfrm>
            <a:off x="914400" y="5413248"/>
            <a:ext cx="10362895" cy="768096"/>
          </a:xfrm>
          <a:prstGeom prst="rect">
            <a:avLst/>
          </a:prstGeom>
          <a:noFill/>
          <a:ln/>
        </p:spPr>
        <p:txBody>
          <a:bodyPr wrap="square" lIns="0" tIns="0" rIns="0" bIns="0" rtlCol="0" anchor="ctr"/>
          <a:lstStyle/>
          <a:p>
            <a:pPr indent="0" marL="0">
              <a:lnSpc>
                <a:spcPts val="1800"/>
              </a:lnSpc>
              <a:buNone/>
            </a:pPr>
            <a:r>
              <a:rPr lang="en-US" sz="1300" dirty="0">
                <a:solidFill>
                  <a:srgbClr val="FFFFFF"/>
                </a:solidFill>
                <a:latin typeface="Calibri" pitchFamily="34" charset="0"/>
                <a:ea typeface="Calibri" pitchFamily="34" charset="-122"/>
                <a:cs typeface="Calibri" pitchFamily="34" charset="-120"/>
              </a:rPr>
              <a:t>"Ngồi xuống" và "đứng dậy" đi qua đúng những tư thế giống nhau nhưng theo thứ tự ngược nhau — không thể phân biệt nếu chỉ nhìn một khung hình đơn lẻ. Đó chính là lý do đề tài cần tới mô hình chuỗi thời gian.</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911535" cy="237744"/>
          </a:xfrm>
          <a:prstGeom prst="rect">
            <a:avLst/>
          </a:prstGeom>
          <a:noFill/>
          <a:ln/>
        </p:spPr>
        <p:txBody>
          <a:bodyPr wrap="square" lIns="0" tIns="0" rIns="0" bIns="0" rtlCol="0" anchor="t"/>
          <a:lstStyle/>
          <a:p>
            <a:pPr indent="0" marL="0">
              <a:buNone/>
            </a:pPr>
            <a:r>
              <a:rPr lang="en-US" sz="1100" b="1" spc="160" kern="0" dirty="0">
                <a:solidFill>
                  <a:srgbClr val="00A88F"/>
                </a:solidFill>
                <a:latin typeface="Calibri" pitchFamily="34" charset="0"/>
                <a:ea typeface="Calibri" pitchFamily="34" charset="-122"/>
                <a:cs typeface="Calibri" pitchFamily="34" charset="-120"/>
              </a:rPr>
              <a:t>CÁCH LÀM</a:t>
            </a:r>
            <a:endParaRPr lang="en-US" sz="1100" dirty="0"/>
          </a:p>
        </p:txBody>
      </p:sp>
      <p:sp>
        <p:nvSpPr>
          <p:cNvPr id="3" name="Text 1"/>
          <p:cNvSpPr txBox="1"/>
          <p:nvPr/>
        </p:nvSpPr>
        <p:spPr>
          <a:xfrm>
            <a:off x="640080" y="658368"/>
            <a:ext cx="10911535" cy="566928"/>
          </a:xfrm>
          <a:prstGeom prst="rect">
            <a:avLst/>
          </a:prstGeom>
          <a:noFill/>
          <a:ln/>
        </p:spPr>
        <p:txBody>
          <a:bodyPr wrap="square" lIns="0" tIns="0" rIns="0" bIns="0" rtlCol="0" anchor="t"/>
          <a:lstStyle/>
          <a:p>
            <a:pPr indent="0" marL="0">
              <a:buNone/>
            </a:pPr>
            <a:r>
              <a:rPr lang="en-US" sz="3200" b="1" dirty="0">
                <a:solidFill>
                  <a:srgbClr val="1E3A5F"/>
                </a:solidFill>
                <a:latin typeface="Arial" pitchFamily="34" charset="0"/>
                <a:ea typeface="Arial" pitchFamily="34" charset="-122"/>
                <a:cs typeface="Arial" pitchFamily="34" charset="-120"/>
              </a:rPr>
              <a:t>Cách tiếp cận và kiến trúc hệ thống</a:t>
            </a:r>
            <a:endParaRPr lang="en-US" sz="3200" dirty="0"/>
          </a:p>
        </p:txBody>
      </p:sp>
      <p:sp>
        <p:nvSpPr>
          <p:cNvPr id="4" name="Shape 2"/>
          <p:cNvSpPr/>
          <p:nvPr/>
        </p:nvSpPr>
        <p:spPr>
          <a:xfrm>
            <a:off x="640080" y="1463040"/>
            <a:ext cx="1572768" cy="1572768"/>
          </a:xfrm>
          <a:prstGeom prst="roundRect">
            <a:avLst>
              <a:gd name="adj" fmla="val 3488"/>
            </a:avLst>
          </a:prstGeom>
          <a:solidFill>
            <a:srgbClr val="F4F7FA"/>
          </a:solidFill>
          <a:ln w="9525">
            <a:solidFill>
              <a:srgbClr val="DDE4ED"/>
            </a:solidFill>
            <a:prstDash val="solid"/>
          </a:ln>
        </p:spPr>
      </p:sp>
      <p:sp>
        <p:nvSpPr>
          <p:cNvPr id="5" name="Shape 3"/>
          <p:cNvSpPr/>
          <p:nvPr/>
        </p:nvSpPr>
        <p:spPr>
          <a:xfrm>
            <a:off x="1289304" y="1627632"/>
            <a:ext cx="274320" cy="274320"/>
          </a:xfrm>
          <a:prstGeom prst="ellipse">
            <a:avLst/>
          </a:prstGeom>
          <a:solidFill>
            <a:srgbClr val="00A88F"/>
          </a:solidFill>
          <a:ln w="12700">
            <a:solidFill>
              <a:srgbClr val="00A88F"/>
            </a:solidFill>
            <a:prstDash val="solid"/>
          </a:ln>
        </p:spPr>
      </p:sp>
      <p:sp>
        <p:nvSpPr>
          <p:cNvPr id="6" name="Text 4"/>
          <p:cNvSpPr txBox="1"/>
          <p:nvPr/>
        </p:nvSpPr>
        <p:spPr>
          <a:xfrm>
            <a:off x="1289304" y="1627632"/>
            <a:ext cx="274320" cy="2743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txBox="1"/>
          <p:nvPr/>
        </p:nvSpPr>
        <p:spPr>
          <a:xfrm>
            <a:off x="731520" y="1975104"/>
            <a:ext cx="1389888" cy="548640"/>
          </a:xfrm>
          <a:prstGeom prst="rect">
            <a:avLst/>
          </a:prstGeom>
          <a:noFill/>
          <a:ln/>
        </p:spPr>
        <p:txBody>
          <a:bodyPr wrap="square" lIns="0" tIns="0" rIns="0" bIns="0" rtlCol="0" anchor="t"/>
          <a:lstStyle/>
          <a:p>
            <a:pPr algn="ctr" indent="0" marL="0">
              <a:lnSpc>
                <a:spcPts val="1500"/>
              </a:lnSpc>
              <a:buNone/>
            </a:pPr>
            <a:r>
              <a:rPr lang="en-US" sz="1250" b="1" dirty="0">
                <a:solidFill>
                  <a:srgbClr val="1E3A5F"/>
                </a:solidFill>
                <a:latin typeface="Calibri" pitchFamily="34" charset="0"/>
                <a:ea typeface="Calibri" pitchFamily="34" charset="-122"/>
                <a:cs typeface="Calibri" pitchFamily="34" charset="-120"/>
              </a:rPr>
              <a:t>Khung hình</a:t>
            </a:r>
            <a:endParaRPr lang="en-US" sz="1250" dirty="0"/>
          </a:p>
          <a:p>
            <a:pPr algn="ctr" indent="0" marL="0">
              <a:lnSpc>
                <a:spcPts val="1500"/>
              </a:lnSpc>
              <a:buNone/>
            </a:pPr>
            <a:r>
              <a:rPr lang="en-US" sz="1250" b="1" dirty="0">
                <a:solidFill>
                  <a:srgbClr val="1E3A5F"/>
                </a:solidFill>
                <a:latin typeface="Calibri" pitchFamily="34" charset="0"/>
                <a:ea typeface="Calibri" pitchFamily="34" charset="-122"/>
                <a:cs typeface="Calibri" pitchFamily="34" charset="-120"/>
              </a:rPr>
              <a:t>webcam</a:t>
            </a:r>
            <a:endParaRPr lang="en-US" sz="1250" dirty="0"/>
          </a:p>
        </p:txBody>
      </p:sp>
      <p:sp>
        <p:nvSpPr>
          <p:cNvPr id="8" name="Text 6"/>
          <p:cNvSpPr txBox="1"/>
          <p:nvPr/>
        </p:nvSpPr>
        <p:spPr>
          <a:xfrm>
            <a:off x="713232" y="2514600"/>
            <a:ext cx="1426464" cy="457200"/>
          </a:xfrm>
          <a:prstGeom prst="rect">
            <a:avLst/>
          </a:prstGeom>
          <a:noFill/>
          <a:ln/>
        </p:spPr>
        <p:txBody>
          <a:bodyPr wrap="square" lIns="0" tIns="0" rIns="0" bIns="0" rtlCol="0" anchor="t"/>
          <a:lstStyle/>
          <a:p>
            <a:pPr algn="ctr" indent="0" marL="0">
              <a:lnSpc>
                <a:spcPts val="1200"/>
              </a:lnSpc>
              <a:buNone/>
            </a:pPr>
            <a:r>
              <a:rPr lang="en-US" sz="950" dirty="0">
                <a:solidFill>
                  <a:srgbClr val="7A8698"/>
                </a:solidFill>
                <a:latin typeface="Calibri" pitchFamily="34" charset="0"/>
                <a:ea typeface="Calibri" pitchFamily="34" charset="-122"/>
                <a:cs typeface="Calibri" pitchFamily="34" charset="-120"/>
              </a:rPr>
              <a:t>30 lần mỗi giây</a:t>
            </a:r>
            <a:endParaRPr lang="en-US" sz="950" dirty="0"/>
          </a:p>
        </p:txBody>
      </p:sp>
      <p:sp>
        <p:nvSpPr>
          <p:cNvPr id="9" name="Shape 7"/>
          <p:cNvSpPr/>
          <p:nvPr/>
        </p:nvSpPr>
        <p:spPr>
          <a:xfrm rot="5400000">
            <a:off x="2286000" y="2167128"/>
            <a:ext cx="155448" cy="164592"/>
          </a:xfrm>
          <a:prstGeom prst="triangle">
            <a:avLst/>
          </a:prstGeom>
          <a:solidFill>
            <a:srgbClr val="00A88F"/>
          </a:solidFill>
          <a:ln w="12700">
            <a:solidFill>
              <a:srgbClr val="00A88F"/>
            </a:solidFill>
            <a:prstDash val="solid"/>
          </a:ln>
        </p:spPr>
      </p:sp>
      <p:sp>
        <p:nvSpPr>
          <p:cNvPr id="10" name="Shape 8"/>
          <p:cNvSpPr/>
          <p:nvPr/>
        </p:nvSpPr>
        <p:spPr>
          <a:xfrm>
            <a:off x="2505456" y="1463040"/>
            <a:ext cx="1572768" cy="1572768"/>
          </a:xfrm>
          <a:prstGeom prst="roundRect">
            <a:avLst>
              <a:gd name="adj" fmla="val 3488"/>
            </a:avLst>
          </a:prstGeom>
          <a:solidFill>
            <a:srgbClr val="F4F7FA"/>
          </a:solidFill>
          <a:ln w="9525">
            <a:solidFill>
              <a:srgbClr val="DDE4ED"/>
            </a:solidFill>
            <a:prstDash val="solid"/>
          </a:ln>
        </p:spPr>
      </p:sp>
      <p:sp>
        <p:nvSpPr>
          <p:cNvPr id="11" name="Shape 9"/>
          <p:cNvSpPr/>
          <p:nvPr/>
        </p:nvSpPr>
        <p:spPr>
          <a:xfrm>
            <a:off x="3154680" y="1627632"/>
            <a:ext cx="274320" cy="274320"/>
          </a:xfrm>
          <a:prstGeom prst="ellipse">
            <a:avLst/>
          </a:prstGeom>
          <a:solidFill>
            <a:srgbClr val="00A88F"/>
          </a:solidFill>
          <a:ln w="12700">
            <a:solidFill>
              <a:srgbClr val="00A88F"/>
            </a:solidFill>
            <a:prstDash val="solid"/>
          </a:ln>
        </p:spPr>
      </p:sp>
      <p:sp>
        <p:nvSpPr>
          <p:cNvPr id="12" name="Text 10"/>
          <p:cNvSpPr txBox="1"/>
          <p:nvPr/>
        </p:nvSpPr>
        <p:spPr>
          <a:xfrm>
            <a:off x="3154680" y="1627632"/>
            <a:ext cx="274320" cy="2743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1"/>
          <p:cNvSpPr txBox="1"/>
          <p:nvPr/>
        </p:nvSpPr>
        <p:spPr>
          <a:xfrm>
            <a:off x="2596896" y="1975104"/>
            <a:ext cx="1389888" cy="548640"/>
          </a:xfrm>
          <a:prstGeom prst="rect">
            <a:avLst/>
          </a:prstGeom>
          <a:noFill/>
          <a:ln/>
        </p:spPr>
        <p:txBody>
          <a:bodyPr wrap="square" lIns="0" tIns="0" rIns="0" bIns="0" rtlCol="0" anchor="t"/>
          <a:lstStyle/>
          <a:p>
            <a:pPr algn="ctr" indent="0" marL="0">
              <a:lnSpc>
                <a:spcPts val="1500"/>
              </a:lnSpc>
              <a:buNone/>
            </a:pPr>
            <a:r>
              <a:rPr lang="en-US" sz="1250" b="1" dirty="0">
                <a:solidFill>
                  <a:srgbClr val="1E3A5F"/>
                </a:solidFill>
                <a:latin typeface="Calibri" pitchFamily="34" charset="0"/>
                <a:ea typeface="Calibri" pitchFamily="34" charset="-122"/>
                <a:cs typeface="Calibri" pitchFamily="34" charset="-120"/>
              </a:rPr>
              <a:t>MediaPipe</a:t>
            </a:r>
            <a:endParaRPr lang="en-US" sz="1250" dirty="0"/>
          </a:p>
          <a:p>
            <a:pPr algn="ctr" indent="0" marL="0">
              <a:lnSpc>
                <a:spcPts val="1500"/>
              </a:lnSpc>
              <a:buNone/>
            </a:pPr>
            <a:r>
              <a:rPr lang="en-US" sz="1250" b="1" dirty="0">
                <a:solidFill>
                  <a:srgbClr val="1E3A5F"/>
                </a:solidFill>
                <a:latin typeface="Calibri" pitchFamily="34" charset="0"/>
                <a:ea typeface="Calibri" pitchFamily="34" charset="-122"/>
                <a:cs typeface="Calibri" pitchFamily="34" charset="-120"/>
              </a:rPr>
              <a:t>Pose</a:t>
            </a:r>
            <a:endParaRPr lang="en-US" sz="1250" dirty="0"/>
          </a:p>
        </p:txBody>
      </p:sp>
      <p:sp>
        <p:nvSpPr>
          <p:cNvPr id="14" name="Text 12"/>
          <p:cNvSpPr txBox="1"/>
          <p:nvPr/>
        </p:nvSpPr>
        <p:spPr>
          <a:xfrm>
            <a:off x="2578608" y="2514600"/>
            <a:ext cx="1426464" cy="457200"/>
          </a:xfrm>
          <a:prstGeom prst="rect">
            <a:avLst/>
          </a:prstGeom>
          <a:noFill/>
          <a:ln/>
        </p:spPr>
        <p:txBody>
          <a:bodyPr wrap="square" lIns="0" tIns="0" rIns="0" bIns="0" rtlCol="0" anchor="t"/>
          <a:lstStyle/>
          <a:p>
            <a:pPr algn="ctr" indent="0" marL="0">
              <a:lnSpc>
                <a:spcPts val="1200"/>
              </a:lnSpc>
              <a:buNone/>
            </a:pPr>
            <a:r>
              <a:rPr lang="en-US" sz="950" dirty="0">
                <a:solidFill>
                  <a:srgbClr val="7A8698"/>
                </a:solidFill>
                <a:latin typeface="Calibri" pitchFamily="34" charset="0"/>
                <a:ea typeface="Calibri" pitchFamily="34" charset="-122"/>
                <a:cs typeface="Calibri" pitchFamily="34" charset="-120"/>
              </a:rPr>
              <a:t>33 điểm khớp</a:t>
            </a:r>
            <a:endParaRPr lang="en-US" sz="950" dirty="0"/>
          </a:p>
        </p:txBody>
      </p:sp>
      <p:sp>
        <p:nvSpPr>
          <p:cNvPr id="15" name="Shape 13"/>
          <p:cNvSpPr/>
          <p:nvPr/>
        </p:nvSpPr>
        <p:spPr>
          <a:xfrm rot="5400000">
            <a:off x="4151376" y="2167128"/>
            <a:ext cx="155448" cy="164592"/>
          </a:xfrm>
          <a:prstGeom prst="triangle">
            <a:avLst/>
          </a:prstGeom>
          <a:solidFill>
            <a:srgbClr val="00A88F"/>
          </a:solidFill>
          <a:ln w="12700">
            <a:solidFill>
              <a:srgbClr val="00A88F"/>
            </a:solidFill>
            <a:prstDash val="solid"/>
          </a:ln>
        </p:spPr>
      </p:sp>
      <p:sp>
        <p:nvSpPr>
          <p:cNvPr id="16" name="Shape 14"/>
          <p:cNvSpPr/>
          <p:nvPr/>
        </p:nvSpPr>
        <p:spPr>
          <a:xfrm>
            <a:off x="4370832" y="1463040"/>
            <a:ext cx="1572768" cy="1572768"/>
          </a:xfrm>
          <a:prstGeom prst="roundRect">
            <a:avLst>
              <a:gd name="adj" fmla="val 3488"/>
            </a:avLst>
          </a:prstGeom>
          <a:solidFill>
            <a:srgbClr val="F4F7FA"/>
          </a:solidFill>
          <a:ln w="9525">
            <a:solidFill>
              <a:srgbClr val="DDE4ED"/>
            </a:solidFill>
            <a:prstDash val="solid"/>
          </a:ln>
        </p:spPr>
      </p:sp>
      <p:sp>
        <p:nvSpPr>
          <p:cNvPr id="17" name="Shape 15"/>
          <p:cNvSpPr/>
          <p:nvPr/>
        </p:nvSpPr>
        <p:spPr>
          <a:xfrm>
            <a:off x="5020056" y="1627632"/>
            <a:ext cx="274320" cy="274320"/>
          </a:xfrm>
          <a:prstGeom prst="ellipse">
            <a:avLst/>
          </a:prstGeom>
          <a:solidFill>
            <a:srgbClr val="00A88F"/>
          </a:solidFill>
          <a:ln w="12700">
            <a:solidFill>
              <a:srgbClr val="00A88F"/>
            </a:solidFill>
            <a:prstDash val="solid"/>
          </a:ln>
        </p:spPr>
      </p:sp>
      <p:sp>
        <p:nvSpPr>
          <p:cNvPr id="18" name="Text 16"/>
          <p:cNvSpPr txBox="1"/>
          <p:nvPr/>
        </p:nvSpPr>
        <p:spPr>
          <a:xfrm>
            <a:off x="5020056" y="1627632"/>
            <a:ext cx="274320" cy="2743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9" name="Text 17"/>
          <p:cNvSpPr txBox="1"/>
          <p:nvPr/>
        </p:nvSpPr>
        <p:spPr>
          <a:xfrm>
            <a:off x="4462272" y="1975104"/>
            <a:ext cx="1389888" cy="548640"/>
          </a:xfrm>
          <a:prstGeom prst="rect">
            <a:avLst/>
          </a:prstGeom>
          <a:noFill/>
          <a:ln/>
        </p:spPr>
        <p:txBody>
          <a:bodyPr wrap="square" lIns="0" tIns="0" rIns="0" bIns="0" rtlCol="0" anchor="t"/>
          <a:lstStyle/>
          <a:p>
            <a:pPr algn="ctr" indent="0" marL="0">
              <a:lnSpc>
                <a:spcPts val="1500"/>
              </a:lnSpc>
              <a:buNone/>
            </a:pPr>
            <a:r>
              <a:rPr lang="en-US" sz="1250" b="1" dirty="0">
                <a:solidFill>
                  <a:srgbClr val="1E3A5F"/>
                </a:solidFill>
                <a:latin typeface="Calibri" pitchFamily="34" charset="0"/>
                <a:ea typeface="Calibri" pitchFamily="34" charset="-122"/>
                <a:cs typeface="Calibri" pitchFamily="34" charset="-120"/>
              </a:rPr>
              <a:t>Chuẩn hóa</a:t>
            </a:r>
            <a:endParaRPr lang="en-US" sz="1250" dirty="0"/>
          </a:p>
          <a:p>
            <a:pPr algn="ctr" indent="0" marL="0">
              <a:lnSpc>
                <a:spcPts val="1500"/>
              </a:lnSpc>
              <a:buNone/>
            </a:pPr>
            <a:r>
              <a:rPr lang="en-US" sz="1250" b="1" dirty="0">
                <a:solidFill>
                  <a:srgbClr val="1E3A5F"/>
                </a:solidFill>
                <a:latin typeface="Calibri" pitchFamily="34" charset="0"/>
                <a:ea typeface="Calibri" pitchFamily="34" charset="-122"/>
                <a:cs typeface="Calibri" pitchFamily="34" charset="-120"/>
              </a:rPr>
              <a:t>tọa độ</a:t>
            </a:r>
            <a:endParaRPr lang="en-US" sz="1250" dirty="0"/>
          </a:p>
        </p:txBody>
      </p:sp>
      <p:sp>
        <p:nvSpPr>
          <p:cNvPr id="20" name="Text 18"/>
          <p:cNvSpPr txBox="1"/>
          <p:nvPr/>
        </p:nvSpPr>
        <p:spPr>
          <a:xfrm>
            <a:off x="4443984" y="2514600"/>
            <a:ext cx="1426464" cy="457200"/>
          </a:xfrm>
          <a:prstGeom prst="rect">
            <a:avLst/>
          </a:prstGeom>
          <a:noFill/>
          <a:ln/>
        </p:spPr>
        <p:txBody>
          <a:bodyPr wrap="square" lIns="0" tIns="0" rIns="0" bIns="0" rtlCol="0" anchor="t"/>
          <a:lstStyle/>
          <a:p>
            <a:pPr algn="ctr" indent="0" marL="0">
              <a:lnSpc>
                <a:spcPts val="1200"/>
              </a:lnSpc>
              <a:buNone/>
            </a:pPr>
            <a:r>
              <a:rPr lang="en-US" sz="950" dirty="0">
                <a:solidFill>
                  <a:srgbClr val="7A8698"/>
                </a:solidFill>
                <a:latin typeface="Calibri" pitchFamily="34" charset="0"/>
                <a:ea typeface="Calibri" pitchFamily="34" charset="-122"/>
                <a:cs typeface="Calibri" pitchFamily="34" charset="-120"/>
              </a:rPr>
              <a:t>gốc ở hông, chia</a:t>
            </a:r>
            <a:endParaRPr lang="en-US" sz="950" dirty="0"/>
          </a:p>
          <a:p>
            <a:pPr algn="ctr" indent="0" marL="0">
              <a:lnSpc>
                <a:spcPts val="1200"/>
              </a:lnSpc>
              <a:buNone/>
            </a:pPr>
            <a:r>
              <a:rPr lang="en-US" sz="950" dirty="0">
                <a:solidFill>
                  <a:srgbClr val="7A8698"/>
                </a:solidFill>
                <a:latin typeface="Calibri" pitchFamily="34" charset="0"/>
                <a:ea typeface="Calibri" pitchFamily="34" charset="-122"/>
                <a:cs typeface="Calibri" pitchFamily="34" charset="-120"/>
              </a:rPr>
              <a:t>chiều dài thân</a:t>
            </a:r>
            <a:endParaRPr lang="en-US" sz="950" dirty="0"/>
          </a:p>
        </p:txBody>
      </p:sp>
      <p:sp>
        <p:nvSpPr>
          <p:cNvPr id="21" name="Shape 19"/>
          <p:cNvSpPr/>
          <p:nvPr/>
        </p:nvSpPr>
        <p:spPr>
          <a:xfrm rot="5400000">
            <a:off x="6016752" y="2167128"/>
            <a:ext cx="155448" cy="164592"/>
          </a:xfrm>
          <a:prstGeom prst="triangle">
            <a:avLst/>
          </a:prstGeom>
          <a:solidFill>
            <a:srgbClr val="00A88F"/>
          </a:solidFill>
          <a:ln w="12700">
            <a:solidFill>
              <a:srgbClr val="00A88F"/>
            </a:solidFill>
            <a:prstDash val="solid"/>
          </a:ln>
        </p:spPr>
      </p:sp>
      <p:sp>
        <p:nvSpPr>
          <p:cNvPr id="22" name="Shape 20"/>
          <p:cNvSpPr/>
          <p:nvPr/>
        </p:nvSpPr>
        <p:spPr>
          <a:xfrm>
            <a:off x="6236208" y="1463040"/>
            <a:ext cx="1572768" cy="1572768"/>
          </a:xfrm>
          <a:prstGeom prst="roundRect">
            <a:avLst>
              <a:gd name="adj" fmla="val 3488"/>
            </a:avLst>
          </a:prstGeom>
          <a:solidFill>
            <a:srgbClr val="F4F7FA"/>
          </a:solidFill>
          <a:ln w="9525">
            <a:solidFill>
              <a:srgbClr val="DDE4ED"/>
            </a:solidFill>
            <a:prstDash val="solid"/>
          </a:ln>
        </p:spPr>
      </p:sp>
      <p:sp>
        <p:nvSpPr>
          <p:cNvPr id="23" name="Shape 21"/>
          <p:cNvSpPr/>
          <p:nvPr/>
        </p:nvSpPr>
        <p:spPr>
          <a:xfrm>
            <a:off x="6885432" y="1627632"/>
            <a:ext cx="274320" cy="274320"/>
          </a:xfrm>
          <a:prstGeom prst="ellipse">
            <a:avLst/>
          </a:prstGeom>
          <a:solidFill>
            <a:srgbClr val="00A88F"/>
          </a:solidFill>
          <a:ln w="12700">
            <a:solidFill>
              <a:srgbClr val="00A88F"/>
            </a:solidFill>
            <a:prstDash val="solid"/>
          </a:ln>
        </p:spPr>
      </p:sp>
      <p:sp>
        <p:nvSpPr>
          <p:cNvPr id="24" name="Text 22"/>
          <p:cNvSpPr txBox="1"/>
          <p:nvPr/>
        </p:nvSpPr>
        <p:spPr>
          <a:xfrm>
            <a:off x="6885432" y="1627632"/>
            <a:ext cx="274320" cy="2743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5" name="Text 23"/>
          <p:cNvSpPr txBox="1"/>
          <p:nvPr/>
        </p:nvSpPr>
        <p:spPr>
          <a:xfrm>
            <a:off x="6327648" y="1975104"/>
            <a:ext cx="1389888" cy="548640"/>
          </a:xfrm>
          <a:prstGeom prst="rect">
            <a:avLst/>
          </a:prstGeom>
          <a:noFill/>
          <a:ln/>
        </p:spPr>
        <p:txBody>
          <a:bodyPr wrap="square" lIns="0" tIns="0" rIns="0" bIns="0" rtlCol="0" anchor="t"/>
          <a:lstStyle/>
          <a:p>
            <a:pPr algn="ctr" indent="0" marL="0">
              <a:lnSpc>
                <a:spcPts val="1500"/>
              </a:lnSpc>
              <a:buNone/>
            </a:pPr>
            <a:r>
              <a:rPr lang="en-US" sz="1250" b="1" dirty="0">
                <a:solidFill>
                  <a:srgbClr val="1E3A5F"/>
                </a:solidFill>
                <a:latin typeface="Calibri" pitchFamily="34" charset="0"/>
                <a:ea typeface="Calibri" pitchFamily="34" charset="-122"/>
                <a:cs typeface="Calibri" pitchFamily="34" charset="-120"/>
              </a:rPr>
              <a:t>Hàng đợi</a:t>
            </a:r>
            <a:endParaRPr lang="en-US" sz="1250" dirty="0"/>
          </a:p>
          <a:p>
            <a:pPr algn="ctr" indent="0" marL="0">
              <a:lnSpc>
                <a:spcPts val="1500"/>
              </a:lnSpc>
              <a:buNone/>
            </a:pPr>
            <a:r>
              <a:rPr lang="en-US" sz="1250" b="1" dirty="0">
                <a:solidFill>
                  <a:srgbClr val="1E3A5F"/>
                </a:solidFill>
                <a:latin typeface="Calibri" pitchFamily="34" charset="0"/>
                <a:ea typeface="Calibri" pitchFamily="34" charset="-122"/>
                <a:cs typeface="Calibri" pitchFamily="34" charset="-120"/>
              </a:rPr>
              <a:t>30 khung</a:t>
            </a:r>
            <a:endParaRPr lang="en-US" sz="1250" dirty="0"/>
          </a:p>
        </p:txBody>
      </p:sp>
      <p:sp>
        <p:nvSpPr>
          <p:cNvPr id="26" name="Text 24"/>
          <p:cNvSpPr txBox="1"/>
          <p:nvPr/>
        </p:nvSpPr>
        <p:spPr>
          <a:xfrm>
            <a:off x="6309360" y="2514600"/>
            <a:ext cx="1426464" cy="457200"/>
          </a:xfrm>
          <a:prstGeom prst="rect">
            <a:avLst/>
          </a:prstGeom>
          <a:noFill/>
          <a:ln/>
        </p:spPr>
        <p:txBody>
          <a:bodyPr wrap="square" lIns="0" tIns="0" rIns="0" bIns="0" rtlCol="0" anchor="t"/>
          <a:lstStyle/>
          <a:p>
            <a:pPr algn="ctr" indent="0" marL="0">
              <a:lnSpc>
                <a:spcPts val="1200"/>
              </a:lnSpc>
              <a:buNone/>
            </a:pPr>
            <a:r>
              <a:rPr lang="en-US" sz="950" dirty="0">
                <a:solidFill>
                  <a:srgbClr val="7A8698"/>
                </a:solidFill>
                <a:latin typeface="Calibri" pitchFamily="34" charset="0"/>
                <a:ea typeface="Calibri" pitchFamily="34" charset="-122"/>
                <a:cs typeface="Calibri" pitchFamily="34" charset="-120"/>
              </a:rPr>
              <a:t>cửa sổ trượt ≈ 1 giây</a:t>
            </a:r>
            <a:endParaRPr lang="en-US" sz="950" dirty="0"/>
          </a:p>
        </p:txBody>
      </p:sp>
      <p:sp>
        <p:nvSpPr>
          <p:cNvPr id="27" name="Shape 25"/>
          <p:cNvSpPr/>
          <p:nvPr/>
        </p:nvSpPr>
        <p:spPr>
          <a:xfrm rot="5400000">
            <a:off x="7882128" y="2167128"/>
            <a:ext cx="155448" cy="164592"/>
          </a:xfrm>
          <a:prstGeom prst="triangle">
            <a:avLst/>
          </a:prstGeom>
          <a:solidFill>
            <a:srgbClr val="00A88F"/>
          </a:solidFill>
          <a:ln w="12700">
            <a:solidFill>
              <a:srgbClr val="00A88F"/>
            </a:solidFill>
            <a:prstDash val="solid"/>
          </a:ln>
        </p:spPr>
      </p:sp>
      <p:sp>
        <p:nvSpPr>
          <p:cNvPr id="28" name="Shape 26"/>
          <p:cNvSpPr/>
          <p:nvPr/>
        </p:nvSpPr>
        <p:spPr>
          <a:xfrm>
            <a:off x="8101584" y="1463040"/>
            <a:ext cx="1572768" cy="1572768"/>
          </a:xfrm>
          <a:prstGeom prst="roundRect">
            <a:avLst>
              <a:gd name="adj" fmla="val 3488"/>
            </a:avLst>
          </a:prstGeom>
          <a:solidFill>
            <a:srgbClr val="F4F7FA"/>
          </a:solidFill>
          <a:ln w="9525">
            <a:solidFill>
              <a:srgbClr val="DDE4ED"/>
            </a:solidFill>
            <a:prstDash val="solid"/>
          </a:ln>
        </p:spPr>
      </p:sp>
      <p:sp>
        <p:nvSpPr>
          <p:cNvPr id="29" name="Shape 27"/>
          <p:cNvSpPr/>
          <p:nvPr/>
        </p:nvSpPr>
        <p:spPr>
          <a:xfrm>
            <a:off x="8750808" y="1627632"/>
            <a:ext cx="274320" cy="274320"/>
          </a:xfrm>
          <a:prstGeom prst="ellipse">
            <a:avLst/>
          </a:prstGeom>
          <a:solidFill>
            <a:srgbClr val="00A88F"/>
          </a:solidFill>
          <a:ln w="12700">
            <a:solidFill>
              <a:srgbClr val="00A88F"/>
            </a:solidFill>
            <a:prstDash val="solid"/>
          </a:ln>
        </p:spPr>
      </p:sp>
      <p:sp>
        <p:nvSpPr>
          <p:cNvPr id="30" name="Text 28"/>
          <p:cNvSpPr txBox="1"/>
          <p:nvPr/>
        </p:nvSpPr>
        <p:spPr>
          <a:xfrm>
            <a:off x="8750808" y="1627632"/>
            <a:ext cx="274320" cy="2743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31" name="Text 29"/>
          <p:cNvSpPr txBox="1"/>
          <p:nvPr/>
        </p:nvSpPr>
        <p:spPr>
          <a:xfrm>
            <a:off x="8193024" y="1975104"/>
            <a:ext cx="1389888" cy="548640"/>
          </a:xfrm>
          <a:prstGeom prst="rect">
            <a:avLst/>
          </a:prstGeom>
          <a:noFill/>
          <a:ln/>
        </p:spPr>
        <p:txBody>
          <a:bodyPr wrap="square" lIns="0" tIns="0" rIns="0" bIns="0" rtlCol="0" anchor="t"/>
          <a:lstStyle/>
          <a:p>
            <a:pPr algn="ctr" indent="0" marL="0">
              <a:lnSpc>
                <a:spcPts val="1500"/>
              </a:lnSpc>
              <a:buNone/>
            </a:pPr>
            <a:r>
              <a:rPr lang="en-US" sz="1250" b="1" dirty="0">
                <a:solidFill>
                  <a:srgbClr val="1E3A5F"/>
                </a:solidFill>
                <a:latin typeface="Calibri" pitchFamily="34" charset="0"/>
                <a:ea typeface="Calibri" pitchFamily="34" charset="-122"/>
                <a:cs typeface="Calibri" pitchFamily="34" charset="-120"/>
              </a:rPr>
              <a:t>Mô hình</a:t>
            </a:r>
            <a:endParaRPr lang="en-US" sz="1250" dirty="0"/>
          </a:p>
          <a:p>
            <a:pPr algn="ctr" indent="0" marL="0">
              <a:lnSpc>
                <a:spcPts val="1500"/>
              </a:lnSpc>
              <a:buNone/>
            </a:pPr>
            <a:r>
              <a:rPr lang="en-US" sz="1250" b="1" dirty="0">
                <a:solidFill>
                  <a:srgbClr val="1E3A5F"/>
                </a:solidFill>
                <a:latin typeface="Calibri" pitchFamily="34" charset="0"/>
                <a:ea typeface="Calibri" pitchFamily="34" charset="-122"/>
                <a:cs typeface="Calibri" pitchFamily="34" charset="-120"/>
              </a:rPr>
              <a:t>chuỗi</a:t>
            </a:r>
            <a:endParaRPr lang="en-US" sz="1250" dirty="0"/>
          </a:p>
        </p:txBody>
      </p:sp>
      <p:sp>
        <p:nvSpPr>
          <p:cNvPr id="32" name="Text 30"/>
          <p:cNvSpPr txBox="1"/>
          <p:nvPr/>
        </p:nvSpPr>
        <p:spPr>
          <a:xfrm>
            <a:off x="8174736" y="2514600"/>
            <a:ext cx="1426464" cy="457200"/>
          </a:xfrm>
          <a:prstGeom prst="rect">
            <a:avLst/>
          </a:prstGeom>
          <a:noFill/>
          <a:ln/>
        </p:spPr>
        <p:txBody>
          <a:bodyPr wrap="square" lIns="0" tIns="0" rIns="0" bIns="0" rtlCol="0" anchor="t"/>
          <a:lstStyle/>
          <a:p>
            <a:pPr algn="ctr" indent="0" marL="0">
              <a:lnSpc>
                <a:spcPts val="1200"/>
              </a:lnSpc>
              <a:buNone/>
            </a:pPr>
            <a:r>
              <a:rPr lang="en-US" sz="950" dirty="0">
                <a:solidFill>
                  <a:srgbClr val="7A8698"/>
                </a:solidFill>
                <a:latin typeface="Calibri" pitchFamily="34" charset="0"/>
                <a:ea typeface="Calibri" pitchFamily="34" charset="-122"/>
                <a:cs typeface="Calibri" pitchFamily="34" charset="-120"/>
              </a:rPr>
              <a:t>Random Forest</a:t>
            </a:r>
            <a:endParaRPr lang="en-US" sz="950" dirty="0"/>
          </a:p>
          <a:p>
            <a:pPr algn="ctr" indent="0" marL="0">
              <a:lnSpc>
                <a:spcPts val="1200"/>
              </a:lnSpc>
              <a:buNone/>
            </a:pPr>
            <a:r>
              <a:rPr lang="en-US" sz="950" dirty="0">
                <a:solidFill>
                  <a:srgbClr val="7A8698"/>
                </a:solidFill>
                <a:latin typeface="Calibri" pitchFamily="34" charset="0"/>
                <a:ea typeface="Calibri" pitchFamily="34" charset="-122"/>
                <a:cs typeface="Calibri" pitchFamily="34" charset="-120"/>
              </a:rPr>
              <a:t>rồi LSTM</a:t>
            </a:r>
            <a:endParaRPr lang="en-US" sz="950" dirty="0"/>
          </a:p>
        </p:txBody>
      </p:sp>
      <p:sp>
        <p:nvSpPr>
          <p:cNvPr id="33" name="Shape 31"/>
          <p:cNvSpPr/>
          <p:nvPr/>
        </p:nvSpPr>
        <p:spPr>
          <a:xfrm rot="5400000">
            <a:off x="9747504" y="2167128"/>
            <a:ext cx="155448" cy="164592"/>
          </a:xfrm>
          <a:prstGeom prst="triangle">
            <a:avLst/>
          </a:prstGeom>
          <a:solidFill>
            <a:srgbClr val="00A88F"/>
          </a:solidFill>
          <a:ln w="12700">
            <a:solidFill>
              <a:srgbClr val="00A88F"/>
            </a:solidFill>
            <a:prstDash val="solid"/>
          </a:ln>
        </p:spPr>
      </p:sp>
      <p:sp>
        <p:nvSpPr>
          <p:cNvPr id="34" name="Shape 32"/>
          <p:cNvSpPr/>
          <p:nvPr/>
        </p:nvSpPr>
        <p:spPr>
          <a:xfrm>
            <a:off x="9966960" y="1463040"/>
            <a:ext cx="1572768" cy="1572768"/>
          </a:xfrm>
          <a:prstGeom prst="roundRect">
            <a:avLst>
              <a:gd name="adj" fmla="val 3488"/>
            </a:avLst>
          </a:prstGeom>
          <a:solidFill>
            <a:srgbClr val="1E3A5F"/>
          </a:solidFill>
          <a:ln w="9525">
            <a:solidFill>
              <a:srgbClr val="1E3A5F"/>
            </a:solidFill>
            <a:prstDash val="solid"/>
          </a:ln>
        </p:spPr>
      </p:sp>
      <p:sp>
        <p:nvSpPr>
          <p:cNvPr id="35" name="Shape 33"/>
          <p:cNvSpPr/>
          <p:nvPr/>
        </p:nvSpPr>
        <p:spPr>
          <a:xfrm>
            <a:off x="10616184" y="1627632"/>
            <a:ext cx="274320" cy="274320"/>
          </a:xfrm>
          <a:prstGeom prst="ellipse">
            <a:avLst/>
          </a:prstGeom>
          <a:solidFill>
            <a:srgbClr val="00A88F"/>
          </a:solidFill>
          <a:ln w="12700">
            <a:solidFill>
              <a:srgbClr val="00A88F"/>
            </a:solidFill>
            <a:prstDash val="solid"/>
          </a:ln>
        </p:spPr>
      </p:sp>
      <p:sp>
        <p:nvSpPr>
          <p:cNvPr id="36" name="Text 34"/>
          <p:cNvSpPr txBox="1"/>
          <p:nvPr/>
        </p:nvSpPr>
        <p:spPr>
          <a:xfrm>
            <a:off x="10616184" y="1627632"/>
            <a:ext cx="274320" cy="2743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37" name="Text 35"/>
          <p:cNvSpPr txBox="1"/>
          <p:nvPr/>
        </p:nvSpPr>
        <p:spPr>
          <a:xfrm>
            <a:off x="10058400" y="1975104"/>
            <a:ext cx="1389888" cy="548640"/>
          </a:xfrm>
          <a:prstGeom prst="rect">
            <a:avLst/>
          </a:prstGeom>
          <a:noFill/>
          <a:ln/>
        </p:spPr>
        <p:txBody>
          <a:bodyPr wrap="square" lIns="0" tIns="0" rIns="0" bIns="0" rtlCol="0" anchor="t"/>
          <a:lstStyle/>
          <a:p>
            <a:pPr algn="ctr" indent="0" marL="0">
              <a:lnSpc>
                <a:spcPts val="1500"/>
              </a:lnSpc>
              <a:buNone/>
            </a:pPr>
            <a:r>
              <a:rPr lang="en-US" sz="1250" b="1" dirty="0">
                <a:solidFill>
                  <a:srgbClr val="FFFFFF"/>
                </a:solidFill>
                <a:latin typeface="Calibri" pitchFamily="34" charset="0"/>
                <a:ea typeface="Calibri" pitchFamily="34" charset="-122"/>
                <a:cs typeface="Calibri" pitchFamily="34" charset="-120"/>
              </a:rPr>
              <a:t>Nhãn</a:t>
            </a:r>
            <a:endParaRPr lang="en-US" sz="1250" dirty="0"/>
          </a:p>
          <a:p>
            <a:pPr algn="ctr" indent="0" marL="0">
              <a:lnSpc>
                <a:spcPts val="1500"/>
              </a:lnSpc>
              <a:buNone/>
            </a:pPr>
            <a:r>
              <a:rPr lang="en-US" sz="1250" b="1" dirty="0">
                <a:solidFill>
                  <a:srgbClr val="FFFFFF"/>
                </a:solidFill>
                <a:latin typeface="Calibri" pitchFamily="34" charset="0"/>
                <a:ea typeface="Calibri" pitchFamily="34" charset="-122"/>
                <a:cs typeface="Calibri" pitchFamily="34" charset="-120"/>
              </a:rPr>
              <a:t>hành động</a:t>
            </a:r>
            <a:endParaRPr lang="en-US" sz="1250" dirty="0"/>
          </a:p>
        </p:txBody>
      </p:sp>
      <p:sp>
        <p:nvSpPr>
          <p:cNvPr id="38" name="Text 36"/>
          <p:cNvSpPr txBox="1"/>
          <p:nvPr/>
        </p:nvSpPr>
        <p:spPr>
          <a:xfrm>
            <a:off x="10040112" y="2514600"/>
            <a:ext cx="1426464" cy="457200"/>
          </a:xfrm>
          <a:prstGeom prst="rect">
            <a:avLst/>
          </a:prstGeom>
          <a:noFill/>
          <a:ln/>
        </p:spPr>
        <p:txBody>
          <a:bodyPr wrap="square" lIns="0" tIns="0" rIns="0" bIns="0" rtlCol="0" anchor="t"/>
          <a:lstStyle/>
          <a:p>
            <a:pPr algn="ctr" indent="0" marL="0">
              <a:lnSpc>
                <a:spcPts val="1200"/>
              </a:lnSpc>
              <a:buNone/>
            </a:pPr>
            <a:r>
              <a:rPr lang="en-US" sz="950" dirty="0">
                <a:solidFill>
                  <a:srgbClr val="B8C6D9"/>
                </a:solidFill>
                <a:latin typeface="Calibri" pitchFamily="34" charset="0"/>
                <a:ea typeface="Calibri" pitchFamily="34" charset="-122"/>
                <a:cs typeface="Calibri" pitchFamily="34" charset="-120"/>
              </a:rPr>
              <a:t>kèm độ tin cậy</a:t>
            </a:r>
            <a:endParaRPr lang="en-US" sz="950" dirty="0"/>
          </a:p>
        </p:txBody>
      </p:sp>
      <p:sp>
        <p:nvSpPr>
          <p:cNvPr id="39" name="Shape 37"/>
          <p:cNvSpPr/>
          <p:nvPr/>
        </p:nvSpPr>
        <p:spPr>
          <a:xfrm>
            <a:off x="640080" y="3401568"/>
            <a:ext cx="3493008" cy="2286000"/>
          </a:xfrm>
          <a:prstGeom prst="roundRect">
            <a:avLst>
              <a:gd name="adj" fmla="val 2400"/>
            </a:avLst>
          </a:prstGeom>
          <a:solidFill>
            <a:srgbClr val="F4F7FA"/>
          </a:solidFill>
          <a:ln w="9525">
            <a:solidFill>
              <a:srgbClr val="DDE4ED"/>
            </a:solidFill>
            <a:prstDash val="solid"/>
          </a:ln>
        </p:spPr>
      </p:sp>
      <p:sp>
        <p:nvSpPr>
          <p:cNvPr id="40" name="Text 38"/>
          <p:cNvSpPr txBox="1"/>
          <p:nvPr/>
        </p:nvSpPr>
        <p:spPr>
          <a:xfrm>
            <a:off x="914400" y="3639312"/>
            <a:ext cx="2944368" cy="566928"/>
          </a:xfrm>
          <a:prstGeom prst="rect">
            <a:avLst/>
          </a:prstGeom>
          <a:noFill/>
          <a:ln/>
        </p:spPr>
        <p:txBody>
          <a:bodyPr wrap="square" lIns="0" tIns="0" rIns="0" bIns="0" rtlCol="0" anchor="t"/>
          <a:lstStyle/>
          <a:p>
            <a:pPr indent="0" marL="0">
              <a:lnSpc>
                <a:spcPts val="1900"/>
              </a:lnSpc>
              <a:buNone/>
            </a:pPr>
            <a:r>
              <a:rPr lang="en-US" sz="1500" b="1" dirty="0">
                <a:solidFill>
                  <a:srgbClr val="1E3A5F"/>
                </a:solidFill>
                <a:latin typeface="Arial" pitchFamily="34" charset="0"/>
                <a:ea typeface="Arial" pitchFamily="34" charset="-122"/>
                <a:cs typeface="Arial" pitchFamily="34" charset="-120"/>
              </a:rPr>
              <a:t>Vì sao khung xương</a:t>
            </a:r>
            <a:endParaRPr lang="en-US" sz="1500" dirty="0"/>
          </a:p>
          <a:p>
            <a:pPr indent="0" marL="0">
              <a:lnSpc>
                <a:spcPts val="1900"/>
              </a:lnSpc>
              <a:buNone/>
            </a:pPr>
            <a:r>
              <a:rPr lang="en-US" sz="1500" b="1" dirty="0">
                <a:solidFill>
                  <a:srgbClr val="1E3A5F"/>
                </a:solidFill>
                <a:latin typeface="Arial" pitchFamily="34" charset="0"/>
                <a:ea typeface="Arial" pitchFamily="34" charset="-122"/>
                <a:cs typeface="Arial" pitchFamily="34" charset="-120"/>
              </a:rPr>
              <a:t>thay vì pixel</a:t>
            </a:r>
            <a:endParaRPr lang="en-US" sz="1500" dirty="0"/>
          </a:p>
        </p:txBody>
      </p:sp>
      <p:sp>
        <p:nvSpPr>
          <p:cNvPr id="41" name="Text 39"/>
          <p:cNvSpPr txBox="1"/>
          <p:nvPr/>
        </p:nvSpPr>
        <p:spPr>
          <a:xfrm>
            <a:off x="914400" y="4261104"/>
            <a:ext cx="2944368" cy="274320"/>
          </a:xfrm>
          <a:prstGeom prst="rect">
            <a:avLst/>
          </a:prstGeom>
          <a:noFill/>
          <a:ln/>
        </p:spPr>
        <p:txBody>
          <a:bodyPr wrap="square" lIns="0" tIns="0" rIns="0" bIns="0" rtlCol="0" anchor="t"/>
          <a:lstStyle/>
          <a:p>
            <a:pPr indent="0" marL="0">
              <a:buNone/>
            </a:pPr>
            <a:r>
              <a:rPr lang="en-US" sz="1300" b="1" dirty="0">
                <a:solidFill>
                  <a:srgbClr val="00806D"/>
                </a:solidFill>
                <a:latin typeface="Calibri" pitchFamily="34" charset="0"/>
                <a:ea typeface="Calibri" pitchFamily="34" charset="-122"/>
                <a:cs typeface="Calibri" pitchFamily="34" charset="-120"/>
              </a:rPr>
              <a:t>2.764.800 → ≈100</a:t>
            </a:r>
            <a:endParaRPr lang="en-US" sz="1300" dirty="0"/>
          </a:p>
        </p:txBody>
      </p:sp>
      <p:sp>
        <p:nvSpPr>
          <p:cNvPr id="42" name="Text 40"/>
          <p:cNvSpPr txBox="1"/>
          <p:nvPr/>
        </p:nvSpPr>
        <p:spPr>
          <a:xfrm>
            <a:off x="914400" y="4626864"/>
            <a:ext cx="2944368" cy="914400"/>
          </a:xfrm>
          <a:prstGeom prst="rect">
            <a:avLst/>
          </a:prstGeom>
          <a:noFill/>
          <a:ln/>
        </p:spPr>
        <p:txBody>
          <a:bodyPr wrap="square" lIns="0" tIns="0" rIns="0" bIns="0" rtlCol="0" anchor="t"/>
          <a:lstStyle/>
          <a:p>
            <a:pPr indent="0" marL="0">
              <a:lnSpc>
                <a:spcPts val="1500"/>
              </a:lnSpc>
              <a:buNone/>
            </a:pPr>
            <a:r>
              <a:rPr lang="en-US" sz="1150" dirty="0">
                <a:solidFill>
                  <a:srgbClr val="3C4A5C"/>
                </a:solidFill>
                <a:latin typeface="Calibri" pitchFamily="34" charset="0"/>
                <a:ea typeface="Calibri" pitchFamily="34" charset="-122"/>
                <a:cs typeface="Calibri" pitchFamily="34" charset="-120"/>
              </a:rPr>
              <a:t>Một khung hình màu 1280×720 có hơn 2,7 triệu con số; khung xương chỉ khoảng 100. Nhẹ hơn ~20.000 lần nên chạy được thời gian thực trên CPU.</a:t>
            </a:r>
            <a:endParaRPr lang="en-US" sz="1150" dirty="0"/>
          </a:p>
        </p:txBody>
      </p:sp>
      <p:sp>
        <p:nvSpPr>
          <p:cNvPr id="43" name="Shape 41"/>
          <p:cNvSpPr/>
          <p:nvPr/>
        </p:nvSpPr>
        <p:spPr>
          <a:xfrm>
            <a:off x="4352544" y="3401568"/>
            <a:ext cx="3493008" cy="2286000"/>
          </a:xfrm>
          <a:prstGeom prst="roundRect">
            <a:avLst>
              <a:gd name="adj" fmla="val 2400"/>
            </a:avLst>
          </a:prstGeom>
          <a:solidFill>
            <a:srgbClr val="E2F4F1"/>
          </a:solidFill>
          <a:ln w="9525">
            <a:solidFill>
              <a:srgbClr val="C8E8E2"/>
            </a:solidFill>
            <a:prstDash val="solid"/>
          </a:ln>
        </p:spPr>
      </p:sp>
      <p:sp>
        <p:nvSpPr>
          <p:cNvPr id="44" name="Text 42"/>
          <p:cNvSpPr txBox="1"/>
          <p:nvPr/>
        </p:nvSpPr>
        <p:spPr>
          <a:xfrm>
            <a:off x="4626864" y="3639312"/>
            <a:ext cx="2944368" cy="566928"/>
          </a:xfrm>
          <a:prstGeom prst="rect">
            <a:avLst/>
          </a:prstGeom>
          <a:noFill/>
          <a:ln/>
        </p:spPr>
        <p:txBody>
          <a:bodyPr wrap="square" lIns="0" tIns="0" rIns="0" bIns="0" rtlCol="0" anchor="t"/>
          <a:lstStyle/>
          <a:p>
            <a:pPr indent="0" marL="0">
              <a:lnSpc>
                <a:spcPts val="1900"/>
              </a:lnSpc>
              <a:buNone/>
            </a:pPr>
            <a:r>
              <a:rPr lang="en-US" sz="1500" b="1" dirty="0">
                <a:solidFill>
                  <a:srgbClr val="1E3A5F"/>
                </a:solidFill>
                <a:latin typeface="Arial" pitchFamily="34" charset="0"/>
                <a:ea typeface="Arial" pitchFamily="34" charset="-122"/>
                <a:cs typeface="Arial" pitchFamily="34" charset="-120"/>
              </a:rPr>
              <a:t>Cửa sổ trượt</a:t>
            </a:r>
            <a:endParaRPr lang="en-US" sz="1500" dirty="0"/>
          </a:p>
          <a:p>
            <a:pPr indent="0" marL="0">
              <a:lnSpc>
                <a:spcPts val="1900"/>
              </a:lnSpc>
              <a:buNone/>
            </a:pPr>
            <a:r>
              <a:rPr lang="en-US" sz="1500" b="1" dirty="0">
                <a:solidFill>
                  <a:srgbClr val="1E3A5F"/>
                </a:solidFill>
                <a:latin typeface="Arial" pitchFamily="34" charset="0"/>
                <a:ea typeface="Arial" pitchFamily="34" charset="-122"/>
                <a:cs typeface="Arial" pitchFamily="34" charset="-120"/>
              </a:rPr>
              <a:t>là trái tim bài toán</a:t>
            </a:r>
            <a:endParaRPr lang="en-US" sz="1500" dirty="0"/>
          </a:p>
        </p:txBody>
      </p:sp>
      <p:sp>
        <p:nvSpPr>
          <p:cNvPr id="45" name="Text 43"/>
          <p:cNvSpPr txBox="1"/>
          <p:nvPr/>
        </p:nvSpPr>
        <p:spPr>
          <a:xfrm>
            <a:off x="4626864" y="4261104"/>
            <a:ext cx="2944368" cy="274320"/>
          </a:xfrm>
          <a:prstGeom prst="rect">
            <a:avLst/>
          </a:prstGeom>
          <a:noFill/>
          <a:ln/>
        </p:spPr>
        <p:txBody>
          <a:bodyPr wrap="square" lIns="0" tIns="0" rIns="0" bIns="0" rtlCol="0" anchor="t"/>
          <a:lstStyle/>
          <a:p>
            <a:pPr indent="0" marL="0">
              <a:buNone/>
            </a:pPr>
            <a:r>
              <a:rPr lang="en-US" sz="1300" b="1" dirty="0">
                <a:solidFill>
                  <a:srgbClr val="00806D"/>
                </a:solidFill>
                <a:latin typeface="Calibri" pitchFamily="34" charset="0"/>
                <a:ea typeface="Calibri" pitchFamily="34" charset="-122"/>
                <a:cs typeface="Calibri" pitchFamily="34" charset="-120"/>
              </a:rPr>
              <a:t>30 khung ≈ 1 giây</a:t>
            </a:r>
            <a:endParaRPr lang="en-US" sz="1300" dirty="0"/>
          </a:p>
        </p:txBody>
      </p:sp>
      <p:sp>
        <p:nvSpPr>
          <p:cNvPr id="46" name="Text 44"/>
          <p:cNvSpPr txBox="1"/>
          <p:nvPr/>
        </p:nvSpPr>
        <p:spPr>
          <a:xfrm>
            <a:off x="4626864" y="4626864"/>
            <a:ext cx="2944368" cy="914400"/>
          </a:xfrm>
          <a:prstGeom prst="rect">
            <a:avLst/>
          </a:prstGeom>
          <a:noFill/>
          <a:ln/>
        </p:spPr>
        <p:txBody>
          <a:bodyPr wrap="square" lIns="0" tIns="0" rIns="0" bIns="0" rtlCol="0" anchor="t"/>
          <a:lstStyle/>
          <a:p>
            <a:pPr indent="0" marL="0">
              <a:lnSpc>
                <a:spcPts val="1500"/>
              </a:lnSpc>
              <a:buNone/>
            </a:pPr>
            <a:r>
              <a:rPr lang="en-US" sz="1150" dirty="0">
                <a:solidFill>
                  <a:srgbClr val="3C4A5C"/>
                </a:solidFill>
                <a:latin typeface="Calibri" pitchFamily="34" charset="0"/>
                <a:ea typeface="Calibri" pitchFamily="34" charset="-122"/>
                <a:cs typeface="Calibri" pitchFamily="34" charset="-120"/>
              </a:rPr>
              <a:t>Mô hình nhìn cả đoạn một giây vừa trôi qua chứ không nhìn một khung hình. Cửa sổ dịch liên tục nên nhãn được cập nhật ngay, không chờ hành động kết thúc.</a:t>
            </a:r>
            <a:endParaRPr lang="en-US" sz="1150" dirty="0"/>
          </a:p>
        </p:txBody>
      </p:sp>
      <p:sp>
        <p:nvSpPr>
          <p:cNvPr id="47" name="Shape 45"/>
          <p:cNvSpPr/>
          <p:nvPr/>
        </p:nvSpPr>
        <p:spPr>
          <a:xfrm>
            <a:off x="8065008" y="3401568"/>
            <a:ext cx="3493008" cy="2286000"/>
          </a:xfrm>
          <a:prstGeom prst="roundRect">
            <a:avLst>
              <a:gd name="adj" fmla="val 2400"/>
            </a:avLst>
          </a:prstGeom>
          <a:solidFill>
            <a:srgbClr val="F4F7FA"/>
          </a:solidFill>
          <a:ln w="9525">
            <a:solidFill>
              <a:srgbClr val="DDE4ED"/>
            </a:solidFill>
            <a:prstDash val="solid"/>
          </a:ln>
        </p:spPr>
      </p:sp>
      <p:sp>
        <p:nvSpPr>
          <p:cNvPr id="48" name="Text 46"/>
          <p:cNvSpPr txBox="1"/>
          <p:nvPr/>
        </p:nvSpPr>
        <p:spPr>
          <a:xfrm>
            <a:off x="8339328" y="3639312"/>
            <a:ext cx="2944368" cy="566928"/>
          </a:xfrm>
          <a:prstGeom prst="rect">
            <a:avLst/>
          </a:prstGeom>
          <a:noFill/>
          <a:ln/>
        </p:spPr>
        <p:txBody>
          <a:bodyPr wrap="square" lIns="0" tIns="0" rIns="0" bIns="0" rtlCol="0" anchor="t"/>
          <a:lstStyle/>
          <a:p>
            <a:pPr indent="0" marL="0">
              <a:lnSpc>
                <a:spcPts val="1900"/>
              </a:lnSpc>
              <a:buNone/>
            </a:pPr>
            <a:r>
              <a:rPr lang="en-US" sz="1500" b="1" dirty="0">
                <a:solidFill>
                  <a:srgbClr val="1E3A5F"/>
                </a:solidFill>
                <a:latin typeface="Arial" pitchFamily="34" charset="0"/>
                <a:ea typeface="Arial" pitchFamily="34" charset="-122"/>
                <a:cs typeface="Arial" pitchFamily="34" charset="-120"/>
              </a:rPr>
              <a:t>Hai mô hình</a:t>
            </a:r>
            <a:endParaRPr lang="en-US" sz="1500" dirty="0"/>
          </a:p>
          <a:p>
            <a:pPr indent="0" marL="0">
              <a:lnSpc>
                <a:spcPts val="1900"/>
              </a:lnSpc>
              <a:buNone/>
            </a:pPr>
            <a:r>
              <a:rPr lang="en-US" sz="1500" b="1" dirty="0">
                <a:solidFill>
                  <a:srgbClr val="1E3A5F"/>
                </a:solidFill>
                <a:latin typeface="Arial" pitchFamily="34" charset="0"/>
                <a:ea typeface="Arial" pitchFamily="34" charset="-122"/>
                <a:cs typeface="Arial" pitchFamily="34" charset="-120"/>
              </a:rPr>
              <a:t>sẽ so sánh</a:t>
            </a:r>
            <a:endParaRPr lang="en-US" sz="1500" dirty="0"/>
          </a:p>
        </p:txBody>
      </p:sp>
      <p:sp>
        <p:nvSpPr>
          <p:cNvPr id="49" name="Text 47"/>
          <p:cNvSpPr txBox="1"/>
          <p:nvPr/>
        </p:nvSpPr>
        <p:spPr>
          <a:xfrm>
            <a:off x="8339328" y="4261104"/>
            <a:ext cx="2944368" cy="274320"/>
          </a:xfrm>
          <a:prstGeom prst="rect">
            <a:avLst/>
          </a:prstGeom>
          <a:noFill/>
          <a:ln/>
        </p:spPr>
        <p:txBody>
          <a:bodyPr wrap="square" lIns="0" tIns="0" rIns="0" bIns="0" rtlCol="0" anchor="t"/>
          <a:lstStyle/>
          <a:p>
            <a:pPr indent="0" marL="0">
              <a:buNone/>
            </a:pPr>
            <a:r>
              <a:rPr lang="en-US" sz="1300" b="1" dirty="0">
                <a:solidFill>
                  <a:srgbClr val="00806D"/>
                </a:solidFill>
                <a:latin typeface="Calibri" pitchFamily="34" charset="0"/>
                <a:ea typeface="Calibri" pitchFamily="34" charset="-122"/>
                <a:cs typeface="Calibri" pitchFamily="34" charset="-120"/>
              </a:rPr>
              <a:t>Rừng ngẫu nhiên → LSTM</a:t>
            </a:r>
            <a:endParaRPr lang="en-US" sz="1300" dirty="0"/>
          </a:p>
        </p:txBody>
      </p:sp>
      <p:sp>
        <p:nvSpPr>
          <p:cNvPr id="50" name="Text 48"/>
          <p:cNvSpPr txBox="1"/>
          <p:nvPr/>
        </p:nvSpPr>
        <p:spPr>
          <a:xfrm>
            <a:off x="8339328" y="4626864"/>
            <a:ext cx="2944368" cy="914400"/>
          </a:xfrm>
          <a:prstGeom prst="rect">
            <a:avLst/>
          </a:prstGeom>
          <a:noFill/>
          <a:ln/>
        </p:spPr>
        <p:txBody>
          <a:bodyPr wrap="square" lIns="0" tIns="0" rIns="0" bIns="0" rtlCol="0" anchor="t"/>
          <a:lstStyle/>
          <a:p>
            <a:pPr indent="0" marL="0">
              <a:lnSpc>
                <a:spcPts val="1500"/>
              </a:lnSpc>
              <a:buNone/>
            </a:pPr>
            <a:r>
              <a:rPr lang="en-US" sz="1150" dirty="0">
                <a:solidFill>
                  <a:srgbClr val="3C4A5C"/>
                </a:solidFill>
                <a:latin typeface="Calibri" pitchFamily="34" charset="0"/>
                <a:ea typeface="Calibri" pitchFamily="34" charset="-122"/>
                <a:cs typeface="Calibri" pitchFamily="34" charset="-120"/>
              </a:rPr>
              <a:t>Bắt đầu bằng đặc trưng thủ công cộng rừng ngẫu nhiên để có hệ thống chạy được sớm, sau đó mới huấn luyện LSTM và so sánh hai bên.</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911535" cy="237744"/>
          </a:xfrm>
          <a:prstGeom prst="rect">
            <a:avLst/>
          </a:prstGeom>
          <a:noFill/>
          <a:ln/>
        </p:spPr>
        <p:txBody>
          <a:bodyPr wrap="square" lIns="0" tIns="0" rIns="0" bIns="0" rtlCol="0" anchor="t"/>
          <a:lstStyle/>
          <a:p>
            <a:pPr indent="0" marL="0">
              <a:buNone/>
            </a:pPr>
            <a:r>
              <a:rPr lang="en-US" sz="1100" b="1" spc="160" kern="0" dirty="0">
                <a:solidFill>
                  <a:srgbClr val="00A88F"/>
                </a:solidFill>
                <a:latin typeface="Calibri" pitchFamily="34" charset="0"/>
                <a:ea typeface="Calibri" pitchFamily="34" charset="-122"/>
                <a:cs typeface="Calibri" pitchFamily="34" charset="-120"/>
              </a:rPr>
              <a:t>KẾ HOẠCH THỰC HIỆN</a:t>
            </a:r>
            <a:endParaRPr lang="en-US" sz="1100" dirty="0"/>
          </a:p>
        </p:txBody>
      </p:sp>
      <p:sp>
        <p:nvSpPr>
          <p:cNvPr id="3" name="Text 1"/>
          <p:cNvSpPr txBox="1"/>
          <p:nvPr/>
        </p:nvSpPr>
        <p:spPr>
          <a:xfrm>
            <a:off x="640080" y="658368"/>
            <a:ext cx="10911535" cy="566928"/>
          </a:xfrm>
          <a:prstGeom prst="rect">
            <a:avLst/>
          </a:prstGeom>
          <a:noFill/>
          <a:ln/>
        </p:spPr>
        <p:txBody>
          <a:bodyPr wrap="square" lIns="0" tIns="0" rIns="0" bIns="0" rtlCol="0" anchor="t"/>
          <a:lstStyle/>
          <a:p>
            <a:pPr indent="0" marL="0">
              <a:buNone/>
            </a:pPr>
            <a:r>
              <a:rPr lang="en-US" sz="3200" b="1" dirty="0">
                <a:solidFill>
                  <a:srgbClr val="1E3A5F"/>
                </a:solidFill>
                <a:latin typeface="Arial" pitchFamily="34" charset="0"/>
                <a:ea typeface="Arial" pitchFamily="34" charset="-122"/>
                <a:cs typeface="Arial" pitchFamily="34" charset="-120"/>
              </a:rPr>
              <a:t>Kế hoạch theo sáu mốc báo cáo</a:t>
            </a:r>
            <a:endParaRPr lang="en-US" sz="3200" dirty="0"/>
          </a:p>
        </p:txBody>
      </p:sp>
      <p:sp>
        <p:nvSpPr>
          <p:cNvPr id="4" name="Text 2"/>
          <p:cNvSpPr txBox="1"/>
          <p:nvPr/>
        </p:nvSpPr>
        <p:spPr>
          <a:xfrm>
            <a:off x="640080" y="1280160"/>
            <a:ext cx="10911535" cy="274320"/>
          </a:xfrm>
          <a:prstGeom prst="rect">
            <a:avLst/>
          </a:prstGeom>
          <a:noFill/>
          <a:ln/>
        </p:spPr>
        <p:txBody>
          <a:bodyPr wrap="square" lIns="0" tIns="0" rIns="0" bIns="0" rtlCol="0" anchor="t"/>
          <a:lstStyle/>
          <a:p>
            <a:pPr indent="0" marL="0">
              <a:buNone/>
            </a:pPr>
            <a:r>
              <a:rPr lang="en-US" sz="1250" i="1" dirty="0">
                <a:solidFill>
                  <a:srgbClr val="7A8698"/>
                </a:solidFill>
                <a:latin typeface="Calibri" pitchFamily="34" charset="0"/>
                <a:ea typeface="Calibri" pitchFamily="34" charset="-122"/>
                <a:cs typeface="Calibri" pitchFamily="34" charset="-120"/>
              </a:rPr>
              <a:t>Buổi 10/09 là buổi 1. Năm giai đoạn sau chạy song song hai luồng — lý thuyết và thực hiện — khép lại bằng một buổi báo cáo.</a:t>
            </a:r>
            <a:endParaRPr lang="en-US" sz="1250" dirty="0"/>
          </a:p>
        </p:txBody>
      </p:sp>
      <p:sp>
        <p:nvSpPr>
          <p:cNvPr id="5" name="Shape 3"/>
          <p:cNvSpPr/>
          <p:nvPr/>
        </p:nvSpPr>
        <p:spPr>
          <a:xfrm>
            <a:off x="1828800" y="1645920"/>
            <a:ext cx="1856781" cy="475488"/>
          </a:xfrm>
          <a:prstGeom prst="roundRect">
            <a:avLst>
              <a:gd name="adj" fmla="val 11538"/>
            </a:avLst>
          </a:prstGeom>
          <a:solidFill>
            <a:srgbClr val="1E3A5F"/>
          </a:solidFill>
          <a:ln w="12700">
            <a:solidFill>
              <a:srgbClr val="1E3A5F"/>
            </a:solidFill>
            <a:prstDash val="solid"/>
          </a:ln>
        </p:spPr>
      </p:sp>
      <p:sp>
        <p:nvSpPr>
          <p:cNvPr id="6" name="Text 4"/>
          <p:cNvSpPr txBox="1"/>
          <p:nvPr/>
        </p:nvSpPr>
        <p:spPr>
          <a:xfrm>
            <a:off x="1828800" y="1700784"/>
            <a:ext cx="1856781" cy="21945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Buổi 2  ·  24/09</a:t>
            </a:r>
            <a:endParaRPr lang="en-US" sz="1100" dirty="0"/>
          </a:p>
        </p:txBody>
      </p:sp>
      <p:sp>
        <p:nvSpPr>
          <p:cNvPr id="7" name="Text 5"/>
          <p:cNvSpPr txBox="1"/>
          <p:nvPr/>
        </p:nvSpPr>
        <p:spPr>
          <a:xfrm>
            <a:off x="1828800" y="1911096"/>
            <a:ext cx="1856781" cy="182880"/>
          </a:xfrm>
          <a:prstGeom prst="rect">
            <a:avLst/>
          </a:prstGeom>
          <a:noFill/>
          <a:ln/>
        </p:spPr>
        <p:txBody>
          <a:bodyPr wrap="square" lIns="0" tIns="0" rIns="0" bIns="0" rtlCol="0" anchor="ctr"/>
          <a:lstStyle/>
          <a:p>
            <a:pPr algn="ctr" indent="0" marL="0">
              <a:buNone/>
            </a:pPr>
            <a:r>
              <a:rPr lang="en-US" sz="850" dirty="0">
                <a:solidFill>
                  <a:srgbClr val="9BAABF"/>
                </a:solidFill>
                <a:latin typeface="Calibri" pitchFamily="34" charset="0"/>
                <a:ea typeface="Calibri" pitchFamily="34" charset="-122"/>
                <a:cs typeface="Calibri" pitchFamily="34" charset="-120"/>
              </a:rPr>
              <a:t>11/09 – 24/09</a:t>
            </a:r>
            <a:endParaRPr lang="en-US" sz="850" dirty="0"/>
          </a:p>
        </p:txBody>
      </p:sp>
      <p:sp>
        <p:nvSpPr>
          <p:cNvPr id="8" name="Shape 6"/>
          <p:cNvSpPr/>
          <p:nvPr/>
        </p:nvSpPr>
        <p:spPr>
          <a:xfrm>
            <a:off x="3795309" y="1645920"/>
            <a:ext cx="1856781" cy="475488"/>
          </a:xfrm>
          <a:prstGeom prst="roundRect">
            <a:avLst>
              <a:gd name="adj" fmla="val 11538"/>
            </a:avLst>
          </a:prstGeom>
          <a:solidFill>
            <a:srgbClr val="1E3A5F"/>
          </a:solidFill>
          <a:ln w="12700">
            <a:solidFill>
              <a:srgbClr val="1E3A5F"/>
            </a:solidFill>
            <a:prstDash val="solid"/>
          </a:ln>
        </p:spPr>
      </p:sp>
      <p:sp>
        <p:nvSpPr>
          <p:cNvPr id="9" name="Text 7"/>
          <p:cNvSpPr txBox="1"/>
          <p:nvPr/>
        </p:nvSpPr>
        <p:spPr>
          <a:xfrm>
            <a:off x="3795309" y="1700784"/>
            <a:ext cx="1856781" cy="21945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Buổi 3  ·  08/10</a:t>
            </a:r>
            <a:endParaRPr lang="en-US" sz="1100" dirty="0"/>
          </a:p>
        </p:txBody>
      </p:sp>
      <p:sp>
        <p:nvSpPr>
          <p:cNvPr id="10" name="Text 8"/>
          <p:cNvSpPr txBox="1"/>
          <p:nvPr/>
        </p:nvSpPr>
        <p:spPr>
          <a:xfrm>
            <a:off x="3795309" y="1911096"/>
            <a:ext cx="1856781" cy="182880"/>
          </a:xfrm>
          <a:prstGeom prst="rect">
            <a:avLst/>
          </a:prstGeom>
          <a:noFill/>
          <a:ln/>
        </p:spPr>
        <p:txBody>
          <a:bodyPr wrap="square" lIns="0" tIns="0" rIns="0" bIns="0" rtlCol="0" anchor="ctr"/>
          <a:lstStyle/>
          <a:p>
            <a:pPr algn="ctr" indent="0" marL="0">
              <a:buNone/>
            </a:pPr>
            <a:r>
              <a:rPr lang="en-US" sz="850" dirty="0">
                <a:solidFill>
                  <a:srgbClr val="9BAABF"/>
                </a:solidFill>
                <a:latin typeface="Calibri" pitchFamily="34" charset="0"/>
                <a:ea typeface="Calibri" pitchFamily="34" charset="-122"/>
                <a:cs typeface="Calibri" pitchFamily="34" charset="-120"/>
              </a:rPr>
              <a:t>25/09 – 08/10</a:t>
            </a:r>
            <a:endParaRPr lang="en-US" sz="850" dirty="0"/>
          </a:p>
        </p:txBody>
      </p:sp>
      <p:sp>
        <p:nvSpPr>
          <p:cNvPr id="11" name="Shape 9"/>
          <p:cNvSpPr/>
          <p:nvPr/>
        </p:nvSpPr>
        <p:spPr>
          <a:xfrm>
            <a:off x="5761817" y="1645920"/>
            <a:ext cx="1856781" cy="475488"/>
          </a:xfrm>
          <a:prstGeom prst="roundRect">
            <a:avLst>
              <a:gd name="adj" fmla="val 11538"/>
            </a:avLst>
          </a:prstGeom>
          <a:solidFill>
            <a:srgbClr val="00806D"/>
          </a:solidFill>
          <a:ln w="12700">
            <a:solidFill>
              <a:srgbClr val="00806D"/>
            </a:solidFill>
            <a:prstDash val="solid"/>
          </a:ln>
        </p:spPr>
      </p:sp>
      <p:sp>
        <p:nvSpPr>
          <p:cNvPr id="12" name="Text 10"/>
          <p:cNvSpPr txBox="1"/>
          <p:nvPr/>
        </p:nvSpPr>
        <p:spPr>
          <a:xfrm>
            <a:off x="5761817" y="1700784"/>
            <a:ext cx="1856781" cy="21945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Buổi 4  ·  22/10</a:t>
            </a:r>
            <a:endParaRPr lang="en-US" sz="1100" dirty="0"/>
          </a:p>
        </p:txBody>
      </p:sp>
      <p:sp>
        <p:nvSpPr>
          <p:cNvPr id="13" name="Text 11"/>
          <p:cNvSpPr txBox="1"/>
          <p:nvPr/>
        </p:nvSpPr>
        <p:spPr>
          <a:xfrm>
            <a:off x="5761817" y="1911096"/>
            <a:ext cx="1856781" cy="182880"/>
          </a:xfrm>
          <a:prstGeom prst="rect">
            <a:avLst/>
          </a:prstGeom>
          <a:noFill/>
          <a:ln/>
        </p:spPr>
        <p:txBody>
          <a:bodyPr wrap="square" lIns="0" tIns="0" rIns="0" bIns="0" rtlCol="0" anchor="ctr"/>
          <a:lstStyle/>
          <a:p>
            <a:pPr algn="ctr" indent="0" marL="0">
              <a:buNone/>
            </a:pPr>
            <a:r>
              <a:rPr lang="en-US" sz="850" dirty="0">
                <a:solidFill>
                  <a:srgbClr val="B6E8DF"/>
                </a:solidFill>
                <a:latin typeface="Calibri" pitchFamily="34" charset="0"/>
                <a:ea typeface="Calibri" pitchFamily="34" charset="-122"/>
                <a:cs typeface="Calibri" pitchFamily="34" charset="-120"/>
              </a:rPr>
              <a:t>09/10 – 22/10</a:t>
            </a:r>
            <a:endParaRPr lang="en-US" sz="850" dirty="0"/>
          </a:p>
        </p:txBody>
      </p:sp>
      <p:sp>
        <p:nvSpPr>
          <p:cNvPr id="14" name="Shape 12"/>
          <p:cNvSpPr/>
          <p:nvPr/>
        </p:nvSpPr>
        <p:spPr>
          <a:xfrm>
            <a:off x="7728326" y="1645920"/>
            <a:ext cx="1856781" cy="475488"/>
          </a:xfrm>
          <a:prstGeom prst="roundRect">
            <a:avLst>
              <a:gd name="adj" fmla="val 11538"/>
            </a:avLst>
          </a:prstGeom>
          <a:solidFill>
            <a:srgbClr val="1E3A5F"/>
          </a:solidFill>
          <a:ln w="12700">
            <a:solidFill>
              <a:srgbClr val="1E3A5F"/>
            </a:solidFill>
            <a:prstDash val="solid"/>
          </a:ln>
        </p:spPr>
      </p:sp>
      <p:sp>
        <p:nvSpPr>
          <p:cNvPr id="15" name="Text 13"/>
          <p:cNvSpPr txBox="1"/>
          <p:nvPr/>
        </p:nvSpPr>
        <p:spPr>
          <a:xfrm>
            <a:off x="7728326" y="1700784"/>
            <a:ext cx="1856781" cy="21945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Buổi 5  ·  05/11</a:t>
            </a:r>
            <a:endParaRPr lang="en-US" sz="1100" dirty="0"/>
          </a:p>
        </p:txBody>
      </p:sp>
      <p:sp>
        <p:nvSpPr>
          <p:cNvPr id="16" name="Text 14"/>
          <p:cNvSpPr txBox="1"/>
          <p:nvPr/>
        </p:nvSpPr>
        <p:spPr>
          <a:xfrm>
            <a:off x="7728326" y="1911096"/>
            <a:ext cx="1856781" cy="182880"/>
          </a:xfrm>
          <a:prstGeom prst="rect">
            <a:avLst/>
          </a:prstGeom>
          <a:noFill/>
          <a:ln/>
        </p:spPr>
        <p:txBody>
          <a:bodyPr wrap="square" lIns="0" tIns="0" rIns="0" bIns="0" rtlCol="0" anchor="ctr"/>
          <a:lstStyle/>
          <a:p>
            <a:pPr algn="ctr" indent="0" marL="0">
              <a:buNone/>
            </a:pPr>
            <a:r>
              <a:rPr lang="en-US" sz="850" dirty="0">
                <a:solidFill>
                  <a:srgbClr val="9BAABF"/>
                </a:solidFill>
                <a:latin typeface="Calibri" pitchFamily="34" charset="0"/>
                <a:ea typeface="Calibri" pitchFamily="34" charset="-122"/>
                <a:cs typeface="Calibri" pitchFamily="34" charset="-120"/>
              </a:rPr>
              <a:t>23/10 – 05/11</a:t>
            </a:r>
            <a:endParaRPr lang="en-US" sz="850" dirty="0"/>
          </a:p>
        </p:txBody>
      </p:sp>
      <p:sp>
        <p:nvSpPr>
          <p:cNvPr id="17" name="Shape 15"/>
          <p:cNvSpPr/>
          <p:nvPr/>
        </p:nvSpPr>
        <p:spPr>
          <a:xfrm>
            <a:off x="9694835" y="1645920"/>
            <a:ext cx="1856781" cy="475488"/>
          </a:xfrm>
          <a:prstGeom prst="roundRect">
            <a:avLst>
              <a:gd name="adj" fmla="val 11538"/>
            </a:avLst>
          </a:prstGeom>
          <a:solidFill>
            <a:srgbClr val="1E3A5F"/>
          </a:solidFill>
          <a:ln w="12700">
            <a:solidFill>
              <a:srgbClr val="1E3A5F"/>
            </a:solidFill>
            <a:prstDash val="solid"/>
          </a:ln>
        </p:spPr>
      </p:sp>
      <p:sp>
        <p:nvSpPr>
          <p:cNvPr id="18" name="Text 16"/>
          <p:cNvSpPr txBox="1"/>
          <p:nvPr/>
        </p:nvSpPr>
        <p:spPr>
          <a:xfrm>
            <a:off x="9694835" y="1700784"/>
            <a:ext cx="1856781" cy="21945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Buổi 6  ·  12/11</a:t>
            </a:r>
            <a:endParaRPr lang="en-US" sz="1100" dirty="0"/>
          </a:p>
        </p:txBody>
      </p:sp>
      <p:sp>
        <p:nvSpPr>
          <p:cNvPr id="19" name="Text 17"/>
          <p:cNvSpPr txBox="1"/>
          <p:nvPr/>
        </p:nvSpPr>
        <p:spPr>
          <a:xfrm>
            <a:off x="9694835" y="1911096"/>
            <a:ext cx="1856781" cy="182880"/>
          </a:xfrm>
          <a:prstGeom prst="rect">
            <a:avLst/>
          </a:prstGeom>
          <a:noFill/>
          <a:ln/>
        </p:spPr>
        <p:txBody>
          <a:bodyPr wrap="square" lIns="0" tIns="0" rIns="0" bIns="0" rtlCol="0" anchor="ctr"/>
          <a:lstStyle/>
          <a:p>
            <a:pPr algn="ctr" indent="0" marL="0">
              <a:buNone/>
            </a:pPr>
            <a:r>
              <a:rPr lang="en-US" sz="850" dirty="0">
                <a:solidFill>
                  <a:srgbClr val="9BAABF"/>
                </a:solidFill>
                <a:latin typeface="Calibri" pitchFamily="34" charset="0"/>
                <a:ea typeface="Calibri" pitchFamily="34" charset="-122"/>
                <a:cs typeface="Calibri" pitchFamily="34" charset="-120"/>
              </a:rPr>
              <a:t>06/11 – 12/11</a:t>
            </a:r>
            <a:endParaRPr lang="en-US" sz="850" dirty="0"/>
          </a:p>
        </p:txBody>
      </p:sp>
      <p:sp>
        <p:nvSpPr>
          <p:cNvPr id="20" name="Text 18"/>
          <p:cNvSpPr txBox="1"/>
          <p:nvPr/>
        </p:nvSpPr>
        <p:spPr>
          <a:xfrm>
            <a:off x="640080" y="1645920"/>
            <a:ext cx="1051560" cy="475488"/>
          </a:xfrm>
          <a:prstGeom prst="rect">
            <a:avLst/>
          </a:prstGeom>
          <a:noFill/>
          <a:ln/>
        </p:spPr>
        <p:txBody>
          <a:bodyPr wrap="square" lIns="0" tIns="0" rIns="0" bIns="0" rtlCol="0" anchor="ctr"/>
          <a:lstStyle/>
          <a:p>
            <a:pPr indent="0" marL="0">
              <a:buNone/>
            </a:pPr>
            <a:r>
              <a:rPr lang="en-US" sz="950" b="1" spc="120" kern="0" dirty="0">
                <a:solidFill>
                  <a:srgbClr val="7A8698"/>
                </a:solidFill>
                <a:latin typeface="Calibri" pitchFamily="34" charset="0"/>
                <a:ea typeface="Calibri" pitchFamily="34" charset="-122"/>
                <a:cs typeface="Calibri" pitchFamily="34" charset="-120"/>
              </a:rPr>
              <a:t>MỐC BÁO CÁO</a:t>
            </a:r>
            <a:endParaRPr lang="en-US" sz="950" dirty="0"/>
          </a:p>
        </p:txBody>
      </p:sp>
      <p:sp>
        <p:nvSpPr>
          <p:cNvPr id="21" name="Text 19"/>
          <p:cNvSpPr txBox="1"/>
          <p:nvPr/>
        </p:nvSpPr>
        <p:spPr>
          <a:xfrm>
            <a:off x="640080" y="2212848"/>
            <a:ext cx="1051560" cy="1481328"/>
          </a:xfrm>
          <a:prstGeom prst="rect">
            <a:avLst/>
          </a:prstGeom>
          <a:noFill/>
          <a:ln/>
        </p:spPr>
        <p:txBody>
          <a:bodyPr wrap="square" lIns="0" tIns="0" rIns="0" bIns="0" rtlCol="0" anchor="ctr"/>
          <a:lstStyle/>
          <a:p>
            <a:pPr indent="0" marL="0">
              <a:lnSpc>
                <a:spcPts val="1300"/>
              </a:lnSpc>
              <a:buNone/>
            </a:pPr>
            <a:r>
              <a:rPr lang="en-US" sz="950" b="1" spc="120" kern="0" dirty="0">
                <a:solidFill>
                  <a:srgbClr val="00806D"/>
                </a:solidFill>
                <a:latin typeface="Calibri" pitchFamily="34" charset="0"/>
                <a:ea typeface="Calibri" pitchFamily="34" charset="-122"/>
                <a:cs typeface="Calibri" pitchFamily="34" charset="-120"/>
              </a:rPr>
              <a:t>LÝ THUYẾT</a:t>
            </a:r>
            <a:endParaRPr lang="en-US" sz="950" dirty="0"/>
          </a:p>
          <a:p>
            <a:pPr indent="0" marL="0">
              <a:lnSpc>
                <a:spcPts val="1300"/>
              </a:lnSpc>
              <a:buNone/>
            </a:pPr>
            <a:r>
              <a:rPr lang="en-US" sz="950" b="1" spc="120" kern="0" dirty="0">
                <a:solidFill>
                  <a:srgbClr val="00806D"/>
                </a:solidFill>
                <a:latin typeface="Calibri" pitchFamily="34" charset="0"/>
                <a:ea typeface="Calibri" pitchFamily="34" charset="-122"/>
                <a:cs typeface="Calibri" pitchFamily="34" charset="-120"/>
              </a:rPr>
              <a:t>TÌM HIỂU</a:t>
            </a:r>
            <a:endParaRPr lang="en-US" sz="950" dirty="0"/>
          </a:p>
        </p:txBody>
      </p:sp>
      <p:sp>
        <p:nvSpPr>
          <p:cNvPr id="22" name="Shape 20"/>
          <p:cNvSpPr/>
          <p:nvPr/>
        </p:nvSpPr>
        <p:spPr>
          <a:xfrm>
            <a:off x="1828800" y="2212848"/>
            <a:ext cx="1856781" cy="1481328"/>
          </a:xfrm>
          <a:prstGeom prst="roundRect">
            <a:avLst>
              <a:gd name="adj" fmla="val 3704"/>
            </a:avLst>
          </a:prstGeom>
          <a:solidFill>
            <a:srgbClr val="E2F4F1"/>
          </a:solidFill>
          <a:ln w="9525">
            <a:solidFill>
              <a:srgbClr val="C8E8E2"/>
            </a:solidFill>
            <a:prstDash val="solid"/>
          </a:ln>
        </p:spPr>
      </p:sp>
      <p:sp>
        <p:nvSpPr>
          <p:cNvPr id="23" name="Text 21"/>
          <p:cNvSpPr txBox="1"/>
          <p:nvPr/>
        </p:nvSpPr>
        <p:spPr>
          <a:xfrm>
            <a:off x="1956816" y="2340864"/>
            <a:ext cx="1600749" cy="384048"/>
          </a:xfrm>
          <a:prstGeom prst="rect">
            <a:avLst/>
          </a:prstGeom>
          <a:noFill/>
          <a:ln/>
        </p:spPr>
        <p:txBody>
          <a:bodyPr wrap="square" lIns="0" tIns="0" rIns="0" bIns="0" rtlCol="0" anchor="t"/>
          <a:lstStyle/>
          <a:p>
            <a:pPr indent="0" marL="0">
              <a:lnSpc>
                <a:spcPts val="1200"/>
              </a:lnSpc>
              <a:buNone/>
            </a:pPr>
            <a:r>
              <a:rPr lang="en-US" sz="1000" b="1" dirty="0">
                <a:solidFill>
                  <a:srgbClr val="00806D"/>
                </a:solidFill>
                <a:latin typeface="Calibri" pitchFamily="34" charset="0"/>
                <a:ea typeface="Calibri" pitchFamily="34" charset="-122"/>
                <a:cs typeface="Calibri" pitchFamily="34" charset="-120"/>
              </a:rPr>
              <a:t>Tầng 1–2 · Ảnh số, ước lượng tư thế</a:t>
            </a:r>
            <a:endParaRPr lang="en-US" sz="1000" dirty="0"/>
          </a:p>
        </p:txBody>
      </p:sp>
      <p:sp>
        <p:nvSpPr>
          <p:cNvPr id="24" name="Text 22"/>
          <p:cNvSpPr txBox="1"/>
          <p:nvPr/>
        </p:nvSpPr>
        <p:spPr>
          <a:xfrm>
            <a:off x="1956816" y="2761488"/>
            <a:ext cx="1619037" cy="841248"/>
          </a:xfrm>
          <a:prstGeom prst="rect">
            <a:avLst/>
          </a:prstGeom>
          <a:noFill/>
          <a:ln/>
        </p:spPr>
        <p:txBody>
          <a:bodyPr wrap="square" lIns="0" tIns="0" rIns="0" bIns="0" rtlCol="0" anchor="t"/>
          <a:lstStyle/>
          <a:p>
            <a:pPr marL="177800" indent="-177800">
              <a:lnSpc>
                <a:spcPts val="1100"/>
              </a:lnSpc>
              <a:spcAft>
                <a:spcPts val="250"/>
              </a:spcAft>
              <a:buSzPct val="100000"/>
              <a:buChar char="•"/>
            </a:pPr>
            <a:r>
              <a:rPr lang="en-US" sz="900" dirty="0">
                <a:solidFill>
                  <a:srgbClr val="3C4A5C"/>
                </a:solidFill>
                <a:latin typeface="Calibri" pitchFamily="34" charset="0"/>
                <a:ea typeface="Calibri" pitchFamily="34" charset="-122"/>
                <a:cs typeface="Calibri" pitchFamily="34" charset="-120"/>
              </a:rPr>
              <a:t>pixel, kênh màu, BGR/RGB, FPS</a:t>
            </a:r>
            <a:endParaRPr lang="en-US" sz="900" dirty="0"/>
          </a:p>
          <a:p>
            <a:pPr marL="177800" indent="-177800">
              <a:lnSpc>
                <a:spcPts val="1100"/>
              </a:lnSpc>
              <a:spcAft>
                <a:spcPts val="250"/>
              </a:spcAft>
              <a:buSzPct val="100000"/>
              <a:buChar char="•"/>
            </a:pPr>
            <a:r>
              <a:rPr lang="en-US" sz="900" dirty="0">
                <a:solidFill>
                  <a:srgbClr val="3C4A5C"/>
                </a:solidFill>
                <a:latin typeface="Calibri" pitchFamily="34" charset="0"/>
                <a:ea typeface="Calibri" pitchFamily="34" charset="-122"/>
                <a:cs typeface="Calibri" pitchFamily="34" charset="-120"/>
              </a:rPr>
              <a:t>keypoint, bản đồ nhiệt, điểm tin cậy</a:t>
            </a:r>
            <a:endParaRPr lang="en-US" sz="900" dirty="0"/>
          </a:p>
          <a:p>
            <a:pPr marL="177800" indent="-177800">
              <a:lnSpc>
                <a:spcPts val="1100"/>
              </a:lnSpc>
              <a:spcAft>
                <a:spcPts val="250"/>
              </a:spcAft>
              <a:buSzPct val="100000"/>
              <a:buChar char="•"/>
            </a:pPr>
            <a:r>
              <a:rPr lang="en-US" sz="900" dirty="0">
                <a:solidFill>
                  <a:srgbClr val="3C4A5C"/>
                </a:solidFill>
                <a:latin typeface="Calibri" pitchFamily="34" charset="0"/>
                <a:ea typeface="Calibri" pitchFamily="34" charset="-122"/>
                <a:cs typeface="Calibri" pitchFamily="34" charset="-120"/>
              </a:rPr>
              <a:t>top-down vs bottom-up, BlazePose</a:t>
            </a:r>
            <a:endParaRPr lang="en-US" sz="900" dirty="0"/>
          </a:p>
        </p:txBody>
      </p:sp>
      <p:sp>
        <p:nvSpPr>
          <p:cNvPr id="25" name="Shape 23"/>
          <p:cNvSpPr/>
          <p:nvPr/>
        </p:nvSpPr>
        <p:spPr>
          <a:xfrm>
            <a:off x="3795309" y="2212848"/>
            <a:ext cx="1856781" cy="1481328"/>
          </a:xfrm>
          <a:prstGeom prst="roundRect">
            <a:avLst>
              <a:gd name="adj" fmla="val 3704"/>
            </a:avLst>
          </a:prstGeom>
          <a:solidFill>
            <a:srgbClr val="E2F4F1"/>
          </a:solidFill>
          <a:ln w="9525">
            <a:solidFill>
              <a:srgbClr val="C8E8E2"/>
            </a:solidFill>
            <a:prstDash val="solid"/>
          </a:ln>
        </p:spPr>
      </p:sp>
      <p:sp>
        <p:nvSpPr>
          <p:cNvPr id="26" name="Text 24"/>
          <p:cNvSpPr txBox="1"/>
          <p:nvPr/>
        </p:nvSpPr>
        <p:spPr>
          <a:xfrm>
            <a:off x="3923325" y="2340864"/>
            <a:ext cx="1600749" cy="384048"/>
          </a:xfrm>
          <a:prstGeom prst="rect">
            <a:avLst/>
          </a:prstGeom>
          <a:noFill/>
          <a:ln/>
        </p:spPr>
        <p:txBody>
          <a:bodyPr wrap="square" lIns="0" tIns="0" rIns="0" bIns="0" rtlCol="0" anchor="t"/>
          <a:lstStyle/>
          <a:p>
            <a:pPr indent="0" marL="0">
              <a:lnSpc>
                <a:spcPts val="1200"/>
              </a:lnSpc>
              <a:buNone/>
            </a:pPr>
            <a:r>
              <a:rPr lang="en-US" sz="1000" b="1" dirty="0">
                <a:solidFill>
                  <a:srgbClr val="00806D"/>
                </a:solidFill>
                <a:latin typeface="Calibri" pitchFamily="34" charset="0"/>
                <a:ea typeface="Calibri" pitchFamily="34" charset="-122"/>
                <a:cs typeface="Calibri" pitchFamily="34" charset="-120"/>
              </a:rPr>
              <a:t>Tầng 3 · Biểu diễn khung xương</a:t>
            </a:r>
            <a:endParaRPr lang="en-US" sz="1000" dirty="0"/>
          </a:p>
        </p:txBody>
      </p:sp>
      <p:sp>
        <p:nvSpPr>
          <p:cNvPr id="27" name="Text 25"/>
          <p:cNvSpPr txBox="1"/>
          <p:nvPr/>
        </p:nvSpPr>
        <p:spPr>
          <a:xfrm>
            <a:off x="3923325" y="2761488"/>
            <a:ext cx="1619037" cy="841248"/>
          </a:xfrm>
          <a:prstGeom prst="rect">
            <a:avLst/>
          </a:prstGeom>
          <a:noFill/>
          <a:ln/>
        </p:spPr>
        <p:txBody>
          <a:bodyPr wrap="square" lIns="0" tIns="0" rIns="0" bIns="0" rtlCol="0" anchor="t"/>
          <a:lstStyle/>
          <a:p>
            <a:pPr marL="177800" indent="-177800">
              <a:lnSpc>
                <a:spcPts val="1100"/>
              </a:lnSpc>
              <a:spcAft>
                <a:spcPts val="250"/>
              </a:spcAft>
              <a:buSzPct val="100000"/>
              <a:buChar char="•"/>
            </a:pPr>
            <a:r>
              <a:rPr lang="en-US" sz="900" dirty="0">
                <a:solidFill>
                  <a:srgbClr val="3C4A5C"/>
                </a:solidFill>
                <a:latin typeface="Calibri" pitchFamily="34" charset="0"/>
                <a:ea typeface="Calibri" pitchFamily="34" charset="-122"/>
                <a:cs typeface="Calibri" pitchFamily="34" charset="-120"/>
              </a:rPr>
              <a:t>chuẩn hóa tịnh tiến và tỉ lệ</a:t>
            </a:r>
            <a:endParaRPr lang="en-US" sz="900" dirty="0"/>
          </a:p>
          <a:p>
            <a:pPr marL="177800" indent="-177800">
              <a:lnSpc>
                <a:spcPts val="1100"/>
              </a:lnSpc>
              <a:spcAft>
                <a:spcPts val="250"/>
              </a:spcAft>
              <a:buSzPct val="100000"/>
              <a:buChar char="•"/>
            </a:pPr>
            <a:r>
              <a:rPr lang="en-US" sz="900" dirty="0">
                <a:solidFill>
                  <a:srgbClr val="3C4A5C"/>
                </a:solidFill>
                <a:latin typeface="Calibri" pitchFamily="34" charset="0"/>
                <a:ea typeface="Calibri" pitchFamily="34" charset="-122"/>
                <a:cs typeface="Calibri" pitchFamily="34" charset="-120"/>
              </a:rPr>
              <a:t>góc khớp, vận tốc khớp</a:t>
            </a:r>
            <a:endParaRPr lang="en-US" sz="900" dirty="0"/>
          </a:p>
          <a:p>
            <a:pPr marL="177800" indent="-177800">
              <a:lnSpc>
                <a:spcPts val="1100"/>
              </a:lnSpc>
              <a:spcAft>
                <a:spcPts val="250"/>
              </a:spcAft>
              <a:buSzPct val="100000"/>
              <a:buChar char="•"/>
            </a:pPr>
            <a:r>
              <a:rPr lang="en-US" sz="900" dirty="0">
                <a:solidFill>
                  <a:srgbClr val="3C4A5C"/>
                </a:solidFill>
                <a:latin typeface="Calibri" pitchFamily="34" charset="0"/>
                <a:ea typeface="Calibri" pitchFamily="34" charset="-122"/>
                <a:cs typeface="Calibri" pitchFamily="34" charset="-120"/>
              </a:rPr>
              <a:t>bất biến với vị trí camera</a:t>
            </a:r>
            <a:endParaRPr lang="en-US" sz="900" dirty="0"/>
          </a:p>
        </p:txBody>
      </p:sp>
      <p:sp>
        <p:nvSpPr>
          <p:cNvPr id="28" name="Shape 26"/>
          <p:cNvSpPr/>
          <p:nvPr/>
        </p:nvSpPr>
        <p:spPr>
          <a:xfrm>
            <a:off x="5761817" y="2212848"/>
            <a:ext cx="1856781" cy="1481328"/>
          </a:xfrm>
          <a:prstGeom prst="roundRect">
            <a:avLst>
              <a:gd name="adj" fmla="val 3704"/>
            </a:avLst>
          </a:prstGeom>
          <a:solidFill>
            <a:srgbClr val="E2F4F1"/>
          </a:solidFill>
          <a:ln w="9525">
            <a:solidFill>
              <a:srgbClr val="C8E8E2"/>
            </a:solidFill>
            <a:prstDash val="solid"/>
          </a:ln>
        </p:spPr>
      </p:sp>
      <p:sp>
        <p:nvSpPr>
          <p:cNvPr id="29" name="Text 27"/>
          <p:cNvSpPr txBox="1"/>
          <p:nvPr/>
        </p:nvSpPr>
        <p:spPr>
          <a:xfrm>
            <a:off x="5889833" y="2340864"/>
            <a:ext cx="1600749" cy="384048"/>
          </a:xfrm>
          <a:prstGeom prst="rect">
            <a:avLst/>
          </a:prstGeom>
          <a:noFill/>
          <a:ln/>
        </p:spPr>
        <p:txBody>
          <a:bodyPr wrap="square" lIns="0" tIns="0" rIns="0" bIns="0" rtlCol="0" anchor="t"/>
          <a:lstStyle/>
          <a:p>
            <a:pPr indent="0" marL="0">
              <a:lnSpc>
                <a:spcPts val="1200"/>
              </a:lnSpc>
              <a:buNone/>
            </a:pPr>
            <a:r>
              <a:rPr lang="en-US" sz="1000" b="1" dirty="0">
                <a:solidFill>
                  <a:srgbClr val="00806D"/>
                </a:solidFill>
                <a:latin typeface="Calibri" pitchFamily="34" charset="0"/>
                <a:ea typeface="Calibri" pitchFamily="34" charset="-122"/>
                <a:cs typeface="Calibri" pitchFamily="34" charset="-120"/>
              </a:rPr>
              <a:t>Tầng 5 · Đánh giá phân loại</a:t>
            </a:r>
            <a:endParaRPr lang="en-US" sz="1000" dirty="0"/>
          </a:p>
        </p:txBody>
      </p:sp>
      <p:sp>
        <p:nvSpPr>
          <p:cNvPr id="30" name="Text 28"/>
          <p:cNvSpPr txBox="1"/>
          <p:nvPr/>
        </p:nvSpPr>
        <p:spPr>
          <a:xfrm>
            <a:off x="5889833" y="2761488"/>
            <a:ext cx="1619037" cy="841248"/>
          </a:xfrm>
          <a:prstGeom prst="rect">
            <a:avLst/>
          </a:prstGeom>
          <a:noFill/>
          <a:ln/>
        </p:spPr>
        <p:txBody>
          <a:bodyPr wrap="square" lIns="0" tIns="0" rIns="0" bIns="0" rtlCol="0" anchor="t"/>
          <a:lstStyle/>
          <a:p>
            <a:pPr marL="177800" indent="-177800">
              <a:lnSpc>
                <a:spcPts val="1100"/>
              </a:lnSpc>
              <a:spcAft>
                <a:spcPts val="250"/>
              </a:spcAft>
              <a:buSzPct val="100000"/>
              <a:buChar char="•"/>
            </a:pPr>
            <a:r>
              <a:rPr lang="en-US" sz="900" dirty="0">
                <a:solidFill>
                  <a:srgbClr val="3C4A5C"/>
                </a:solidFill>
                <a:latin typeface="Calibri" pitchFamily="34" charset="0"/>
                <a:ea typeface="Calibri" pitchFamily="34" charset="-122"/>
                <a:cs typeface="Calibri" pitchFamily="34" charset="-120"/>
              </a:rPr>
              <a:t>cửa sổ trượt, độ dài cửa sổ</a:t>
            </a:r>
            <a:endParaRPr lang="en-US" sz="900" dirty="0"/>
          </a:p>
          <a:p>
            <a:pPr marL="177800" indent="-177800">
              <a:lnSpc>
                <a:spcPts val="1100"/>
              </a:lnSpc>
              <a:spcAft>
                <a:spcPts val="250"/>
              </a:spcAft>
              <a:buSzPct val="100000"/>
              <a:buChar char="•"/>
            </a:pPr>
            <a:r>
              <a:rPr lang="en-US" sz="900" dirty="0">
                <a:solidFill>
                  <a:srgbClr val="3C4A5C"/>
                </a:solidFill>
                <a:latin typeface="Calibri" pitchFamily="34" charset="0"/>
                <a:ea typeface="Calibri" pitchFamily="34" charset="-122"/>
                <a:cs typeface="Calibri" pitchFamily="34" charset="-120"/>
              </a:rPr>
              <a:t>ma trận nhầm lẫn, precision/recall</a:t>
            </a:r>
            <a:endParaRPr lang="en-US" sz="900" dirty="0"/>
          </a:p>
          <a:p>
            <a:pPr marL="177800" indent="-177800">
              <a:lnSpc>
                <a:spcPts val="1100"/>
              </a:lnSpc>
              <a:spcAft>
                <a:spcPts val="250"/>
              </a:spcAft>
              <a:buSzPct val="100000"/>
              <a:buChar char="•"/>
            </a:pPr>
            <a:r>
              <a:rPr lang="en-US" sz="900" dirty="0">
                <a:solidFill>
                  <a:srgbClr val="3C4A5C"/>
                </a:solidFill>
                <a:latin typeface="Calibri" pitchFamily="34" charset="0"/>
                <a:ea typeface="Calibri" pitchFamily="34" charset="-122"/>
                <a:cs typeface="Calibri" pitchFamily="34" charset="-120"/>
              </a:rPr>
              <a:t>chia tập theo người, rò rỉ dữ liệu</a:t>
            </a:r>
            <a:endParaRPr lang="en-US" sz="900" dirty="0"/>
          </a:p>
        </p:txBody>
      </p:sp>
      <p:sp>
        <p:nvSpPr>
          <p:cNvPr id="31" name="Shape 29"/>
          <p:cNvSpPr/>
          <p:nvPr/>
        </p:nvSpPr>
        <p:spPr>
          <a:xfrm>
            <a:off x="7728326" y="2212848"/>
            <a:ext cx="1856781" cy="1481328"/>
          </a:xfrm>
          <a:prstGeom prst="roundRect">
            <a:avLst>
              <a:gd name="adj" fmla="val 3704"/>
            </a:avLst>
          </a:prstGeom>
          <a:solidFill>
            <a:srgbClr val="E2F4F1"/>
          </a:solidFill>
          <a:ln w="9525">
            <a:solidFill>
              <a:srgbClr val="C8E8E2"/>
            </a:solidFill>
            <a:prstDash val="solid"/>
          </a:ln>
        </p:spPr>
      </p:sp>
      <p:sp>
        <p:nvSpPr>
          <p:cNvPr id="32" name="Text 30"/>
          <p:cNvSpPr txBox="1"/>
          <p:nvPr/>
        </p:nvSpPr>
        <p:spPr>
          <a:xfrm>
            <a:off x="7856342" y="2340864"/>
            <a:ext cx="1600749" cy="384048"/>
          </a:xfrm>
          <a:prstGeom prst="rect">
            <a:avLst/>
          </a:prstGeom>
          <a:noFill/>
          <a:ln/>
        </p:spPr>
        <p:txBody>
          <a:bodyPr wrap="square" lIns="0" tIns="0" rIns="0" bIns="0" rtlCol="0" anchor="t"/>
          <a:lstStyle/>
          <a:p>
            <a:pPr indent="0" marL="0">
              <a:lnSpc>
                <a:spcPts val="1200"/>
              </a:lnSpc>
              <a:buNone/>
            </a:pPr>
            <a:r>
              <a:rPr lang="en-US" sz="1000" b="1" dirty="0">
                <a:solidFill>
                  <a:srgbClr val="00806D"/>
                </a:solidFill>
                <a:latin typeface="Calibri" pitchFamily="34" charset="0"/>
                <a:ea typeface="Calibri" pitchFamily="34" charset="-122"/>
                <a:cs typeface="Calibri" pitchFamily="34" charset="-120"/>
              </a:rPr>
              <a:t>Tầng 4 · Mô hình chuỗi thời gian</a:t>
            </a:r>
            <a:endParaRPr lang="en-US" sz="1000" dirty="0"/>
          </a:p>
        </p:txBody>
      </p:sp>
      <p:sp>
        <p:nvSpPr>
          <p:cNvPr id="33" name="Text 31"/>
          <p:cNvSpPr txBox="1"/>
          <p:nvPr/>
        </p:nvSpPr>
        <p:spPr>
          <a:xfrm>
            <a:off x="7856342" y="2761488"/>
            <a:ext cx="1619037" cy="841248"/>
          </a:xfrm>
          <a:prstGeom prst="rect">
            <a:avLst/>
          </a:prstGeom>
          <a:noFill/>
          <a:ln/>
        </p:spPr>
        <p:txBody>
          <a:bodyPr wrap="square" lIns="0" tIns="0" rIns="0" bIns="0" rtlCol="0" anchor="t"/>
          <a:lstStyle/>
          <a:p>
            <a:pPr marL="177800" indent="-177800">
              <a:lnSpc>
                <a:spcPts val="1100"/>
              </a:lnSpc>
              <a:spcAft>
                <a:spcPts val="250"/>
              </a:spcAft>
              <a:buSzPct val="100000"/>
              <a:buChar char="•"/>
            </a:pPr>
            <a:r>
              <a:rPr lang="en-US" sz="900" dirty="0">
                <a:solidFill>
                  <a:srgbClr val="3C4A5C"/>
                </a:solidFill>
                <a:latin typeface="Calibri" pitchFamily="34" charset="0"/>
                <a:ea typeface="Calibri" pitchFamily="34" charset="-122"/>
                <a:cs typeface="Calibri" pitchFamily="34" charset="-120"/>
              </a:rPr>
              <a:t>RNN, LSTM, trạng thái ẩn</a:t>
            </a:r>
            <a:endParaRPr lang="en-US" sz="900" dirty="0"/>
          </a:p>
          <a:p>
            <a:pPr marL="177800" indent="-177800">
              <a:lnSpc>
                <a:spcPts val="1100"/>
              </a:lnSpc>
              <a:spcAft>
                <a:spcPts val="250"/>
              </a:spcAft>
              <a:buSzPct val="100000"/>
              <a:buChar char="•"/>
            </a:pPr>
            <a:r>
              <a:rPr lang="en-US" sz="900" dirty="0">
                <a:solidFill>
                  <a:srgbClr val="3C4A5C"/>
                </a:solidFill>
                <a:latin typeface="Calibri" pitchFamily="34" charset="0"/>
                <a:ea typeface="Calibri" pitchFamily="34" charset="-122"/>
                <a:cs typeface="Calibri" pitchFamily="34" charset="-120"/>
              </a:rPr>
              <a:t>quá khớp, tăng cường dữ liệu</a:t>
            </a:r>
            <a:endParaRPr lang="en-US" sz="900" dirty="0"/>
          </a:p>
          <a:p>
            <a:pPr marL="177800" indent="-177800">
              <a:lnSpc>
                <a:spcPts val="1100"/>
              </a:lnSpc>
              <a:spcAft>
                <a:spcPts val="250"/>
              </a:spcAft>
              <a:buSzPct val="100000"/>
              <a:buChar char="•"/>
            </a:pPr>
            <a:r>
              <a:rPr lang="en-US" sz="900" dirty="0">
                <a:solidFill>
                  <a:srgbClr val="3C4A5C"/>
                </a:solidFill>
                <a:latin typeface="Calibri" pitchFamily="34" charset="0"/>
                <a:ea typeface="Calibri" pitchFamily="34" charset="-122"/>
                <a:cs typeface="Calibri" pitchFamily="34" charset="-120"/>
              </a:rPr>
              <a:t>PyTorch: tensor, autograd</a:t>
            </a:r>
            <a:endParaRPr lang="en-US" sz="900" dirty="0"/>
          </a:p>
        </p:txBody>
      </p:sp>
      <p:sp>
        <p:nvSpPr>
          <p:cNvPr id="34" name="Shape 32"/>
          <p:cNvSpPr/>
          <p:nvPr/>
        </p:nvSpPr>
        <p:spPr>
          <a:xfrm>
            <a:off x="9694835" y="2212848"/>
            <a:ext cx="1856781" cy="1481328"/>
          </a:xfrm>
          <a:prstGeom prst="roundRect">
            <a:avLst>
              <a:gd name="adj" fmla="val 3704"/>
            </a:avLst>
          </a:prstGeom>
          <a:solidFill>
            <a:srgbClr val="E2F4F1"/>
          </a:solidFill>
          <a:ln w="9525">
            <a:solidFill>
              <a:srgbClr val="C8E8E2"/>
            </a:solidFill>
            <a:prstDash val="solid"/>
          </a:ln>
        </p:spPr>
      </p:sp>
      <p:sp>
        <p:nvSpPr>
          <p:cNvPr id="35" name="Text 33"/>
          <p:cNvSpPr txBox="1"/>
          <p:nvPr/>
        </p:nvSpPr>
        <p:spPr>
          <a:xfrm>
            <a:off x="9822851" y="2340864"/>
            <a:ext cx="1600749" cy="384048"/>
          </a:xfrm>
          <a:prstGeom prst="rect">
            <a:avLst/>
          </a:prstGeom>
          <a:noFill/>
          <a:ln/>
        </p:spPr>
        <p:txBody>
          <a:bodyPr wrap="square" lIns="0" tIns="0" rIns="0" bIns="0" rtlCol="0" anchor="t"/>
          <a:lstStyle/>
          <a:p>
            <a:pPr indent="0" marL="0">
              <a:lnSpc>
                <a:spcPts val="1200"/>
              </a:lnSpc>
              <a:buNone/>
            </a:pPr>
            <a:r>
              <a:rPr lang="en-US" sz="1000" b="1" dirty="0">
                <a:solidFill>
                  <a:srgbClr val="00806D"/>
                </a:solidFill>
                <a:latin typeface="Calibri" pitchFamily="34" charset="0"/>
                <a:ea typeface="Calibri" pitchFamily="34" charset="-122"/>
                <a:cs typeface="Calibri" pitchFamily="34" charset="-120"/>
              </a:rPr>
              <a:t>Tổng hợp</a:t>
            </a:r>
            <a:endParaRPr lang="en-US" sz="1000" dirty="0"/>
          </a:p>
        </p:txBody>
      </p:sp>
      <p:sp>
        <p:nvSpPr>
          <p:cNvPr id="36" name="Text 34"/>
          <p:cNvSpPr txBox="1"/>
          <p:nvPr/>
        </p:nvSpPr>
        <p:spPr>
          <a:xfrm>
            <a:off x="9822851" y="2761488"/>
            <a:ext cx="1619037" cy="841248"/>
          </a:xfrm>
          <a:prstGeom prst="rect">
            <a:avLst/>
          </a:prstGeom>
          <a:noFill/>
          <a:ln/>
        </p:spPr>
        <p:txBody>
          <a:bodyPr wrap="square" lIns="0" tIns="0" rIns="0" bIns="0" rtlCol="0" anchor="t"/>
          <a:lstStyle/>
          <a:p>
            <a:pPr marL="177800" indent="-177800">
              <a:lnSpc>
                <a:spcPts val="1100"/>
              </a:lnSpc>
              <a:spcAft>
                <a:spcPts val="250"/>
              </a:spcAft>
              <a:buSzPct val="100000"/>
              <a:buChar char="•"/>
            </a:pPr>
            <a:r>
              <a:rPr lang="en-US" sz="900" dirty="0">
                <a:solidFill>
                  <a:srgbClr val="3C4A5C"/>
                </a:solidFill>
                <a:latin typeface="Calibri" pitchFamily="34" charset="0"/>
                <a:ea typeface="Calibri" pitchFamily="34" charset="-122"/>
                <a:cs typeface="Calibri" pitchFamily="34" charset="-120"/>
              </a:rPr>
              <a:t>hệ thống hóa ghi chú thành chương 2</a:t>
            </a:r>
            <a:endParaRPr lang="en-US" sz="900" dirty="0"/>
          </a:p>
          <a:p>
            <a:pPr marL="177800" indent="-177800">
              <a:lnSpc>
                <a:spcPts val="1100"/>
              </a:lnSpc>
              <a:spcAft>
                <a:spcPts val="250"/>
              </a:spcAft>
              <a:buSzPct val="100000"/>
              <a:buChar char="•"/>
            </a:pPr>
            <a:r>
              <a:rPr lang="en-US" sz="900" dirty="0">
                <a:solidFill>
                  <a:srgbClr val="3C4A5C"/>
                </a:solidFill>
                <a:latin typeface="Calibri" pitchFamily="34" charset="0"/>
                <a:ea typeface="Calibri" pitchFamily="34" charset="-122"/>
                <a:cs typeface="Calibri" pitchFamily="34" charset="-120"/>
              </a:rPr>
              <a:t>hướng phát triển: ST-GCN, đa người</a:t>
            </a:r>
            <a:endParaRPr lang="en-US" sz="900" dirty="0"/>
          </a:p>
        </p:txBody>
      </p:sp>
      <p:sp>
        <p:nvSpPr>
          <p:cNvPr id="37" name="Text 35"/>
          <p:cNvSpPr txBox="1"/>
          <p:nvPr/>
        </p:nvSpPr>
        <p:spPr>
          <a:xfrm>
            <a:off x="640080" y="3767328"/>
            <a:ext cx="1051560" cy="1536192"/>
          </a:xfrm>
          <a:prstGeom prst="rect">
            <a:avLst/>
          </a:prstGeom>
          <a:noFill/>
          <a:ln/>
        </p:spPr>
        <p:txBody>
          <a:bodyPr wrap="square" lIns="0" tIns="0" rIns="0" bIns="0" rtlCol="0" anchor="ctr"/>
          <a:lstStyle/>
          <a:p>
            <a:pPr indent="0" marL="0">
              <a:lnSpc>
                <a:spcPts val="1300"/>
              </a:lnSpc>
              <a:buNone/>
            </a:pPr>
            <a:r>
              <a:rPr lang="en-US" sz="950" b="1" spc="120" kern="0" dirty="0">
                <a:solidFill>
                  <a:srgbClr val="1E3A5F"/>
                </a:solidFill>
                <a:latin typeface="Calibri" pitchFamily="34" charset="0"/>
                <a:ea typeface="Calibri" pitchFamily="34" charset="-122"/>
                <a:cs typeface="Calibri" pitchFamily="34" charset="-120"/>
              </a:rPr>
              <a:t>THỰC HIỆN</a:t>
            </a:r>
            <a:endParaRPr lang="en-US" sz="950" dirty="0"/>
          </a:p>
        </p:txBody>
      </p:sp>
      <p:sp>
        <p:nvSpPr>
          <p:cNvPr id="38" name="Shape 36"/>
          <p:cNvSpPr/>
          <p:nvPr/>
        </p:nvSpPr>
        <p:spPr>
          <a:xfrm>
            <a:off x="1828800" y="3767328"/>
            <a:ext cx="1856781" cy="1536192"/>
          </a:xfrm>
          <a:prstGeom prst="roundRect">
            <a:avLst>
              <a:gd name="adj" fmla="val 3571"/>
            </a:avLst>
          </a:prstGeom>
          <a:solidFill>
            <a:srgbClr val="F4F7FA"/>
          </a:solidFill>
          <a:ln w="9525">
            <a:solidFill>
              <a:srgbClr val="DDE4ED"/>
            </a:solidFill>
            <a:prstDash val="solid"/>
          </a:ln>
        </p:spPr>
      </p:sp>
      <p:sp>
        <p:nvSpPr>
          <p:cNvPr id="39" name="Text 37"/>
          <p:cNvSpPr txBox="1"/>
          <p:nvPr/>
        </p:nvSpPr>
        <p:spPr>
          <a:xfrm>
            <a:off x="1956816" y="3895344"/>
            <a:ext cx="1600749" cy="384048"/>
          </a:xfrm>
          <a:prstGeom prst="rect">
            <a:avLst/>
          </a:prstGeom>
          <a:noFill/>
          <a:ln/>
        </p:spPr>
        <p:txBody>
          <a:bodyPr wrap="square" lIns="0" tIns="0" rIns="0" bIns="0" rtlCol="0" anchor="t"/>
          <a:lstStyle/>
          <a:p>
            <a:pPr indent="0" marL="0">
              <a:lnSpc>
                <a:spcPts val="1200"/>
              </a:lnSpc>
              <a:buNone/>
            </a:pPr>
            <a:r>
              <a:rPr lang="en-US" sz="1000" b="1" dirty="0">
                <a:solidFill>
                  <a:srgbClr val="1E3A5F"/>
                </a:solidFill>
                <a:latin typeface="Calibri" pitchFamily="34" charset="0"/>
                <a:ea typeface="Calibri" pitchFamily="34" charset="-122"/>
                <a:cs typeface="Calibri" pitchFamily="34" charset="-120"/>
              </a:rPr>
              <a:t>Khung xương chạy trên webcam</a:t>
            </a:r>
            <a:endParaRPr lang="en-US" sz="1000" dirty="0"/>
          </a:p>
        </p:txBody>
      </p:sp>
      <p:sp>
        <p:nvSpPr>
          <p:cNvPr id="40" name="Text 38"/>
          <p:cNvSpPr txBox="1"/>
          <p:nvPr/>
        </p:nvSpPr>
        <p:spPr>
          <a:xfrm>
            <a:off x="1956816" y="4315968"/>
            <a:ext cx="1619037" cy="896112"/>
          </a:xfrm>
          <a:prstGeom prst="rect">
            <a:avLst/>
          </a:prstGeom>
          <a:noFill/>
          <a:ln/>
        </p:spPr>
        <p:txBody>
          <a:bodyPr wrap="square" lIns="0" tIns="0" rIns="0" bIns="0" rtlCol="0" anchor="t"/>
          <a:lstStyle/>
          <a:p>
            <a:pPr marL="177800" indent="-177800">
              <a:lnSpc>
                <a:spcPts val="1100"/>
              </a:lnSpc>
              <a:spcAft>
                <a:spcPts val="250"/>
              </a:spcAft>
              <a:buSzPct val="100000"/>
              <a:buChar char="•"/>
            </a:pPr>
            <a:r>
              <a:rPr lang="en-US" sz="900" dirty="0">
                <a:solidFill>
                  <a:srgbClr val="3C4A5C"/>
                </a:solidFill>
                <a:latin typeface="Calibri" pitchFamily="34" charset="0"/>
                <a:ea typeface="Calibri" pitchFamily="34" charset="-122"/>
                <a:cs typeface="Calibri" pitchFamily="34" charset="-120"/>
              </a:rPr>
              <a:t>cài môi trường trên Windows</a:t>
            </a:r>
            <a:endParaRPr lang="en-US" sz="900" dirty="0"/>
          </a:p>
          <a:p>
            <a:pPr marL="177800" indent="-177800">
              <a:lnSpc>
                <a:spcPts val="1100"/>
              </a:lnSpc>
              <a:spcAft>
                <a:spcPts val="250"/>
              </a:spcAft>
              <a:buSzPct val="100000"/>
              <a:buChar char="•"/>
            </a:pPr>
            <a:r>
              <a:rPr lang="en-US" sz="900" dirty="0">
                <a:solidFill>
                  <a:srgbClr val="3C4A5C"/>
                </a:solidFill>
                <a:latin typeface="Calibri" pitchFamily="34" charset="0"/>
                <a:ea typeface="Calibri" pitchFamily="34" charset="-122"/>
                <a:cs typeface="Calibri" pitchFamily="34" charset="-120"/>
              </a:rPr>
              <a:t>MediaPipe vẽ 33 khớp, hiện FPS</a:t>
            </a:r>
            <a:endParaRPr lang="en-US" sz="900" dirty="0"/>
          </a:p>
          <a:p>
            <a:pPr marL="177800" indent="-177800">
              <a:lnSpc>
                <a:spcPts val="1100"/>
              </a:lnSpc>
              <a:spcAft>
                <a:spcPts val="250"/>
              </a:spcAft>
              <a:buSzPct val="100000"/>
              <a:buChar char="•"/>
            </a:pPr>
            <a:r>
              <a:rPr lang="en-US" sz="900" dirty="0">
                <a:solidFill>
                  <a:srgbClr val="3C4A5C"/>
                </a:solidFill>
                <a:latin typeface="Calibri" pitchFamily="34" charset="0"/>
                <a:ea typeface="Calibri" pitchFamily="34" charset="-122"/>
                <a:cs typeface="Calibri" pitchFamily="34" charset="-120"/>
              </a:rPr>
              <a:t>thí nghiệm che tay, xoay người, đứng xa</a:t>
            </a:r>
            <a:endParaRPr lang="en-US" sz="900" dirty="0"/>
          </a:p>
        </p:txBody>
      </p:sp>
      <p:sp>
        <p:nvSpPr>
          <p:cNvPr id="41" name="Shape 39"/>
          <p:cNvSpPr/>
          <p:nvPr/>
        </p:nvSpPr>
        <p:spPr>
          <a:xfrm>
            <a:off x="3795309" y="3767328"/>
            <a:ext cx="1856781" cy="1536192"/>
          </a:xfrm>
          <a:prstGeom prst="roundRect">
            <a:avLst>
              <a:gd name="adj" fmla="val 3571"/>
            </a:avLst>
          </a:prstGeom>
          <a:solidFill>
            <a:srgbClr val="F4F7FA"/>
          </a:solidFill>
          <a:ln w="9525">
            <a:solidFill>
              <a:srgbClr val="DDE4ED"/>
            </a:solidFill>
            <a:prstDash val="solid"/>
          </a:ln>
        </p:spPr>
      </p:sp>
      <p:sp>
        <p:nvSpPr>
          <p:cNvPr id="42" name="Text 40"/>
          <p:cNvSpPr txBox="1"/>
          <p:nvPr/>
        </p:nvSpPr>
        <p:spPr>
          <a:xfrm>
            <a:off x="3923325" y="3895344"/>
            <a:ext cx="1600749" cy="384048"/>
          </a:xfrm>
          <a:prstGeom prst="rect">
            <a:avLst/>
          </a:prstGeom>
          <a:noFill/>
          <a:ln/>
        </p:spPr>
        <p:txBody>
          <a:bodyPr wrap="square" lIns="0" tIns="0" rIns="0" bIns="0" rtlCol="0" anchor="t"/>
          <a:lstStyle/>
          <a:p>
            <a:pPr indent="0" marL="0">
              <a:lnSpc>
                <a:spcPts val="1200"/>
              </a:lnSpc>
              <a:buNone/>
            </a:pPr>
            <a:r>
              <a:rPr lang="en-US" sz="1000" b="1" dirty="0">
                <a:solidFill>
                  <a:srgbClr val="1E3A5F"/>
                </a:solidFill>
                <a:latin typeface="Calibri" pitchFamily="34" charset="0"/>
                <a:ea typeface="Calibri" pitchFamily="34" charset="-122"/>
                <a:cs typeface="Calibri" pitchFamily="34" charset="-120"/>
              </a:rPr>
              <a:t>Module tiền xử lý</a:t>
            </a:r>
            <a:endParaRPr lang="en-US" sz="1000" dirty="0"/>
          </a:p>
        </p:txBody>
      </p:sp>
      <p:sp>
        <p:nvSpPr>
          <p:cNvPr id="43" name="Text 41"/>
          <p:cNvSpPr txBox="1"/>
          <p:nvPr/>
        </p:nvSpPr>
        <p:spPr>
          <a:xfrm>
            <a:off x="3923325" y="4315968"/>
            <a:ext cx="1619037" cy="896112"/>
          </a:xfrm>
          <a:prstGeom prst="rect">
            <a:avLst/>
          </a:prstGeom>
          <a:noFill/>
          <a:ln/>
        </p:spPr>
        <p:txBody>
          <a:bodyPr wrap="square" lIns="0" tIns="0" rIns="0" bIns="0" rtlCol="0" anchor="t"/>
          <a:lstStyle/>
          <a:p>
            <a:pPr marL="177800" indent="-177800">
              <a:lnSpc>
                <a:spcPts val="1100"/>
              </a:lnSpc>
              <a:spcAft>
                <a:spcPts val="250"/>
              </a:spcAft>
              <a:buSzPct val="100000"/>
              <a:buChar char="•"/>
            </a:pPr>
            <a:r>
              <a:rPr lang="en-US" sz="900" dirty="0">
                <a:solidFill>
                  <a:srgbClr val="3C4A5C"/>
                </a:solidFill>
                <a:latin typeface="Calibri" pitchFamily="34" charset="0"/>
                <a:ea typeface="Calibri" pitchFamily="34" charset="-122"/>
                <a:cs typeface="Calibri" pitchFamily="34" charset="-120"/>
              </a:rPr>
              <a:t>hàm chuẩn hóa: gốc ở hông, chia thân</a:t>
            </a:r>
            <a:endParaRPr lang="en-US" sz="900" dirty="0"/>
          </a:p>
          <a:p>
            <a:pPr marL="177800" indent="-177800">
              <a:lnSpc>
                <a:spcPts val="1100"/>
              </a:lnSpc>
              <a:spcAft>
                <a:spcPts val="250"/>
              </a:spcAft>
              <a:buSzPct val="100000"/>
              <a:buChar char="•"/>
            </a:pPr>
            <a:r>
              <a:rPr lang="en-US" sz="900" dirty="0">
                <a:solidFill>
                  <a:srgbClr val="3C4A5C"/>
                </a:solidFill>
                <a:latin typeface="Calibri" pitchFamily="34" charset="0"/>
                <a:ea typeface="Calibri" pitchFamily="34" charset="-122"/>
                <a:cs typeface="Calibri" pitchFamily="34" charset="-120"/>
              </a:rPr>
              <a:t>hàm tính góc khớp, bỏ điểm trên mặt</a:t>
            </a:r>
            <a:endParaRPr lang="en-US" sz="900" dirty="0"/>
          </a:p>
          <a:p>
            <a:pPr marL="177800" indent="-177800">
              <a:lnSpc>
                <a:spcPts val="1100"/>
              </a:lnSpc>
              <a:spcAft>
                <a:spcPts val="250"/>
              </a:spcAft>
              <a:buSzPct val="100000"/>
              <a:buChar char="•"/>
            </a:pPr>
            <a:r>
              <a:rPr lang="en-US" sz="900" dirty="0">
                <a:solidFill>
                  <a:srgbClr val="3C4A5C"/>
                </a:solidFill>
                <a:latin typeface="Calibri" pitchFamily="34" charset="0"/>
                <a:ea typeface="Calibri" pitchFamily="34" charset="-122"/>
                <a:cs typeface="Calibri" pitchFamily="34" charset="-120"/>
              </a:rPr>
              <a:t>kiểm chứng gần/xa bằng mắt</a:t>
            </a:r>
            <a:endParaRPr lang="en-US" sz="900" dirty="0"/>
          </a:p>
        </p:txBody>
      </p:sp>
      <p:sp>
        <p:nvSpPr>
          <p:cNvPr id="44" name="Shape 42"/>
          <p:cNvSpPr/>
          <p:nvPr/>
        </p:nvSpPr>
        <p:spPr>
          <a:xfrm>
            <a:off x="5761817" y="3767328"/>
            <a:ext cx="1856781" cy="1536192"/>
          </a:xfrm>
          <a:prstGeom prst="roundRect">
            <a:avLst>
              <a:gd name="adj" fmla="val 3571"/>
            </a:avLst>
          </a:prstGeom>
          <a:solidFill>
            <a:srgbClr val="F4F7FA"/>
          </a:solidFill>
          <a:ln w="9525">
            <a:solidFill>
              <a:srgbClr val="DDE4ED"/>
            </a:solidFill>
            <a:prstDash val="solid"/>
          </a:ln>
        </p:spPr>
      </p:sp>
      <p:sp>
        <p:nvSpPr>
          <p:cNvPr id="45" name="Text 43"/>
          <p:cNvSpPr txBox="1"/>
          <p:nvPr/>
        </p:nvSpPr>
        <p:spPr>
          <a:xfrm>
            <a:off x="5889833" y="3895344"/>
            <a:ext cx="1600749" cy="384048"/>
          </a:xfrm>
          <a:prstGeom prst="rect">
            <a:avLst/>
          </a:prstGeom>
          <a:noFill/>
          <a:ln/>
        </p:spPr>
        <p:txBody>
          <a:bodyPr wrap="square" lIns="0" tIns="0" rIns="0" bIns="0" rtlCol="0" anchor="t"/>
          <a:lstStyle/>
          <a:p>
            <a:pPr indent="0" marL="0">
              <a:lnSpc>
                <a:spcPts val="1200"/>
              </a:lnSpc>
              <a:buNone/>
            </a:pPr>
            <a:r>
              <a:rPr lang="en-US" sz="1000" b="1" dirty="0">
                <a:solidFill>
                  <a:srgbClr val="1E3A5F"/>
                </a:solidFill>
                <a:latin typeface="Calibri" pitchFamily="34" charset="0"/>
                <a:ea typeface="Calibri" pitchFamily="34" charset="-122"/>
                <a:cs typeface="Calibri" pitchFamily="34" charset="-120"/>
              </a:rPr>
              <a:t>Dữ liệu &amp; mô hình 1</a:t>
            </a:r>
            <a:endParaRPr lang="en-US" sz="1000" dirty="0"/>
          </a:p>
        </p:txBody>
      </p:sp>
      <p:sp>
        <p:nvSpPr>
          <p:cNvPr id="46" name="Text 44"/>
          <p:cNvSpPr txBox="1"/>
          <p:nvPr/>
        </p:nvSpPr>
        <p:spPr>
          <a:xfrm>
            <a:off x="5889833" y="4315968"/>
            <a:ext cx="1619037" cy="896112"/>
          </a:xfrm>
          <a:prstGeom prst="rect">
            <a:avLst/>
          </a:prstGeom>
          <a:noFill/>
          <a:ln/>
        </p:spPr>
        <p:txBody>
          <a:bodyPr wrap="square" lIns="0" tIns="0" rIns="0" bIns="0" rtlCol="0" anchor="t"/>
          <a:lstStyle/>
          <a:p>
            <a:pPr marL="177800" indent="-177800">
              <a:lnSpc>
                <a:spcPts val="1100"/>
              </a:lnSpc>
              <a:spcAft>
                <a:spcPts val="250"/>
              </a:spcAft>
              <a:buSzPct val="100000"/>
              <a:buChar char="•"/>
            </a:pPr>
            <a:r>
              <a:rPr lang="en-US" sz="900" dirty="0">
                <a:solidFill>
                  <a:srgbClr val="3C4A5C"/>
                </a:solidFill>
                <a:latin typeface="Calibri" pitchFamily="34" charset="0"/>
                <a:ea typeface="Calibri" pitchFamily="34" charset="-122"/>
                <a:cs typeface="Calibri" pitchFamily="34" charset="-120"/>
              </a:rPr>
              <a:t>quay 6 hành động, 3–5 người</a:t>
            </a:r>
            <a:endParaRPr lang="en-US" sz="900" dirty="0"/>
          </a:p>
          <a:p>
            <a:pPr marL="177800" indent="-177800">
              <a:lnSpc>
                <a:spcPts val="1100"/>
              </a:lnSpc>
              <a:spcAft>
                <a:spcPts val="250"/>
              </a:spcAft>
              <a:buSzPct val="100000"/>
              <a:buChar char="•"/>
            </a:pPr>
            <a:r>
              <a:rPr lang="en-US" sz="900" dirty="0">
                <a:solidFill>
                  <a:srgbClr val="3C4A5C"/>
                </a:solidFill>
                <a:latin typeface="Calibri" pitchFamily="34" charset="0"/>
                <a:ea typeface="Calibri" pitchFamily="34" charset="-122"/>
                <a:cs typeface="Calibri" pitchFamily="34" charset="-120"/>
              </a:rPr>
              <a:t>trích khung xương ra tệp .npy</a:t>
            </a:r>
            <a:endParaRPr lang="en-US" sz="900" dirty="0"/>
          </a:p>
          <a:p>
            <a:pPr marL="177800" indent="-177800">
              <a:lnSpc>
                <a:spcPts val="1100"/>
              </a:lnSpc>
              <a:spcAft>
                <a:spcPts val="250"/>
              </a:spcAft>
              <a:buSzPct val="100000"/>
              <a:buChar char="•"/>
            </a:pPr>
            <a:r>
              <a:rPr lang="en-US" sz="900" dirty="0">
                <a:solidFill>
                  <a:srgbClr val="3C4A5C"/>
                </a:solidFill>
                <a:latin typeface="Calibri" pitchFamily="34" charset="0"/>
                <a:ea typeface="Calibri" pitchFamily="34" charset="-122"/>
                <a:cs typeface="Calibri" pitchFamily="34" charset="-120"/>
              </a:rPr>
              <a:t>rừng ngẫu nhiên + ma trận nhầm lẫn</a:t>
            </a:r>
            <a:endParaRPr lang="en-US" sz="900" dirty="0"/>
          </a:p>
        </p:txBody>
      </p:sp>
      <p:sp>
        <p:nvSpPr>
          <p:cNvPr id="47" name="Shape 45"/>
          <p:cNvSpPr/>
          <p:nvPr/>
        </p:nvSpPr>
        <p:spPr>
          <a:xfrm>
            <a:off x="7728326" y="3767328"/>
            <a:ext cx="1856781" cy="1536192"/>
          </a:xfrm>
          <a:prstGeom prst="roundRect">
            <a:avLst>
              <a:gd name="adj" fmla="val 3571"/>
            </a:avLst>
          </a:prstGeom>
          <a:solidFill>
            <a:srgbClr val="F4F7FA"/>
          </a:solidFill>
          <a:ln w="9525">
            <a:solidFill>
              <a:srgbClr val="DDE4ED"/>
            </a:solidFill>
            <a:prstDash val="solid"/>
          </a:ln>
        </p:spPr>
      </p:sp>
      <p:sp>
        <p:nvSpPr>
          <p:cNvPr id="48" name="Text 46"/>
          <p:cNvSpPr txBox="1"/>
          <p:nvPr/>
        </p:nvSpPr>
        <p:spPr>
          <a:xfrm>
            <a:off x="7856342" y="3895344"/>
            <a:ext cx="1600749" cy="384048"/>
          </a:xfrm>
          <a:prstGeom prst="rect">
            <a:avLst/>
          </a:prstGeom>
          <a:noFill/>
          <a:ln/>
        </p:spPr>
        <p:txBody>
          <a:bodyPr wrap="square" lIns="0" tIns="0" rIns="0" bIns="0" rtlCol="0" anchor="t"/>
          <a:lstStyle/>
          <a:p>
            <a:pPr indent="0" marL="0">
              <a:lnSpc>
                <a:spcPts val="1200"/>
              </a:lnSpc>
              <a:buNone/>
            </a:pPr>
            <a:r>
              <a:rPr lang="en-US" sz="1000" b="1" dirty="0">
                <a:solidFill>
                  <a:srgbClr val="1E3A5F"/>
                </a:solidFill>
                <a:latin typeface="Calibri" pitchFamily="34" charset="0"/>
                <a:ea typeface="Calibri" pitchFamily="34" charset="-122"/>
                <a:cs typeface="Calibri" pitchFamily="34" charset="-120"/>
              </a:rPr>
              <a:t>Mô hình 2 &amp; demo</a:t>
            </a:r>
            <a:endParaRPr lang="en-US" sz="1000" dirty="0"/>
          </a:p>
        </p:txBody>
      </p:sp>
      <p:sp>
        <p:nvSpPr>
          <p:cNvPr id="49" name="Text 47"/>
          <p:cNvSpPr txBox="1"/>
          <p:nvPr/>
        </p:nvSpPr>
        <p:spPr>
          <a:xfrm>
            <a:off x="7856342" y="4315968"/>
            <a:ext cx="1619037" cy="896112"/>
          </a:xfrm>
          <a:prstGeom prst="rect">
            <a:avLst/>
          </a:prstGeom>
          <a:noFill/>
          <a:ln/>
        </p:spPr>
        <p:txBody>
          <a:bodyPr wrap="square" lIns="0" tIns="0" rIns="0" bIns="0" rtlCol="0" anchor="t"/>
          <a:lstStyle/>
          <a:p>
            <a:pPr marL="177800" indent="-177800">
              <a:lnSpc>
                <a:spcPts val="1100"/>
              </a:lnSpc>
              <a:spcAft>
                <a:spcPts val="250"/>
              </a:spcAft>
              <a:buSzPct val="100000"/>
              <a:buChar char="•"/>
            </a:pPr>
            <a:r>
              <a:rPr lang="en-US" sz="900" dirty="0">
                <a:solidFill>
                  <a:srgbClr val="3C4A5C"/>
                </a:solidFill>
                <a:latin typeface="Calibri" pitchFamily="34" charset="0"/>
                <a:ea typeface="Calibri" pitchFamily="34" charset="-122"/>
                <a:cs typeface="Calibri" pitchFamily="34" charset="-120"/>
              </a:rPr>
              <a:t>LSTM hai lớp, khảo sát cửa sổ 15/30/45</a:t>
            </a:r>
            <a:endParaRPr lang="en-US" sz="900" dirty="0"/>
          </a:p>
          <a:p>
            <a:pPr marL="177800" indent="-177800">
              <a:lnSpc>
                <a:spcPts val="1100"/>
              </a:lnSpc>
              <a:spcAft>
                <a:spcPts val="250"/>
              </a:spcAft>
              <a:buSzPct val="100000"/>
              <a:buChar char="•"/>
            </a:pPr>
            <a:r>
              <a:rPr lang="en-US" sz="900" dirty="0">
                <a:solidFill>
                  <a:srgbClr val="3C4A5C"/>
                </a:solidFill>
                <a:latin typeface="Calibri" pitchFamily="34" charset="0"/>
                <a:ea typeface="Calibri" pitchFamily="34" charset="-122"/>
                <a:cs typeface="Calibri" pitchFamily="34" charset="-120"/>
              </a:rPr>
              <a:t>so sánh với rừng ngẫu nhiên</a:t>
            </a:r>
            <a:endParaRPr lang="en-US" sz="900" dirty="0"/>
          </a:p>
          <a:p>
            <a:pPr marL="177800" indent="-177800">
              <a:lnSpc>
                <a:spcPts val="1100"/>
              </a:lnSpc>
              <a:spcAft>
                <a:spcPts val="250"/>
              </a:spcAft>
              <a:buSzPct val="100000"/>
              <a:buChar char="•"/>
            </a:pPr>
            <a:r>
              <a:rPr lang="en-US" sz="900" dirty="0">
                <a:solidFill>
                  <a:srgbClr val="3C4A5C"/>
                </a:solidFill>
                <a:latin typeface="Calibri" pitchFamily="34" charset="0"/>
                <a:ea typeface="Calibri" pitchFamily="34" charset="-122"/>
                <a:cs typeface="Calibri" pitchFamily="34" charset="-120"/>
              </a:rPr>
              <a:t>ghép demo thời gian thực, làm mượt nhãn</a:t>
            </a:r>
            <a:endParaRPr lang="en-US" sz="900" dirty="0"/>
          </a:p>
        </p:txBody>
      </p:sp>
      <p:sp>
        <p:nvSpPr>
          <p:cNvPr id="50" name="Shape 48"/>
          <p:cNvSpPr/>
          <p:nvPr/>
        </p:nvSpPr>
        <p:spPr>
          <a:xfrm>
            <a:off x="9694835" y="3767328"/>
            <a:ext cx="1856781" cy="1536192"/>
          </a:xfrm>
          <a:prstGeom prst="roundRect">
            <a:avLst>
              <a:gd name="adj" fmla="val 3571"/>
            </a:avLst>
          </a:prstGeom>
          <a:solidFill>
            <a:srgbClr val="F4F7FA"/>
          </a:solidFill>
          <a:ln w="9525">
            <a:solidFill>
              <a:srgbClr val="DDE4ED"/>
            </a:solidFill>
            <a:prstDash val="solid"/>
          </a:ln>
        </p:spPr>
      </p:sp>
      <p:sp>
        <p:nvSpPr>
          <p:cNvPr id="51" name="Text 49"/>
          <p:cNvSpPr txBox="1"/>
          <p:nvPr/>
        </p:nvSpPr>
        <p:spPr>
          <a:xfrm>
            <a:off x="9822851" y="3895344"/>
            <a:ext cx="1600749" cy="384048"/>
          </a:xfrm>
          <a:prstGeom prst="rect">
            <a:avLst/>
          </a:prstGeom>
          <a:noFill/>
          <a:ln/>
        </p:spPr>
        <p:txBody>
          <a:bodyPr wrap="square" lIns="0" tIns="0" rIns="0" bIns="0" rtlCol="0" anchor="t"/>
          <a:lstStyle/>
          <a:p>
            <a:pPr indent="0" marL="0">
              <a:lnSpc>
                <a:spcPts val="1200"/>
              </a:lnSpc>
              <a:buNone/>
            </a:pPr>
            <a:r>
              <a:rPr lang="en-US" sz="1000" b="1" dirty="0">
                <a:solidFill>
                  <a:srgbClr val="1E3A5F"/>
                </a:solidFill>
                <a:latin typeface="Calibri" pitchFamily="34" charset="0"/>
                <a:ea typeface="Calibri" pitchFamily="34" charset="-122"/>
                <a:cs typeface="Calibri" pitchFamily="34" charset="-120"/>
              </a:rPr>
              <a:t>Hoàn thiện</a:t>
            </a:r>
            <a:endParaRPr lang="en-US" sz="1000" dirty="0"/>
          </a:p>
        </p:txBody>
      </p:sp>
      <p:sp>
        <p:nvSpPr>
          <p:cNvPr id="52" name="Text 50"/>
          <p:cNvSpPr txBox="1"/>
          <p:nvPr/>
        </p:nvSpPr>
        <p:spPr>
          <a:xfrm>
            <a:off x="9822851" y="4315968"/>
            <a:ext cx="1619037" cy="896112"/>
          </a:xfrm>
          <a:prstGeom prst="rect">
            <a:avLst/>
          </a:prstGeom>
          <a:noFill/>
          <a:ln/>
        </p:spPr>
        <p:txBody>
          <a:bodyPr wrap="square" lIns="0" tIns="0" rIns="0" bIns="0" rtlCol="0" anchor="t"/>
          <a:lstStyle/>
          <a:p>
            <a:pPr marL="177800" indent="-177800">
              <a:lnSpc>
                <a:spcPts val="1100"/>
              </a:lnSpc>
              <a:spcAft>
                <a:spcPts val="250"/>
              </a:spcAft>
              <a:buSzPct val="100000"/>
              <a:buChar char="•"/>
            </a:pPr>
            <a:r>
              <a:rPr lang="en-US" sz="900" dirty="0">
                <a:solidFill>
                  <a:srgbClr val="3C4A5C"/>
                </a:solidFill>
                <a:latin typeface="Calibri" pitchFamily="34" charset="0"/>
                <a:ea typeface="Calibri" pitchFamily="34" charset="-122"/>
                <a:cs typeface="Calibri" pitchFamily="34" charset="-120"/>
              </a:rPr>
              <a:t>ráp báo cáo, dọn repo, README</a:t>
            </a:r>
            <a:endParaRPr lang="en-US" sz="900" dirty="0"/>
          </a:p>
          <a:p>
            <a:pPr marL="177800" indent="-177800">
              <a:lnSpc>
                <a:spcPts val="1100"/>
              </a:lnSpc>
              <a:spcAft>
                <a:spcPts val="250"/>
              </a:spcAft>
              <a:buSzPct val="100000"/>
              <a:buChar char="•"/>
            </a:pPr>
            <a:r>
              <a:rPr lang="en-US" sz="900" dirty="0">
                <a:solidFill>
                  <a:srgbClr val="3C4A5C"/>
                </a:solidFill>
                <a:latin typeface="Calibri" pitchFamily="34" charset="0"/>
                <a:ea typeface="Calibri" pitchFamily="34" charset="-122"/>
                <a:cs typeface="Calibri" pitchFamily="34" charset="-120"/>
              </a:rPr>
              <a:t>quay video demo, tập trình bày</a:t>
            </a:r>
            <a:endParaRPr lang="en-US" sz="900" dirty="0"/>
          </a:p>
        </p:txBody>
      </p:sp>
      <p:sp>
        <p:nvSpPr>
          <p:cNvPr id="53" name="Text 51"/>
          <p:cNvSpPr txBox="1"/>
          <p:nvPr/>
        </p:nvSpPr>
        <p:spPr>
          <a:xfrm>
            <a:off x="640080" y="5394960"/>
            <a:ext cx="1051560" cy="896112"/>
          </a:xfrm>
          <a:prstGeom prst="rect">
            <a:avLst/>
          </a:prstGeom>
          <a:noFill/>
          <a:ln/>
        </p:spPr>
        <p:txBody>
          <a:bodyPr wrap="square" lIns="0" tIns="0" rIns="0" bIns="0" rtlCol="0" anchor="ctr"/>
          <a:lstStyle/>
          <a:p>
            <a:pPr indent="0" marL="0">
              <a:lnSpc>
                <a:spcPts val="1300"/>
              </a:lnSpc>
              <a:buNone/>
            </a:pPr>
            <a:r>
              <a:rPr lang="en-US" sz="950" b="1" spc="120" kern="0" dirty="0">
                <a:solidFill>
                  <a:srgbClr val="00806D"/>
                </a:solidFill>
                <a:latin typeface="Calibri" pitchFamily="34" charset="0"/>
                <a:ea typeface="Calibri" pitchFamily="34" charset="-122"/>
                <a:cs typeface="Calibri" pitchFamily="34" charset="-120"/>
              </a:rPr>
              <a:t>BÁO CÁO</a:t>
            </a:r>
            <a:endParaRPr lang="en-US" sz="950" dirty="0"/>
          </a:p>
          <a:p>
            <a:pPr indent="0" marL="0">
              <a:lnSpc>
                <a:spcPts val="1300"/>
              </a:lnSpc>
              <a:buNone/>
            </a:pPr>
            <a:r>
              <a:rPr lang="en-US" sz="950" b="1" spc="120" kern="0" dirty="0">
                <a:solidFill>
                  <a:srgbClr val="00806D"/>
                </a:solidFill>
                <a:latin typeface="Calibri" pitchFamily="34" charset="0"/>
                <a:ea typeface="Calibri" pitchFamily="34" charset="-122"/>
                <a:cs typeface="Calibri" pitchFamily="34" charset="-120"/>
              </a:rPr>
              <a:t>TIẾN ĐỘ</a:t>
            </a:r>
            <a:endParaRPr lang="en-US" sz="950" dirty="0"/>
          </a:p>
        </p:txBody>
      </p:sp>
      <p:sp>
        <p:nvSpPr>
          <p:cNvPr id="54" name="Shape 52"/>
          <p:cNvSpPr/>
          <p:nvPr/>
        </p:nvSpPr>
        <p:spPr>
          <a:xfrm>
            <a:off x="1828800" y="5394960"/>
            <a:ext cx="1856781" cy="896112"/>
          </a:xfrm>
          <a:prstGeom prst="roundRect">
            <a:avLst>
              <a:gd name="adj" fmla="val 6122"/>
            </a:avLst>
          </a:prstGeom>
          <a:solidFill>
            <a:srgbClr val="FFFFFF"/>
          </a:solidFill>
          <a:ln w="9525">
            <a:solidFill>
              <a:srgbClr val="00A88F"/>
            </a:solidFill>
            <a:prstDash val="solid"/>
          </a:ln>
        </p:spPr>
      </p:sp>
      <p:sp>
        <p:nvSpPr>
          <p:cNvPr id="55" name="Text 53"/>
          <p:cNvSpPr txBox="1"/>
          <p:nvPr/>
        </p:nvSpPr>
        <p:spPr>
          <a:xfrm>
            <a:off x="1956816" y="5522976"/>
            <a:ext cx="1619037" cy="676656"/>
          </a:xfrm>
          <a:prstGeom prst="rect">
            <a:avLst/>
          </a:prstGeom>
          <a:noFill/>
          <a:ln/>
        </p:spPr>
        <p:txBody>
          <a:bodyPr wrap="square" lIns="0" tIns="0" rIns="0" bIns="0" rtlCol="0" anchor="t"/>
          <a:lstStyle/>
          <a:p>
            <a:pPr marL="177800" indent="-177800">
              <a:lnSpc>
                <a:spcPts val="1100"/>
              </a:lnSpc>
              <a:spcAft>
                <a:spcPts val="250"/>
              </a:spcAft>
              <a:buSzPct val="100000"/>
              <a:buChar char="•"/>
            </a:pPr>
            <a:r>
              <a:rPr lang="en-US" sz="900" dirty="0">
                <a:solidFill>
                  <a:srgbClr val="3C4A5C"/>
                </a:solidFill>
                <a:latin typeface="Calibri" pitchFamily="34" charset="0"/>
                <a:ea typeface="Calibri" pitchFamily="34" charset="-122"/>
                <a:cs typeface="Calibri" pitchFamily="34" charset="-120"/>
              </a:rPr>
              <a:t>video khung xương bám người kèm FPS</a:t>
            </a:r>
            <a:endParaRPr lang="en-US" sz="900" dirty="0"/>
          </a:p>
          <a:p>
            <a:pPr marL="177800" indent="-177800">
              <a:lnSpc>
                <a:spcPts val="1100"/>
              </a:lnSpc>
              <a:spcAft>
                <a:spcPts val="250"/>
              </a:spcAft>
              <a:buSzPct val="100000"/>
              <a:buChar char="•"/>
            </a:pPr>
            <a:r>
              <a:rPr lang="en-US" sz="900" dirty="0">
                <a:solidFill>
                  <a:srgbClr val="3C4A5C"/>
                </a:solidFill>
                <a:latin typeface="Calibri" pitchFamily="34" charset="0"/>
                <a:ea typeface="Calibri" pitchFamily="34" charset="-122"/>
                <a:cs typeface="Calibri" pitchFamily="34" charset="-120"/>
              </a:rPr>
              <a:t>tóm tắt về ước lượng tư thế</a:t>
            </a:r>
            <a:endParaRPr lang="en-US" sz="900" dirty="0"/>
          </a:p>
        </p:txBody>
      </p:sp>
      <p:sp>
        <p:nvSpPr>
          <p:cNvPr id="56" name="Shape 54"/>
          <p:cNvSpPr/>
          <p:nvPr/>
        </p:nvSpPr>
        <p:spPr>
          <a:xfrm>
            <a:off x="3795309" y="5394960"/>
            <a:ext cx="1856781" cy="896112"/>
          </a:xfrm>
          <a:prstGeom prst="roundRect">
            <a:avLst>
              <a:gd name="adj" fmla="val 6122"/>
            </a:avLst>
          </a:prstGeom>
          <a:solidFill>
            <a:srgbClr val="FFFFFF"/>
          </a:solidFill>
          <a:ln w="9525">
            <a:solidFill>
              <a:srgbClr val="00A88F"/>
            </a:solidFill>
            <a:prstDash val="solid"/>
          </a:ln>
        </p:spPr>
      </p:sp>
      <p:sp>
        <p:nvSpPr>
          <p:cNvPr id="57" name="Text 55"/>
          <p:cNvSpPr txBox="1"/>
          <p:nvPr/>
        </p:nvSpPr>
        <p:spPr>
          <a:xfrm>
            <a:off x="3923325" y="5522976"/>
            <a:ext cx="1619037" cy="676656"/>
          </a:xfrm>
          <a:prstGeom prst="rect">
            <a:avLst/>
          </a:prstGeom>
          <a:noFill/>
          <a:ln/>
        </p:spPr>
        <p:txBody>
          <a:bodyPr wrap="square" lIns="0" tIns="0" rIns="0" bIns="0" rtlCol="0" anchor="t"/>
          <a:lstStyle/>
          <a:p>
            <a:pPr marL="177800" indent="-177800">
              <a:lnSpc>
                <a:spcPts val="1100"/>
              </a:lnSpc>
              <a:spcAft>
                <a:spcPts val="250"/>
              </a:spcAft>
              <a:buSzPct val="100000"/>
              <a:buChar char="•"/>
            </a:pPr>
            <a:r>
              <a:rPr lang="en-US" sz="900" dirty="0">
                <a:solidFill>
                  <a:srgbClr val="3C4A5C"/>
                </a:solidFill>
                <a:latin typeface="Calibri" pitchFamily="34" charset="0"/>
                <a:ea typeface="Calibri" pitchFamily="34" charset="-122"/>
                <a:cs typeface="Calibri" pitchFamily="34" charset="-120"/>
              </a:rPr>
              <a:t>module chuẩn hóa</a:t>
            </a:r>
            <a:endParaRPr lang="en-US" sz="900" dirty="0"/>
          </a:p>
          <a:p>
            <a:pPr marL="177800" indent="-177800">
              <a:lnSpc>
                <a:spcPts val="1100"/>
              </a:lnSpc>
              <a:spcAft>
                <a:spcPts val="250"/>
              </a:spcAft>
              <a:buSzPct val="100000"/>
              <a:buChar char="•"/>
            </a:pPr>
            <a:r>
              <a:rPr lang="en-US" sz="900" dirty="0">
                <a:solidFill>
                  <a:srgbClr val="3C4A5C"/>
                </a:solidFill>
                <a:latin typeface="Calibri" pitchFamily="34" charset="0"/>
                <a:ea typeface="Calibri" pitchFamily="34" charset="-122"/>
                <a:cs typeface="Calibri" pitchFamily="34" charset="-120"/>
              </a:rPr>
              <a:t>bằng chứng chuẩn hóa đúng</a:t>
            </a:r>
            <a:endParaRPr lang="en-US" sz="900" dirty="0"/>
          </a:p>
        </p:txBody>
      </p:sp>
      <p:sp>
        <p:nvSpPr>
          <p:cNvPr id="58" name="Shape 56"/>
          <p:cNvSpPr/>
          <p:nvPr/>
        </p:nvSpPr>
        <p:spPr>
          <a:xfrm>
            <a:off x="5761817" y="5394960"/>
            <a:ext cx="1856781" cy="896112"/>
          </a:xfrm>
          <a:prstGeom prst="roundRect">
            <a:avLst>
              <a:gd name="adj" fmla="val 6122"/>
            </a:avLst>
          </a:prstGeom>
          <a:solidFill>
            <a:srgbClr val="FFFFFF"/>
          </a:solidFill>
          <a:ln w="9525">
            <a:solidFill>
              <a:srgbClr val="00A88F"/>
            </a:solidFill>
            <a:prstDash val="solid"/>
          </a:ln>
        </p:spPr>
      </p:sp>
      <p:sp>
        <p:nvSpPr>
          <p:cNvPr id="59" name="Text 57"/>
          <p:cNvSpPr txBox="1"/>
          <p:nvPr/>
        </p:nvSpPr>
        <p:spPr>
          <a:xfrm>
            <a:off x="5889833" y="5522976"/>
            <a:ext cx="1619037" cy="676656"/>
          </a:xfrm>
          <a:prstGeom prst="rect">
            <a:avLst/>
          </a:prstGeom>
          <a:noFill/>
          <a:ln/>
        </p:spPr>
        <p:txBody>
          <a:bodyPr wrap="square" lIns="0" tIns="0" rIns="0" bIns="0" rtlCol="0" anchor="t"/>
          <a:lstStyle/>
          <a:p>
            <a:pPr marL="177800" indent="-177800">
              <a:lnSpc>
                <a:spcPts val="1100"/>
              </a:lnSpc>
              <a:spcAft>
                <a:spcPts val="250"/>
              </a:spcAft>
              <a:buSzPct val="100000"/>
              <a:buChar char="•"/>
            </a:pPr>
            <a:r>
              <a:rPr lang="en-US" sz="900" dirty="0">
                <a:solidFill>
                  <a:srgbClr val="3C4A5C"/>
                </a:solidFill>
                <a:latin typeface="Calibri" pitchFamily="34" charset="0"/>
                <a:ea typeface="Calibri" pitchFamily="34" charset="-122"/>
                <a:cs typeface="Calibri" pitchFamily="34" charset="-120"/>
              </a:rPr>
              <a:t>bộ dữ liệu + bảng thống kê</a:t>
            </a:r>
            <a:endParaRPr lang="en-US" sz="900" dirty="0"/>
          </a:p>
          <a:p>
            <a:pPr marL="177800" indent="-177800">
              <a:lnSpc>
                <a:spcPts val="1100"/>
              </a:lnSpc>
              <a:spcAft>
                <a:spcPts val="250"/>
              </a:spcAft>
              <a:buSzPct val="100000"/>
              <a:buChar char="•"/>
            </a:pPr>
            <a:r>
              <a:rPr lang="en-US" sz="900" dirty="0">
                <a:solidFill>
                  <a:srgbClr val="3C4A5C"/>
                </a:solidFill>
                <a:latin typeface="Calibri" pitchFamily="34" charset="0"/>
                <a:ea typeface="Calibri" pitchFamily="34" charset="-122"/>
                <a:cs typeface="Calibri" pitchFamily="34" charset="-120"/>
              </a:rPr>
              <a:t>ma trận nhầm lẫn — hệ thống chạy được</a:t>
            </a:r>
            <a:endParaRPr lang="en-US" sz="900" dirty="0"/>
          </a:p>
        </p:txBody>
      </p:sp>
      <p:sp>
        <p:nvSpPr>
          <p:cNvPr id="60" name="Shape 58"/>
          <p:cNvSpPr/>
          <p:nvPr/>
        </p:nvSpPr>
        <p:spPr>
          <a:xfrm>
            <a:off x="7728326" y="5394960"/>
            <a:ext cx="1856781" cy="896112"/>
          </a:xfrm>
          <a:prstGeom prst="roundRect">
            <a:avLst>
              <a:gd name="adj" fmla="val 6122"/>
            </a:avLst>
          </a:prstGeom>
          <a:solidFill>
            <a:srgbClr val="FFFFFF"/>
          </a:solidFill>
          <a:ln w="9525">
            <a:solidFill>
              <a:srgbClr val="00A88F"/>
            </a:solidFill>
            <a:prstDash val="solid"/>
          </a:ln>
        </p:spPr>
      </p:sp>
      <p:sp>
        <p:nvSpPr>
          <p:cNvPr id="61" name="Text 59"/>
          <p:cNvSpPr txBox="1"/>
          <p:nvPr/>
        </p:nvSpPr>
        <p:spPr>
          <a:xfrm>
            <a:off x="7856342" y="5522976"/>
            <a:ext cx="1619037" cy="676656"/>
          </a:xfrm>
          <a:prstGeom prst="rect">
            <a:avLst/>
          </a:prstGeom>
          <a:noFill/>
          <a:ln/>
        </p:spPr>
        <p:txBody>
          <a:bodyPr wrap="square" lIns="0" tIns="0" rIns="0" bIns="0" rtlCol="0" anchor="t"/>
          <a:lstStyle/>
          <a:p>
            <a:pPr marL="177800" indent="-177800">
              <a:lnSpc>
                <a:spcPts val="1100"/>
              </a:lnSpc>
              <a:spcAft>
                <a:spcPts val="250"/>
              </a:spcAft>
              <a:buSzPct val="100000"/>
              <a:buChar char="•"/>
            </a:pPr>
            <a:r>
              <a:rPr lang="en-US" sz="900" dirty="0">
                <a:solidFill>
                  <a:srgbClr val="3C4A5C"/>
                </a:solidFill>
                <a:latin typeface="Calibri" pitchFamily="34" charset="0"/>
                <a:ea typeface="Calibri" pitchFamily="34" charset="-122"/>
                <a:cs typeface="Calibri" pitchFamily="34" charset="-120"/>
              </a:rPr>
              <a:t>bảng so sánh hai mô hình</a:t>
            </a:r>
            <a:endParaRPr lang="en-US" sz="900" dirty="0"/>
          </a:p>
          <a:p>
            <a:pPr marL="177800" indent="-177800">
              <a:lnSpc>
                <a:spcPts val="1100"/>
              </a:lnSpc>
              <a:spcAft>
                <a:spcPts val="250"/>
              </a:spcAft>
              <a:buSzPct val="100000"/>
              <a:buChar char="•"/>
            </a:pPr>
            <a:r>
              <a:rPr lang="en-US" sz="900" dirty="0">
                <a:solidFill>
                  <a:srgbClr val="3C4A5C"/>
                </a:solidFill>
                <a:latin typeface="Calibri" pitchFamily="34" charset="0"/>
                <a:ea typeface="Calibri" pitchFamily="34" charset="-122"/>
                <a:cs typeface="Calibri" pitchFamily="34" charset="-120"/>
              </a:rPr>
              <a:t>đồ thị huấn luyện, demo trực tiếp</a:t>
            </a:r>
            <a:endParaRPr lang="en-US" sz="900" dirty="0"/>
          </a:p>
        </p:txBody>
      </p:sp>
      <p:sp>
        <p:nvSpPr>
          <p:cNvPr id="62" name="Shape 60"/>
          <p:cNvSpPr/>
          <p:nvPr/>
        </p:nvSpPr>
        <p:spPr>
          <a:xfrm>
            <a:off x="9694835" y="5394960"/>
            <a:ext cx="1856781" cy="896112"/>
          </a:xfrm>
          <a:prstGeom prst="roundRect">
            <a:avLst>
              <a:gd name="adj" fmla="val 6122"/>
            </a:avLst>
          </a:prstGeom>
          <a:solidFill>
            <a:srgbClr val="FFFFFF"/>
          </a:solidFill>
          <a:ln w="9525">
            <a:solidFill>
              <a:srgbClr val="00A88F"/>
            </a:solidFill>
            <a:prstDash val="solid"/>
          </a:ln>
        </p:spPr>
      </p:sp>
      <p:sp>
        <p:nvSpPr>
          <p:cNvPr id="63" name="Text 61"/>
          <p:cNvSpPr txBox="1"/>
          <p:nvPr/>
        </p:nvSpPr>
        <p:spPr>
          <a:xfrm>
            <a:off x="9822851" y="5522976"/>
            <a:ext cx="1619037" cy="676656"/>
          </a:xfrm>
          <a:prstGeom prst="rect">
            <a:avLst/>
          </a:prstGeom>
          <a:noFill/>
          <a:ln/>
        </p:spPr>
        <p:txBody>
          <a:bodyPr wrap="square" lIns="0" tIns="0" rIns="0" bIns="0" rtlCol="0" anchor="t"/>
          <a:lstStyle/>
          <a:p>
            <a:pPr marL="177800" indent="-177800">
              <a:lnSpc>
                <a:spcPts val="1100"/>
              </a:lnSpc>
              <a:spcAft>
                <a:spcPts val="250"/>
              </a:spcAft>
              <a:buSzPct val="100000"/>
              <a:buChar char="•"/>
            </a:pPr>
            <a:r>
              <a:rPr lang="en-US" sz="900" dirty="0">
                <a:solidFill>
                  <a:srgbClr val="3C4A5C"/>
                </a:solidFill>
                <a:latin typeface="Calibri" pitchFamily="34" charset="0"/>
                <a:ea typeface="Calibri" pitchFamily="34" charset="-122"/>
                <a:cs typeface="Calibri" pitchFamily="34" charset="-120"/>
              </a:rPr>
              <a:t>báo cáo, slide, mã nguồn</a:t>
            </a:r>
            <a:endParaRPr lang="en-US" sz="900" dirty="0"/>
          </a:p>
          <a:p>
            <a:pPr marL="177800" indent="-177800">
              <a:lnSpc>
                <a:spcPts val="1100"/>
              </a:lnSpc>
              <a:spcAft>
                <a:spcPts val="250"/>
              </a:spcAft>
              <a:buSzPct val="100000"/>
              <a:buChar char="•"/>
            </a:pPr>
            <a:r>
              <a:rPr lang="en-US" sz="900" dirty="0">
                <a:solidFill>
                  <a:srgbClr val="3C4A5C"/>
                </a:solidFill>
                <a:latin typeface="Calibri" pitchFamily="34" charset="0"/>
                <a:ea typeface="Calibri" pitchFamily="34" charset="-122"/>
                <a:cs typeface="Calibri" pitchFamily="34" charset="-120"/>
              </a:rPr>
              <a:t>video demo</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Nhan dang hanh dong tu khung xuong - Bao cao buoi 1</dc:title>
  <dc:subject>PptxGenJS Presentation</dc:subject>
  <dc:creator>PptxGenJS</dc:creator>
  <cp:lastModifiedBy>PptxGenJS</cp:lastModifiedBy>
  <cp:revision>1</cp:revision>
  <dcterms:created xsi:type="dcterms:W3CDTF">2026-09-08T14:49:42Z</dcterms:created>
  <dcterms:modified xsi:type="dcterms:W3CDTF">2026-09-08T14:49:42Z</dcterms:modified>
</cp:coreProperties>
</file>